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65564" autoAdjust="0"/>
  </p:normalViewPr>
  <p:slideViewPr>
    <p:cSldViewPr snapToGrid="0" snapToObjects="1">
      <p:cViewPr varScale="1">
        <p:scale>
          <a:sx n="46" d="100"/>
          <a:sy n="46"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5758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Afternoon. I am </a:t>
            </a:r>
            <a:r>
              <a:rPr lang="en-US" dirty="0" err="1"/>
              <a:t>Gaianand</a:t>
            </a:r>
            <a:r>
              <a:rPr lang="en-US" dirty="0"/>
              <a:t> Ramnarace. This presentation covers the methodology for my study, </a:t>
            </a:r>
            <a:r>
              <a:rPr lang="en-US" i="1" dirty="0"/>
              <a:t>Explaining the Limited Continued Use of the GRA </a:t>
            </a:r>
            <a:r>
              <a:rPr lang="en-US" i="1" dirty="0" err="1"/>
              <a:t>Padna</a:t>
            </a:r>
            <a:r>
              <a:rPr lang="en-US" i="1" dirty="0"/>
              <a:t> App: A Quantitative Study on E-Government Continuance in Guyana</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3D3A39"/>
                </a:solidFill>
              </a:rPr>
              <a:t>Formal proposal lens: limited continued use is treated as the central problem, not merely the absence of initial adoption.</a:t>
            </a:r>
            <a:br>
              <a:rPr lang="en-US" sz="1200" b="1" dirty="0">
                <a:solidFill>
                  <a:srgbClr val="3D3A39"/>
                </a:solidFill>
              </a:rPr>
            </a:br>
            <a:r>
              <a:rPr lang="en-US" dirty="0"/>
              <a:t>“My study examines why continued use of Guyana’s e-government services is limited, using the GRA </a:t>
            </a:r>
            <a:r>
              <a:rPr lang="en-US" dirty="0" err="1"/>
              <a:t>Padna</a:t>
            </a:r>
            <a:r>
              <a:rPr lang="en-US" dirty="0"/>
              <a:t> App as the focal case. The study focuses on post-adoption </a:t>
            </a:r>
            <a:r>
              <a:rPr lang="en-US" dirty="0" err="1"/>
              <a:t>behaviour</a:t>
            </a:r>
            <a:r>
              <a:rPr lang="en-US" dirty="0"/>
              <a:t>, meaning taxpayers who have already used </a:t>
            </a:r>
            <a:r>
              <a:rPr lang="en-US" dirty="0" err="1"/>
              <a:t>Padna</a:t>
            </a:r>
            <a:r>
              <a:rPr lang="en-US" dirty="0"/>
              <a:t> and may continue, reduce use or discontinue use.</a:t>
            </a:r>
          </a:p>
          <a:p>
            <a:r>
              <a:rPr lang="en-US" dirty="0"/>
              <a:t>The value of the study is practical and evidence-based. If government digital services are adopted but not sustained, expected benefits such as reduced congestion, improved convenience and increased efficiency are weakened. This project aims to produce findings that can guide the GRA in improving retention by targeting the most important barriers, including usability, support conditions and trust and security concerns.”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514B49"/>
                </a:solidFill>
              </a:rPr>
              <a:t>The methodology therefore needs to explain both drivers of continuance and barriers to sustained use.</a:t>
            </a:r>
          </a:p>
          <a:p>
            <a:r>
              <a:rPr lang="en-US" dirty="0"/>
              <a:t>“The research problem is that e-government services in Guyana, including </a:t>
            </a:r>
            <a:r>
              <a:rPr lang="en-US" dirty="0" err="1"/>
              <a:t>Padna</a:t>
            </a:r>
            <a:r>
              <a:rPr lang="en-US" dirty="0"/>
              <a:t>, may be adopted but are not consistently used over time. The literature and national reports indicate that this pattern often relates to access constraints, usability issues, digital literacy variation and trust and security concerns.</a:t>
            </a:r>
          </a:p>
          <a:p>
            <a:r>
              <a:rPr lang="en-US" dirty="0"/>
              <a:t>The research question is: </a:t>
            </a:r>
            <a:r>
              <a:rPr lang="en-US" i="1" dirty="0"/>
              <a:t>What are the main factors that explain the limited continued use of the GRA </a:t>
            </a:r>
            <a:r>
              <a:rPr lang="en-US" i="1" dirty="0" err="1"/>
              <a:t>Padna</a:t>
            </a:r>
            <a:r>
              <a:rPr lang="en-US" i="1" dirty="0"/>
              <a:t> App among Guyanese taxpayers?</a:t>
            </a:r>
            <a:br>
              <a:rPr lang="en-US" dirty="0"/>
            </a:br>
            <a:r>
              <a:rPr lang="en-US" dirty="0"/>
              <a:t>The methodology is structured to identify which factors have the strongest influence on continuance intention, which acts as the post-adoption indicator for limited continued use.”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methodology is divided into two parts.</a:t>
            </a:r>
          </a:p>
          <a:p>
            <a:r>
              <a:rPr lang="en-US" b="1" dirty="0"/>
              <a:t>Implementation methodology</a:t>
            </a:r>
            <a:r>
              <a:rPr lang="en-US" dirty="0"/>
              <a:t> describes how I build the conceptual model: I review theories, compare alternatives, select a base model and extend it with constructs relevant to Guyana’s context.</a:t>
            </a:r>
          </a:p>
          <a:p>
            <a:r>
              <a:rPr lang="en-US" b="1" dirty="0"/>
              <a:t>Evaluation methodology</a:t>
            </a:r>
            <a:r>
              <a:rPr lang="en-US" dirty="0"/>
              <a:t> describes how I test that model: I define the sample and sample size, design the survey instrument, collect data ethically and </a:t>
            </a:r>
            <a:r>
              <a:rPr lang="en-US" dirty="0" err="1"/>
              <a:t>analyse</a:t>
            </a:r>
            <a:r>
              <a:rPr lang="en-US" dirty="0"/>
              <a:t> the data using PLS-SEM.</a:t>
            </a:r>
          </a:p>
          <a:p>
            <a:r>
              <a:rPr lang="en-US" dirty="0"/>
              <a:t>This structure aligns with the rubric because it shows a clear implementation logic, a clear evaluation procedure and explicit justification for the approach.”</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2E6E95"/>
                </a:solidFill>
              </a:rPr>
              <a:t>Purpose: to justify how the study arrives at its own conceptual model rather than selecting constructs arbitrarily.</a:t>
            </a:r>
            <a:br>
              <a:rPr lang="en-US" sz="1200" b="1" dirty="0">
                <a:solidFill>
                  <a:srgbClr val="2E6E95"/>
                </a:solidFill>
              </a:rPr>
            </a:br>
            <a:r>
              <a:rPr lang="en-US" dirty="0"/>
              <a:t>“Step one is to review continuance literature relevant to e-government and post-adoption </a:t>
            </a:r>
            <a:r>
              <a:rPr lang="en-US" dirty="0" err="1"/>
              <a:t>behaviour</a:t>
            </a:r>
            <a:r>
              <a:rPr lang="en-US" dirty="0"/>
              <a:t>, focusing on ECM, UTAUT2 and trust research. This step ensures the model is grounded in validated theory rather than assumptions.</a:t>
            </a:r>
          </a:p>
          <a:p>
            <a:r>
              <a:rPr lang="en-US" dirty="0"/>
              <a:t>Step two is to identify candidate models and evaluate their strengths and weaknesses for this research problem.</a:t>
            </a:r>
          </a:p>
          <a:p>
            <a:r>
              <a:rPr lang="en-US" dirty="0"/>
              <a:t>Step three is selecting the most appropriate base model specifically for post-adoption, because my problem is not adoption but limited continued use after experience.</a:t>
            </a:r>
          </a:p>
          <a:p>
            <a:r>
              <a:rPr lang="en-US" dirty="0"/>
              <a:t>Step four is adding constructs that are required for the Guyanese e-government context, particularly factors related to infrastructure constraints and trust concerns.</a:t>
            </a:r>
          </a:p>
          <a:p>
            <a:r>
              <a:rPr lang="en-US" dirty="0"/>
              <a:t>Step five is producing the final conceptual model and mapping the constructs into hypotheses so that the model can be tested using survey data and SEM.”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evaluated four main model options.</a:t>
            </a:r>
          </a:p>
          <a:p>
            <a:r>
              <a:rPr lang="en-US" dirty="0"/>
              <a:t>First, TAM is strong for perceived usefulness and ease of use, but it is typically stronger for explaining adoption rather than continuance.</a:t>
            </a:r>
          </a:p>
          <a:p>
            <a:r>
              <a:rPr lang="en-US" dirty="0"/>
              <a:t>Second, UTAUT and UTAUT2 capture social influence, habit and facilitating conditions, which are important in developing contexts, but they are often deployed as broad adoption models and may not fully capture post-adoption confirmation effects.</a:t>
            </a:r>
          </a:p>
          <a:p>
            <a:r>
              <a:rPr lang="en-US" dirty="0"/>
              <a:t>Third, the IS Success Model is useful for quality dimensions such as system, service and information quality, but it is less direct for explaining the confirmation-to-satisfaction-to-intention pathway that is central to continuance </a:t>
            </a:r>
            <a:r>
              <a:rPr lang="en-US" dirty="0" err="1"/>
              <a:t>behaviour</a:t>
            </a:r>
            <a:r>
              <a:rPr lang="en-US" dirty="0"/>
              <a:t>.</a:t>
            </a:r>
          </a:p>
          <a:p>
            <a:r>
              <a:rPr lang="en-US" dirty="0"/>
              <a:t>Fourth, ECM is designed specifically for post-adoption continuance and is therefore the best base model for this study. However, ECM benefits from being extended with contextual constructs.</a:t>
            </a:r>
          </a:p>
          <a:p>
            <a:r>
              <a:rPr lang="en-US" dirty="0"/>
              <a:t>The decision is to use ECM as the base and extend it with constructs that capture </a:t>
            </a:r>
            <a:r>
              <a:rPr lang="en-US" dirty="0" err="1"/>
              <a:t>behavioural</a:t>
            </a:r>
            <a:r>
              <a:rPr lang="en-US" dirty="0"/>
              <a:t> reinforcement and contextual barriers, particularly for a setting like Guyana.”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selected ECM as the base model because the research problem concerns continued use after taxpayers already have experience with </a:t>
            </a:r>
            <a:r>
              <a:rPr lang="en-US" dirty="0" err="1"/>
              <a:t>Padna</a:t>
            </a:r>
            <a:r>
              <a:rPr lang="en-US" dirty="0"/>
              <a:t>. The key ECM constructs are confirmation, perceived usefulness and satisfaction, which collectively explain continuance intention.</a:t>
            </a:r>
          </a:p>
          <a:p>
            <a:r>
              <a:rPr lang="en-US" dirty="0"/>
              <a:t>I extend ECM in two ways. First, I include selected UTAUT2 constructs: habit, social influence and facilitating conditions. Habit captures </a:t>
            </a:r>
            <a:r>
              <a:rPr lang="en-US" dirty="0" err="1"/>
              <a:t>routinisation</a:t>
            </a:r>
            <a:r>
              <a:rPr lang="en-US" dirty="0"/>
              <a:t>, social influence captures normative pressure and facilitating conditions capture resource and support availability, which is essential in contexts with uneven connectivity.</a:t>
            </a:r>
          </a:p>
          <a:p>
            <a:r>
              <a:rPr lang="en-US" dirty="0"/>
              <a:t>Second, I include trust and perceived security because </a:t>
            </a:r>
            <a:r>
              <a:rPr lang="en-US" dirty="0" err="1"/>
              <a:t>Padna</a:t>
            </a:r>
            <a:r>
              <a:rPr lang="en-US" dirty="0"/>
              <a:t> involves tax and financial information. In e-government services, users often evaluate both the technology and the institution behind it. If trust or perceived security is low, users may disengage even if the service is functional.</a:t>
            </a:r>
          </a:p>
          <a:p>
            <a:r>
              <a:rPr lang="en-US" dirty="0"/>
              <a:t>This produces the final model: ECM plus selected UTAUT2 constructs plus trust and security.”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514B49"/>
                </a:solidFill>
              </a:rPr>
              <a:t>Model focus: identifying which factors most strongly explain limited continued use of </a:t>
            </a:r>
            <a:r>
              <a:rPr lang="en-US" sz="1200" b="1" dirty="0" err="1">
                <a:solidFill>
                  <a:srgbClr val="514B49"/>
                </a:solidFill>
              </a:rPr>
              <a:t>Padna</a:t>
            </a:r>
            <a:r>
              <a:rPr lang="en-US" sz="1200" b="1" dirty="0">
                <a:solidFill>
                  <a:srgbClr val="514B49"/>
                </a:solidFill>
              </a:rPr>
              <a:t>.</a:t>
            </a:r>
          </a:p>
          <a:p>
            <a:r>
              <a:rPr lang="en-US" dirty="0"/>
              <a:t>“This diagram </a:t>
            </a:r>
            <a:r>
              <a:rPr lang="en-US" dirty="0" err="1"/>
              <a:t>summarises</a:t>
            </a:r>
            <a:r>
              <a:rPr lang="en-US" dirty="0"/>
              <a:t> the model relationships. Confirmation influences perceived usefulness and satisfaction. Satisfaction and usefulness influence continuance intention. Trust and security, habit, facilitating conditions and social influence provide additional explanatory power for why continued use is limited in practice.</a:t>
            </a:r>
          </a:p>
          <a:p>
            <a:r>
              <a:rPr lang="en-US" dirty="0"/>
              <a:t>The model’s purpose is not only to list factors, but to test which ones have the strongest statistical contribution to explaining limited continued use among </a:t>
            </a:r>
            <a:r>
              <a:rPr lang="en-US" dirty="0" err="1"/>
              <a:t>Padna</a:t>
            </a:r>
            <a:r>
              <a:rPr lang="en-US" dirty="0"/>
              <a:t> users.”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3D3A39"/>
                </a:solidFill>
              </a:rPr>
              <a:t>Evaluation objective: test whether the conceptual model explains continuance intention among prior </a:t>
            </a:r>
            <a:r>
              <a:rPr lang="en-US" sz="1200" b="1" dirty="0" err="1">
                <a:solidFill>
                  <a:srgbClr val="3D3A39"/>
                </a:solidFill>
              </a:rPr>
              <a:t>Padna</a:t>
            </a:r>
            <a:r>
              <a:rPr lang="en-US" sz="1200" b="1" dirty="0">
                <a:solidFill>
                  <a:srgbClr val="3D3A39"/>
                </a:solidFill>
              </a:rPr>
              <a:t> users.</a:t>
            </a:r>
            <a:endParaRPr lang="en-US" sz="1200" dirty="0"/>
          </a:p>
          <a:p>
            <a:r>
              <a:rPr lang="en-US" dirty="0"/>
              <a:t>“The evaluation methodology begins with the research approach, philosophy and design.</a:t>
            </a:r>
          </a:p>
          <a:p>
            <a:r>
              <a:rPr lang="en-US" dirty="0"/>
              <a:t>The approach is quantitative because I need to measure relationships among multiple constructs and determine the relative strength of their effects. This aligns with the objective of identifying key determinants of limited continued use.</a:t>
            </a:r>
          </a:p>
          <a:p>
            <a:r>
              <a:rPr lang="en-US" dirty="0"/>
              <a:t>The philosophy is positivist and the reasoning is deductive. I start from established theory, derive </a:t>
            </a:r>
            <a:r>
              <a:rPr lang="en-US" dirty="0" err="1"/>
              <a:t>hypothesised</a:t>
            </a:r>
            <a:r>
              <a:rPr lang="en-US" dirty="0"/>
              <a:t> relationships and test them statistically.</a:t>
            </a:r>
          </a:p>
          <a:p>
            <a:r>
              <a:rPr lang="en-US" dirty="0"/>
              <a:t>The design is cross-sectional because the study collects data at a single point in time from users who already have experience with </a:t>
            </a:r>
            <a:r>
              <a:rPr lang="en-US" dirty="0" err="1"/>
              <a:t>Padna</a:t>
            </a:r>
            <a:r>
              <a:rPr lang="en-US" dirty="0"/>
              <a:t>. This is appropriate for an initial empirical study where no prior </a:t>
            </a:r>
            <a:r>
              <a:rPr lang="en-US" dirty="0" err="1"/>
              <a:t>Padna</a:t>
            </a:r>
            <a:r>
              <a:rPr lang="en-US" dirty="0"/>
              <a:t> dataset exists, although I acknowledge it limits causal inference.”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FFFFFF"/>
                </a:solidFill>
              </a:rPr>
              <a:t>Sample size: G*Power analysis for minimum threshold, then target above minimum for stable estimates</a:t>
            </a:r>
            <a:br>
              <a:rPr lang="en-US" sz="1200" b="1" dirty="0">
                <a:solidFill>
                  <a:srgbClr val="FFFFFF"/>
                </a:solidFill>
              </a:rPr>
            </a:br>
            <a:r>
              <a:rPr lang="en-US" dirty="0"/>
              <a:t>“The target population is adult Guyanese taxpayers who have used </a:t>
            </a:r>
            <a:r>
              <a:rPr lang="en-US" dirty="0" err="1"/>
              <a:t>Padna</a:t>
            </a:r>
            <a:r>
              <a:rPr lang="en-US" dirty="0"/>
              <a:t> at least once. This criterion is essential because post-adoption constructs such as confirmation and satisfaction require actual use experience.</a:t>
            </a:r>
          </a:p>
          <a:p>
            <a:r>
              <a:rPr lang="en-US" dirty="0"/>
              <a:t>Eligibility includes being 18 or older, residing in Guyana and having prior </a:t>
            </a:r>
            <a:r>
              <a:rPr lang="en-US" dirty="0" err="1"/>
              <a:t>Padna</a:t>
            </a:r>
            <a:r>
              <a:rPr lang="en-US" dirty="0"/>
              <a:t> use. I exclude non-users, those under 18 and invalid or incomplete responses.</a:t>
            </a:r>
          </a:p>
          <a:p>
            <a:r>
              <a:rPr lang="en-US" dirty="0"/>
              <a:t>Recruitment uses non-probability purposive and snowball distribution through professional networks, social media and taxpayer-related groups. This is justified because there is no accessible sampling frame of verified </a:t>
            </a:r>
            <a:r>
              <a:rPr lang="en-US" dirty="0" err="1"/>
              <a:t>Padna</a:t>
            </a:r>
            <a:r>
              <a:rPr lang="en-US" dirty="0"/>
              <a:t> users and the method directly targets people who meet the criteria.</a:t>
            </a:r>
          </a:p>
          <a:p>
            <a:r>
              <a:rPr lang="en-US" dirty="0"/>
              <a:t>For sample size, I use G*Power to set a minimum threshold for regression-based validity, then aim above the minimum to increase stability of estimates.”</a:t>
            </a:r>
          </a:p>
          <a:p>
            <a:endParaRPr lang="en-US" dirty="0"/>
          </a:p>
          <a:p>
            <a:endParaRPr lang="en-US" dirty="0"/>
          </a:p>
          <a:p>
            <a:r>
              <a:rPr lang="en-US" dirty="0"/>
              <a:t>Using standard power-planning assumptions commonly used in </a:t>
            </a:r>
            <a:r>
              <a:rPr lang="en-US" dirty="0" err="1"/>
              <a:t>behavioural</a:t>
            </a:r>
            <a:r>
              <a:rPr lang="en-US" dirty="0"/>
              <a:t> IS studies:</a:t>
            </a:r>
          </a:p>
          <a:p>
            <a:r>
              <a:rPr lang="en-US" dirty="0"/>
              <a:t>Significance level: </a:t>
            </a:r>
            <a:r>
              <a:rPr lang="en-US" b="1" dirty="0"/>
              <a:t>α = 0.05</a:t>
            </a:r>
            <a:r>
              <a:rPr lang="en-US" dirty="0"/>
              <a:t> </a:t>
            </a:r>
          </a:p>
          <a:p>
            <a:r>
              <a:rPr lang="en-US" dirty="0"/>
              <a:t>Statistical power: </a:t>
            </a:r>
            <a:r>
              <a:rPr lang="en-US" b="1" dirty="0"/>
              <a:t>0.80</a:t>
            </a:r>
            <a:r>
              <a:rPr lang="en-US" dirty="0"/>
              <a:t> </a:t>
            </a:r>
          </a:p>
          <a:p>
            <a:r>
              <a:rPr lang="en-US" dirty="0"/>
              <a:t>Expected effect size: </a:t>
            </a:r>
            <a:r>
              <a:rPr lang="en-US" b="1" dirty="0"/>
              <a:t>medium (f² = 0.15)</a:t>
            </a:r>
            <a:r>
              <a:rPr lang="en-US" dirty="0"/>
              <a:t> </a:t>
            </a:r>
          </a:p>
          <a:p>
            <a:r>
              <a:rPr lang="en-US" dirty="0"/>
              <a:t>Predictors of continuance intention: typically </a:t>
            </a:r>
            <a:r>
              <a:rPr lang="en-US" b="1" dirty="0"/>
              <a:t>6–7</a:t>
            </a:r>
            <a:r>
              <a:rPr lang="en-US" dirty="0"/>
              <a:t> (for example, satisfaction, perceived usefulness, trust/security, habit, facilitating conditions, social influence, and potentially confirmation depending on your final structural paths) </a:t>
            </a:r>
          </a:p>
          <a:p>
            <a:r>
              <a:rPr lang="en-US" dirty="0"/>
              <a:t>This yields a </a:t>
            </a:r>
            <a:r>
              <a:rPr lang="en-US" b="1" dirty="0"/>
              <a:t>minimum sample size of approximately 60–65 valid responses</a:t>
            </a:r>
            <a:r>
              <a:rPr lang="en-US" dirty="0"/>
              <a:t> to detect medium effects reliably.</a:t>
            </a:r>
          </a:p>
          <a:p>
            <a:r>
              <a:rPr lang="en-US" b="1" dirty="0"/>
              <a:t>Target sample size (what you should aim to collect)</a:t>
            </a:r>
          </a:p>
          <a:p>
            <a:r>
              <a:rPr lang="en-US" dirty="0"/>
              <a:t>In practice, you should aim above the minimum to account for:</a:t>
            </a:r>
          </a:p>
          <a:p>
            <a:r>
              <a:rPr lang="en-US" dirty="0"/>
              <a:t>ineligible submissions filtered out by screening </a:t>
            </a:r>
          </a:p>
          <a:p>
            <a:r>
              <a:rPr lang="en-US" dirty="0"/>
              <a:t>incomplete responses </a:t>
            </a:r>
          </a:p>
          <a:p>
            <a:r>
              <a:rPr lang="en-US" dirty="0"/>
              <a:t>attention check failures </a:t>
            </a:r>
          </a:p>
          <a:p>
            <a:r>
              <a:rPr lang="en-US" dirty="0"/>
              <a:t>improved stability of PLS-SEM estimates </a:t>
            </a:r>
          </a:p>
          <a:p>
            <a:r>
              <a:rPr lang="en-US" dirty="0"/>
              <a:t>A realistic and defensible target is:</a:t>
            </a:r>
          </a:p>
          <a:p>
            <a:r>
              <a:rPr lang="en-US" b="1" dirty="0"/>
              <a:t>Minimum valid sample:</a:t>
            </a:r>
            <a:r>
              <a:rPr lang="en-US" dirty="0"/>
              <a:t> </a:t>
            </a:r>
            <a:r>
              <a:rPr lang="en-US" b="1" dirty="0"/>
              <a:t>≥ 65</a:t>
            </a:r>
            <a:r>
              <a:rPr lang="en-US" dirty="0"/>
              <a:t> </a:t>
            </a:r>
          </a:p>
          <a:p>
            <a:r>
              <a:rPr lang="en-US" b="1" dirty="0"/>
              <a:t>Recommended target (preferred):</a:t>
            </a:r>
            <a:r>
              <a:rPr lang="en-US" dirty="0"/>
              <a:t> </a:t>
            </a:r>
            <a:r>
              <a:rPr lang="en-US" b="1" dirty="0"/>
              <a:t>120–150</a:t>
            </a:r>
            <a:r>
              <a:rPr lang="en-US" dirty="0"/>
              <a:t> valid responses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2E6E95"/>
                </a:solidFill>
              </a:rPr>
              <a:t>This instrument </a:t>
            </a:r>
            <a:r>
              <a:rPr lang="en-US" sz="1200" b="1" dirty="0" err="1">
                <a:solidFill>
                  <a:srgbClr val="2E6E95"/>
                </a:solidFill>
              </a:rPr>
              <a:t>operationalises</a:t>
            </a:r>
            <a:r>
              <a:rPr lang="en-US" sz="1200" b="1" dirty="0">
                <a:solidFill>
                  <a:srgbClr val="2E6E95"/>
                </a:solidFill>
              </a:rPr>
              <a:t> the conceptual model so it can be tested statistically.</a:t>
            </a:r>
            <a:br>
              <a:rPr lang="en-US" sz="1200" b="1" dirty="0">
                <a:solidFill>
                  <a:srgbClr val="2E6E95"/>
                </a:solidFill>
              </a:rPr>
            </a:br>
            <a:r>
              <a:rPr lang="en-US" dirty="0"/>
              <a:t>“The instrument is a structured online questionnaire with eligibility screening and digital consent. I use multi-item five-point Likert scales adapted from validated academic sources to strengthen reliability and construct validity.</a:t>
            </a:r>
          </a:p>
          <a:p>
            <a:r>
              <a:rPr lang="en-US" dirty="0"/>
              <a:t>The questionnaire includes demographics and usage frequency, then construct blocks for ECM, UTAUT2, trust and security and continuance intention.</a:t>
            </a:r>
          </a:p>
          <a:p>
            <a:r>
              <a:rPr lang="en-US" dirty="0"/>
              <a:t>I will conduct pilot testing to check clarity, ambiguity and time-to-complete. This reduces measurement error and improves consistency.</a:t>
            </a:r>
          </a:p>
          <a:p>
            <a:r>
              <a:rPr lang="en-US" dirty="0"/>
              <a:t>Finally, I will not collect TINs, names or any identifiable tax information. This choice reduces ethical risk and also reduces response inhibition, since participants may otherwise withhold honest perceptions.”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3D3A39"/>
                </a:solidFill>
              </a:rPr>
              <a:t>Ethical importance: </a:t>
            </a:r>
            <a:r>
              <a:rPr lang="en-US" sz="1200" b="1" dirty="0" err="1">
                <a:solidFill>
                  <a:srgbClr val="3D3A39"/>
                </a:solidFill>
              </a:rPr>
              <a:t>Padna</a:t>
            </a:r>
            <a:r>
              <a:rPr lang="en-US" sz="1200" b="1" dirty="0">
                <a:solidFill>
                  <a:srgbClr val="3D3A39"/>
                </a:solidFill>
              </a:rPr>
              <a:t> is a tax-related platform, so privacy and participant confidence are central.</a:t>
            </a:r>
            <a:br>
              <a:rPr lang="en-US" sz="1200" b="1" dirty="0">
                <a:solidFill>
                  <a:srgbClr val="3D3A39"/>
                </a:solidFill>
              </a:rPr>
            </a:br>
            <a:r>
              <a:rPr lang="en-US" dirty="0"/>
              <a:t>“Data quality is protected through eligibility screening, attention checks and removal of incomplete or inconsistent responses.</a:t>
            </a:r>
          </a:p>
          <a:p>
            <a:r>
              <a:rPr lang="en-US" dirty="0"/>
              <a:t>Ethically, participation is voluntary, informed consent is obtained digitally and participants can withdraw before submission. Privacy is protected through anonymity and secure encrypted storage. Results will be reported only in aggregate form.</a:t>
            </a:r>
          </a:p>
          <a:p>
            <a:r>
              <a:rPr lang="en-US" dirty="0"/>
              <a:t>These safeguards are particularly important because the topic involves a tax-related service where participants may perceive sensitivity.”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514B49"/>
                </a:solidFill>
              </a:rPr>
              <a:t>PLS-SEM fits the study because the model contains multiple latent constructs and has a prediction-oriented objective.</a:t>
            </a:r>
            <a:br>
              <a:rPr lang="en-US" sz="1200" b="1" dirty="0">
                <a:solidFill>
                  <a:srgbClr val="514B49"/>
                </a:solidFill>
              </a:rPr>
            </a:br>
            <a:r>
              <a:rPr lang="en-US" dirty="0"/>
              <a:t>“I will </a:t>
            </a:r>
            <a:r>
              <a:rPr lang="en-US" dirty="0" err="1"/>
              <a:t>analyse</a:t>
            </a:r>
            <a:r>
              <a:rPr lang="en-US" dirty="0"/>
              <a:t> data using PLS-SEM in </a:t>
            </a:r>
            <a:r>
              <a:rPr lang="en-US" dirty="0" err="1"/>
              <a:t>SmartPLS</a:t>
            </a:r>
            <a:r>
              <a:rPr lang="en-US" dirty="0"/>
              <a:t> 4. PLS-SEM is justified because the study uses a multi-construct model, focuses on explanation and prediction of continuance intention and is suitable for survey data that may not meet strict normality assumptions.</a:t>
            </a:r>
          </a:p>
          <a:p>
            <a:r>
              <a:rPr lang="en-US" dirty="0"/>
              <a:t>The measurement model is assessed first using outer loadings, Cronbach’s alpha, composite reliability, AVE and HTMT to confirm reliability, convergent validity and discriminant validity.</a:t>
            </a:r>
          </a:p>
          <a:p>
            <a:r>
              <a:rPr lang="en-US" dirty="0"/>
              <a:t>Then the structural model is tested using VIF checks for collinearity and bootstrapping to estimate path coefficients and p-values. I will report R-squared for explanatory power and effect sizes to show which predictors have practical importance.</a:t>
            </a:r>
          </a:p>
          <a:p>
            <a:r>
              <a:rPr lang="en-US" dirty="0"/>
              <a:t>This procedure directly supports the research question by identifying which factors most strongly explain limited continued use.”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rgbClr val="2E6E95"/>
                </a:solidFill>
              </a:rPr>
              <a:t>The limitations are acknowledged so that conclusions remain realistic and appropriately bounded.</a:t>
            </a:r>
            <a:br>
              <a:rPr lang="en-US" sz="1200" b="1" dirty="0">
                <a:solidFill>
                  <a:srgbClr val="2E6E95"/>
                </a:solidFill>
              </a:rPr>
            </a:br>
            <a:r>
              <a:rPr lang="en-US" dirty="0"/>
              <a:t>“There are four key limitations. First, cross-sectional design captures one point in time, so causal claims are limited. I mitigate this by grounding interpretations in established theory and recommending future longitudinal work across tax cycles.</a:t>
            </a:r>
          </a:p>
          <a:p>
            <a:r>
              <a:rPr lang="en-US" dirty="0"/>
              <a:t>Second, self-report bias is possible. I reduce this using anonymity, neutral wording and clear instructions.</a:t>
            </a:r>
          </a:p>
          <a:p>
            <a:r>
              <a:rPr lang="en-US" dirty="0"/>
              <a:t>Third, digital-only recruitment may exclude users with weak access, which could bias results on facilitating conditions. I mitigate this by diversifying recruitment channels and reporting sample characteristics transparently.</a:t>
            </a:r>
          </a:p>
          <a:p>
            <a:r>
              <a:rPr lang="en-US" dirty="0"/>
              <a:t>Fourth, the model measures continuance intention rather than confirmed </a:t>
            </a:r>
            <a:r>
              <a:rPr lang="en-US" dirty="0" err="1"/>
              <a:t>behaviour</a:t>
            </a:r>
            <a:r>
              <a:rPr lang="en-US" dirty="0"/>
              <a:t>. I therefore interpret findings as explaining intention and recommend follow-up studies using usage logs, if feasible and ethical.”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summary, the implementation methodology builds a conceptual model through literature review, comparison of model strengths and weaknesses, selection of ECM and contextual extension with UTAUT2 and trust and security.</a:t>
            </a:r>
          </a:p>
          <a:p>
            <a:r>
              <a:rPr lang="en-US" dirty="0"/>
              <a:t>The evaluation methodology tests that model using a quantitative cross-sectional survey of eligible </a:t>
            </a:r>
            <a:r>
              <a:rPr lang="en-US" dirty="0" err="1"/>
              <a:t>Padna</a:t>
            </a:r>
            <a:r>
              <a:rPr lang="en-US" dirty="0"/>
              <a:t> users, with sample size planning via G*Power, strong ethics and quality controls.</a:t>
            </a:r>
          </a:p>
          <a:p>
            <a:r>
              <a:rPr lang="en-US" dirty="0"/>
              <a:t>The analysis uses PLS-SEM to identify the strongest drivers and barriers explaining limited continued use, which supports evidence-based recommendations for the GRA. Thank you. I welcome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F5F6F8"/>
          </a:solidFill>
          <a:ln/>
        </p:spPr>
        <p:txBody>
          <a:bodyPr/>
          <a:lstStyle/>
          <a:p>
            <a:endParaRPr lang="en-US"/>
          </a:p>
        </p:txBody>
      </p:sp>
      <p:sp>
        <p:nvSpPr>
          <p:cNvPr id="3" name="Shape 1"/>
          <p:cNvSpPr/>
          <p:nvPr/>
        </p:nvSpPr>
        <p:spPr>
          <a:xfrm>
            <a:off x="1143000" y="1047750"/>
            <a:ext cx="4317504" cy="571500"/>
          </a:xfrm>
          <a:prstGeom prst="roundRect">
            <a:avLst>
              <a:gd name="adj" fmla="val 50000"/>
            </a:avLst>
          </a:prstGeom>
          <a:solidFill>
            <a:srgbClr val="0A0E12"/>
          </a:solidFill>
          <a:ln/>
        </p:spPr>
        <p:txBody>
          <a:bodyPr/>
          <a:lstStyle/>
          <a:p>
            <a:endParaRPr lang="en-US"/>
          </a:p>
        </p:txBody>
      </p:sp>
      <p:sp>
        <p:nvSpPr>
          <p:cNvPr id="4" name="Text 2"/>
          <p:cNvSpPr/>
          <p:nvPr/>
        </p:nvSpPr>
        <p:spPr>
          <a:xfrm>
            <a:off x="1390650" y="1181100"/>
            <a:ext cx="237232" cy="342900"/>
          </a:xfrm>
          <a:prstGeom prst="rect">
            <a:avLst/>
          </a:prstGeom>
          <a:noFill/>
          <a:ln/>
        </p:spPr>
        <p:txBody>
          <a:bodyPr wrap="square" lIns="25400" tIns="25400" rIns="25400" bIns="25400" rtlCol="0" anchor="t">
            <a:normAutofit/>
          </a:bodyPr>
          <a:lstStyle/>
          <a:p>
            <a:pPr marL="0" indent="0" algn="l">
              <a:buNone/>
            </a:pPr>
            <a:r>
              <a:rPr lang="en-US" sz="1800" b="1" kern="0" spc="180" dirty="0">
                <a:solidFill>
                  <a:srgbClr val="4DC97A"/>
                </a:solidFill>
                <a:latin typeface="Arial" pitchFamily="34" charset="0"/>
                <a:ea typeface="Arial" pitchFamily="34" charset="-122"/>
                <a:cs typeface="Arial" pitchFamily="34" charset="-120"/>
              </a:rPr>
              <a:t>●</a:t>
            </a:r>
            <a:endParaRPr lang="en-US" sz="1800" dirty="0"/>
          </a:p>
        </p:txBody>
      </p:sp>
      <p:sp>
        <p:nvSpPr>
          <p:cNvPr id="5" name="Text 3"/>
          <p:cNvSpPr/>
          <p:nvPr/>
        </p:nvSpPr>
        <p:spPr>
          <a:xfrm>
            <a:off x="1685032" y="1195388"/>
            <a:ext cx="3633657" cy="314325"/>
          </a:xfrm>
          <a:prstGeom prst="rect">
            <a:avLst/>
          </a:prstGeom>
          <a:noFill/>
          <a:ln/>
        </p:spPr>
        <p:txBody>
          <a:bodyPr wrap="square" lIns="0" tIns="0" rIns="0" bIns="0" rtlCol="0" anchor="t">
            <a:normAutofit/>
          </a:bodyPr>
          <a:lstStyle/>
          <a:p>
            <a:pPr marL="0" indent="0" algn="l">
              <a:buNone/>
            </a:pPr>
            <a:r>
              <a:rPr lang="en-US" sz="1800" b="1" kern="0" spc="180" dirty="0">
                <a:solidFill>
                  <a:srgbClr val="FFFFFF"/>
                </a:solidFill>
                <a:latin typeface="Arial" pitchFamily="34" charset="0"/>
                <a:ea typeface="Arial" pitchFamily="34" charset="-122"/>
                <a:cs typeface="Arial" pitchFamily="34" charset="-120"/>
              </a:rPr>
              <a:t>ITE 4200 · METHODOLOGY</a:t>
            </a:r>
            <a:endParaRPr lang="en-US" sz="1800" dirty="0"/>
          </a:p>
        </p:txBody>
      </p:sp>
      <p:sp>
        <p:nvSpPr>
          <p:cNvPr id="6" name="Text 4"/>
          <p:cNvSpPr/>
          <p:nvPr/>
        </p:nvSpPr>
        <p:spPr>
          <a:xfrm>
            <a:off x="1143000" y="2076450"/>
            <a:ext cx="9065133" cy="2802582"/>
          </a:xfrm>
          <a:prstGeom prst="rect">
            <a:avLst/>
          </a:prstGeom>
          <a:noFill/>
          <a:ln/>
        </p:spPr>
        <p:txBody>
          <a:bodyPr wrap="square" lIns="25400" tIns="25400" rIns="25400" bIns="25400" rtlCol="0" anchor="t">
            <a:normAutofit fontScale="92500" lnSpcReduction="10000"/>
          </a:bodyPr>
          <a:lstStyle/>
          <a:p>
            <a:pPr marL="0" indent="0" algn="l">
              <a:lnSpc>
                <a:spcPct val="112000"/>
              </a:lnSpc>
              <a:buNone/>
            </a:pPr>
            <a:r>
              <a:rPr lang="en-US" sz="6300" b="1" kern="0" spc="-94" dirty="0">
                <a:solidFill>
                  <a:srgbClr val="111418"/>
                </a:solidFill>
                <a:latin typeface="Arial" pitchFamily="34" charset="0"/>
                <a:ea typeface="Arial" pitchFamily="34" charset="-122"/>
                <a:cs typeface="Arial" pitchFamily="34" charset="-120"/>
              </a:rPr>
              <a:t>Explaining the </a:t>
            </a:r>
            <a:r>
              <a:rPr lang="en-US" sz="6300" b="1" kern="0" spc="-94" dirty="0">
                <a:solidFill>
                  <a:srgbClr val="0E9F43"/>
                </a:solidFill>
                <a:latin typeface="Arial" pitchFamily="34" charset="0"/>
                <a:ea typeface="Arial" pitchFamily="34" charset="-122"/>
                <a:cs typeface="Arial" pitchFamily="34" charset="-120"/>
              </a:rPr>
              <a:t>limited continued use </a:t>
            </a:r>
            <a:r>
              <a:rPr lang="en-US" sz="6300" b="1" kern="0" spc="-94" dirty="0">
                <a:solidFill>
                  <a:srgbClr val="111418"/>
                </a:solidFill>
                <a:latin typeface="Arial" pitchFamily="34" charset="0"/>
                <a:ea typeface="Arial" pitchFamily="34" charset="-122"/>
                <a:cs typeface="Arial" pitchFamily="34" charset="-120"/>
              </a:rPr>
              <a:t>of the GRA Padna App</a:t>
            </a:r>
            <a:endParaRPr lang="en-US" sz="6300" dirty="0"/>
          </a:p>
        </p:txBody>
      </p:sp>
      <p:sp>
        <p:nvSpPr>
          <p:cNvPr id="7" name="Text 5"/>
          <p:cNvSpPr/>
          <p:nvPr/>
        </p:nvSpPr>
        <p:spPr>
          <a:xfrm>
            <a:off x="1143000" y="5183832"/>
            <a:ext cx="8829675" cy="912316"/>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2550" dirty="0">
                <a:solidFill>
                  <a:srgbClr val="5C6570"/>
                </a:solidFill>
                <a:latin typeface="Arial" pitchFamily="34" charset="0"/>
                <a:ea typeface="Arial" pitchFamily="34" charset="-122"/>
                <a:cs typeface="Arial" pitchFamily="34" charset="-120"/>
              </a:rPr>
              <a:t>A quantitative study on e-government continuance in Guyana.</a:t>
            </a:r>
            <a:endParaRPr lang="en-US" sz="2550" dirty="0"/>
          </a:p>
        </p:txBody>
      </p:sp>
      <p:sp>
        <p:nvSpPr>
          <p:cNvPr id="8" name="Text 6"/>
          <p:cNvSpPr/>
          <p:nvPr/>
        </p:nvSpPr>
        <p:spPr>
          <a:xfrm>
            <a:off x="1143000" y="8181975"/>
            <a:ext cx="3463041"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8A929C"/>
                </a:solidFill>
                <a:latin typeface="Arial" pitchFamily="34" charset="0"/>
                <a:ea typeface="Arial" pitchFamily="34" charset="-122"/>
                <a:cs typeface="Arial" pitchFamily="34" charset="-120"/>
              </a:rPr>
              <a:t>PRESENTER</a:t>
            </a:r>
            <a:endParaRPr lang="en-US" sz="1800" dirty="0"/>
          </a:p>
        </p:txBody>
      </p:sp>
      <p:sp>
        <p:nvSpPr>
          <p:cNvPr id="9" name="Text 7"/>
          <p:cNvSpPr/>
          <p:nvPr/>
        </p:nvSpPr>
        <p:spPr>
          <a:xfrm>
            <a:off x="1143000" y="8534400"/>
            <a:ext cx="3463041" cy="428625"/>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11418"/>
                </a:solidFill>
                <a:latin typeface="Arial" pitchFamily="34" charset="0"/>
                <a:ea typeface="Arial" pitchFamily="34" charset="-122"/>
                <a:cs typeface="Arial" pitchFamily="34" charset="-120"/>
              </a:rPr>
              <a:t>Gaianand Ramnarace</a:t>
            </a:r>
            <a:endParaRPr lang="en-US" sz="2550" dirty="0"/>
          </a:p>
        </p:txBody>
      </p:sp>
      <p:sp>
        <p:nvSpPr>
          <p:cNvPr id="10" name="Text 8"/>
          <p:cNvSpPr/>
          <p:nvPr/>
        </p:nvSpPr>
        <p:spPr>
          <a:xfrm>
            <a:off x="1143000" y="8963025"/>
            <a:ext cx="3463041" cy="314325"/>
          </a:xfrm>
          <a:prstGeom prst="rect">
            <a:avLst/>
          </a:prstGeom>
          <a:noFill/>
          <a:ln/>
        </p:spPr>
        <p:txBody>
          <a:bodyPr wrap="square" lIns="25400" tIns="25400" rIns="25400" bIns="25400" rtlCol="0" anchor="t">
            <a:normAutofit lnSpcReduction="10000"/>
          </a:bodyPr>
          <a:lstStyle/>
          <a:p>
            <a:pPr marL="0" indent="0" algn="l">
              <a:buNone/>
            </a:pPr>
            <a:r>
              <a:rPr lang="en-US" dirty="0">
                <a:solidFill>
                  <a:srgbClr val="5C6570"/>
                </a:solidFill>
                <a:latin typeface="Arial" pitchFamily="34" charset="0"/>
                <a:ea typeface="Arial" pitchFamily="34" charset="-122"/>
                <a:cs typeface="Arial" pitchFamily="34" charset="-120"/>
              </a:rPr>
              <a:t>USI</a:t>
            </a:r>
            <a:r>
              <a:rPr lang="en-US" sz="1800" dirty="0">
                <a:solidFill>
                  <a:srgbClr val="5C6570"/>
                </a:solidFill>
                <a:latin typeface="Arial" pitchFamily="34" charset="0"/>
                <a:ea typeface="Arial" pitchFamily="34" charset="-122"/>
                <a:cs typeface="Arial" pitchFamily="34" charset="-120"/>
              </a:rPr>
              <a:t> · 1045379</a:t>
            </a:r>
            <a:endParaRPr lang="en-US" sz="1800" dirty="0"/>
          </a:p>
        </p:txBody>
      </p:sp>
      <p:sp>
        <p:nvSpPr>
          <p:cNvPr id="11" name="Text 9"/>
          <p:cNvSpPr/>
          <p:nvPr/>
        </p:nvSpPr>
        <p:spPr>
          <a:xfrm>
            <a:off x="5114776" y="8181975"/>
            <a:ext cx="253112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288" dirty="0">
                <a:solidFill>
                  <a:srgbClr val="8A929C"/>
                </a:solidFill>
                <a:latin typeface="Arial" pitchFamily="34" charset="0"/>
                <a:ea typeface="Arial" pitchFamily="34" charset="-122"/>
                <a:cs typeface="Arial" pitchFamily="34" charset="-120"/>
              </a:rPr>
              <a:t>SUPERVISOR</a:t>
            </a:r>
            <a:endParaRPr lang="en-US" sz="1800" dirty="0"/>
          </a:p>
        </p:txBody>
      </p:sp>
      <p:sp>
        <p:nvSpPr>
          <p:cNvPr id="12" name="Text 10"/>
          <p:cNvSpPr/>
          <p:nvPr/>
        </p:nvSpPr>
        <p:spPr>
          <a:xfrm>
            <a:off x="5114776" y="8534400"/>
            <a:ext cx="2531120" cy="428625"/>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111418"/>
                </a:solidFill>
                <a:latin typeface="Arial" pitchFamily="34" charset="0"/>
                <a:ea typeface="Arial" pitchFamily="34" charset="-122"/>
                <a:cs typeface="Arial" pitchFamily="34" charset="-120"/>
              </a:rPr>
              <a:t>Jerome Allicock</a:t>
            </a:r>
            <a:endParaRPr lang="en-US" sz="2550" dirty="0"/>
          </a:p>
        </p:txBody>
      </p:sp>
      <p:sp>
        <p:nvSpPr>
          <p:cNvPr id="13" name="Text 11"/>
          <p:cNvSpPr/>
          <p:nvPr/>
        </p:nvSpPr>
        <p:spPr>
          <a:xfrm>
            <a:off x="5114776" y="8963025"/>
            <a:ext cx="2531120"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C6570"/>
                </a:solidFill>
                <a:latin typeface="Arial" pitchFamily="34" charset="0"/>
                <a:ea typeface="Arial" pitchFamily="34" charset="-122"/>
                <a:cs typeface="Arial" pitchFamily="34" charset="-120"/>
              </a:rPr>
              <a:t>24 April 2026</a:t>
            </a:r>
            <a:endParaRPr lang="en-US" sz="1800" dirty="0"/>
          </a:p>
        </p:txBody>
      </p:sp>
      <p:sp>
        <p:nvSpPr>
          <p:cNvPr id="14" name="Shape 12"/>
          <p:cNvSpPr/>
          <p:nvPr/>
        </p:nvSpPr>
        <p:spPr>
          <a:xfrm>
            <a:off x="10515600" y="0"/>
            <a:ext cx="7772400" cy="10287000"/>
          </a:xfrm>
          <a:prstGeom prst="rect">
            <a:avLst/>
          </a:prstGeom>
          <a:solidFill>
            <a:srgbClr val="0B3D1E"/>
          </a:solidFill>
          <a:ln/>
        </p:spPr>
        <p:txBody>
          <a:bodyPr/>
          <a:lstStyle/>
          <a:p>
            <a:endParaRPr lang="en-US"/>
          </a:p>
        </p:txBody>
      </p:sp>
      <p:pic>
        <p:nvPicPr>
          <p:cNvPr id="15" name="Image 0" descr="preencoded.png"/>
          <p:cNvPicPr>
            <a:picLocks noChangeAspect="1"/>
          </p:cNvPicPr>
          <p:nvPr/>
        </p:nvPicPr>
        <p:blipFill>
          <a:blip r:embed="rId3"/>
          <a:stretch>
            <a:fillRect/>
          </a:stretch>
        </p:blipFill>
        <p:spPr>
          <a:xfrm>
            <a:off x="13620750" y="3333750"/>
            <a:ext cx="3619500" cy="3619500"/>
          </a:xfrm>
          <a:prstGeom prst="rect">
            <a:avLst/>
          </a:prstGeom>
        </p:spPr>
      </p:pic>
      <p:sp>
        <p:nvSpPr>
          <p:cNvPr id="16" name="Text 13"/>
          <p:cNvSpPr/>
          <p:nvPr/>
        </p:nvSpPr>
        <p:spPr>
          <a:xfrm>
            <a:off x="15041761" y="8810625"/>
            <a:ext cx="2754981" cy="285750"/>
          </a:xfrm>
          <a:prstGeom prst="rect">
            <a:avLst/>
          </a:prstGeom>
          <a:noFill/>
          <a:ln/>
        </p:spPr>
        <p:txBody>
          <a:bodyPr wrap="square" lIns="0" tIns="0" rIns="0" bIns="0" rtlCol="0" anchor="t">
            <a:normAutofit/>
          </a:bodyPr>
          <a:lstStyle/>
          <a:p>
            <a:pPr marL="0" indent="0" algn="r">
              <a:buNone/>
            </a:pPr>
            <a:r>
              <a:rPr lang="en-US" sz="1650" b="1" kern="0" spc="231" dirty="0">
                <a:solidFill>
                  <a:srgbClr val="FFFFFF">
                    <a:alpha val="72000"/>
                  </a:srgbClr>
                </a:solidFill>
                <a:latin typeface="Arial" pitchFamily="34" charset="0"/>
                <a:ea typeface="Arial" pitchFamily="34" charset="-122"/>
                <a:cs typeface="Arial" pitchFamily="34" charset="-120"/>
              </a:rPr>
              <a:t>YOUR GRA CONNECT</a:t>
            </a:r>
            <a:endParaRPr lang="en-US" sz="1650" dirty="0"/>
          </a:p>
        </p:txBody>
      </p:sp>
      <p:sp>
        <p:nvSpPr>
          <p:cNvPr id="17" name="Text 14"/>
          <p:cNvSpPr/>
          <p:nvPr/>
        </p:nvSpPr>
        <p:spPr>
          <a:xfrm>
            <a:off x="14961519" y="9134475"/>
            <a:ext cx="2754981" cy="523875"/>
          </a:xfrm>
          <a:prstGeom prst="rect">
            <a:avLst/>
          </a:prstGeom>
          <a:noFill/>
          <a:ln/>
        </p:spPr>
        <p:txBody>
          <a:bodyPr wrap="square" lIns="25400" tIns="25400" rIns="25400" bIns="25400" rtlCol="0" anchor="t">
            <a:normAutofit/>
          </a:bodyPr>
          <a:lstStyle/>
          <a:p>
            <a:pPr marL="0" indent="0" algn="r">
              <a:buNone/>
            </a:pPr>
            <a:r>
              <a:rPr lang="en-US" sz="2850" b="1" kern="0" spc="-29" dirty="0">
                <a:solidFill>
                  <a:srgbClr val="FFFFFF"/>
                </a:solidFill>
                <a:latin typeface="Arial" pitchFamily="34" charset="0"/>
                <a:ea typeface="Arial" pitchFamily="34" charset="-122"/>
                <a:cs typeface="Arial" pitchFamily="34" charset="-120"/>
              </a:rPr>
              <a:t>padna</a:t>
            </a:r>
            <a:endParaRPr lang="en-US" sz="2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02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PROJECT SUMMARY</a:t>
            </a:r>
            <a:endParaRPr lang="en-US" sz="1800" dirty="0"/>
          </a:p>
        </p:txBody>
      </p:sp>
      <p:sp>
        <p:nvSpPr>
          <p:cNvPr id="7" name="Text 4"/>
          <p:cNvSpPr/>
          <p:nvPr/>
        </p:nvSpPr>
        <p:spPr>
          <a:xfrm>
            <a:off x="1143000" y="1533525"/>
            <a:ext cx="15206662" cy="89817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450" b="1" kern="0" spc="-97" dirty="0">
                <a:solidFill>
                  <a:srgbClr val="111418"/>
                </a:solidFill>
                <a:latin typeface="Arial" pitchFamily="34" charset="0"/>
                <a:ea typeface="Arial" pitchFamily="34" charset="-122"/>
                <a:cs typeface="Arial" pitchFamily="34" charset="-120"/>
              </a:rPr>
              <a:t>Introduction</a:t>
            </a:r>
            <a:endParaRPr lang="en-US" sz="6450" dirty="0"/>
          </a:p>
        </p:txBody>
      </p:sp>
      <p:sp>
        <p:nvSpPr>
          <p:cNvPr id="8" name="Shape 5"/>
          <p:cNvSpPr/>
          <p:nvPr/>
        </p:nvSpPr>
        <p:spPr>
          <a:xfrm>
            <a:off x="1143000" y="3155603"/>
            <a:ext cx="5105400" cy="4262289"/>
          </a:xfrm>
          <a:prstGeom prst="roundRect">
            <a:avLst>
              <a:gd name="adj" fmla="val 4916"/>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9" name="Text 6"/>
          <p:cNvSpPr/>
          <p:nvPr/>
        </p:nvSpPr>
        <p:spPr>
          <a:xfrm>
            <a:off x="1600200" y="3574703"/>
            <a:ext cx="4316730"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PURPOSE</a:t>
            </a:r>
            <a:endParaRPr lang="en-US" sz="1500" dirty="0"/>
          </a:p>
        </p:txBody>
      </p:sp>
      <p:sp>
        <p:nvSpPr>
          <p:cNvPr id="10" name="Text 7"/>
          <p:cNvSpPr/>
          <p:nvPr/>
        </p:nvSpPr>
        <p:spPr>
          <a:xfrm>
            <a:off x="1600200" y="3898553"/>
            <a:ext cx="4316730" cy="395288"/>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250" b="1" kern="0" spc="-11" dirty="0">
                <a:solidFill>
                  <a:srgbClr val="111418"/>
                </a:solidFill>
                <a:latin typeface="Arial" pitchFamily="34" charset="0"/>
                <a:ea typeface="Arial" pitchFamily="34" charset="-122"/>
                <a:cs typeface="Arial" pitchFamily="34" charset="-120"/>
              </a:rPr>
              <a:t>Explain a specific gap.</a:t>
            </a:r>
            <a:endParaRPr lang="en-US" sz="2250" dirty="0"/>
          </a:p>
        </p:txBody>
      </p:sp>
      <p:sp>
        <p:nvSpPr>
          <p:cNvPr id="11" name="Text 8"/>
          <p:cNvSpPr/>
          <p:nvPr/>
        </p:nvSpPr>
        <p:spPr>
          <a:xfrm>
            <a:off x="1600200" y="4560540"/>
            <a:ext cx="4316730" cy="2171551"/>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2B3139"/>
                </a:solidFill>
                <a:latin typeface="Arial" pitchFamily="34" charset="0"/>
                <a:ea typeface="Arial" pitchFamily="34" charset="-122"/>
                <a:cs typeface="Arial" pitchFamily="34" charset="-120"/>
              </a:rPr>
              <a:t>Why continued use of Guyana's e-government services remains limited — using Padna as the focal case.</a:t>
            </a:r>
            <a:endParaRPr lang="en-US" sz="2400" dirty="0"/>
          </a:p>
        </p:txBody>
      </p:sp>
      <p:sp>
        <p:nvSpPr>
          <p:cNvPr id="12" name="Shape 9"/>
          <p:cNvSpPr/>
          <p:nvPr/>
        </p:nvSpPr>
        <p:spPr>
          <a:xfrm>
            <a:off x="6591300" y="3155603"/>
            <a:ext cx="5105400" cy="4262289"/>
          </a:xfrm>
          <a:prstGeom prst="roundRect">
            <a:avLst>
              <a:gd name="adj" fmla="val 4916"/>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13" name="Text 10"/>
          <p:cNvSpPr/>
          <p:nvPr/>
        </p:nvSpPr>
        <p:spPr>
          <a:xfrm>
            <a:off x="7048500" y="3574703"/>
            <a:ext cx="4316730"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FOCUS</a:t>
            </a:r>
            <a:endParaRPr lang="en-US" sz="1500" dirty="0"/>
          </a:p>
        </p:txBody>
      </p:sp>
      <p:sp>
        <p:nvSpPr>
          <p:cNvPr id="14" name="Text 11"/>
          <p:cNvSpPr/>
          <p:nvPr/>
        </p:nvSpPr>
        <p:spPr>
          <a:xfrm>
            <a:off x="7048500" y="3898553"/>
            <a:ext cx="4316730" cy="395288"/>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250" b="1" kern="0" spc="-11" dirty="0">
                <a:solidFill>
                  <a:srgbClr val="111418"/>
                </a:solidFill>
                <a:latin typeface="Arial" pitchFamily="34" charset="0"/>
                <a:ea typeface="Arial" pitchFamily="34" charset="-122"/>
                <a:cs typeface="Arial" pitchFamily="34" charset="-120"/>
              </a:rPr>
              <a:t>Post-adoption behaviour.</a:t>
            </a:r>
            <a:endParaRPr lang="en-US" sz="2250" dirty="0"/>
          </a:p>
        </p:txBody>
      </p:sp>
      <p:sp>
        <p:nvSpPr>
          <p:cNvPr id="15" name="Text 12"/>
          <p:cNvSpPr/>
          <p:nvPr/>
        </p:nvSpPr>
        <p:spPr>
          <a:xfrm>
            <a:off x="7048500" y="4560540"/>
            <a:ext cx="4316730" cy="2171551"/>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2B3139"/>
                </a:solidFill>
                <a:latin typeface="Arial" pitchFamily="34" charset="0"/>
                <a:ea typeface="Arial" pitchFamily="34" charset="-122"/>
                <a:cs typeface="Arial" pitchFamily="34" charset="-120"/>
              </a:rPr>
              <a:t>Taxpayers who have already used Padna and may continue, reduce, or discontinue use. </a:t>
            </a:r>
            <a:r>
              <a:rPr lang="en-US" sz="1680" b="1" dirty="0">
                <a:solidFill>
                  <a:srgbClr val="8A929C"/>
                </a:solidFill>
                <a:latin typeface="Arial" pitchFamily="34" charset="0"/>
                <a:ea typeface="Arial" pitchFamily="34" charset="-122"/>
                <a:cs typeface="Arial" pitchFamily="34" charset="-120"/>
              </a:rPr>
              <a:t>(Bhattacherjee, 2001)</a:t>
            </a:r>
            <a:endParaRPr lang="en-US" sz="2400" dirty="0"/>
          </a:p>
        </p:txBody>
      </p:sp>
      <p:sp>
        <p:nvSpPr>
          <p:cNvPr id="16" name="Shape 13"/>
          <p:cNvSpPr/>
          <p:nvPr/>
        </p:nvSpPr>
        <p:spPr>
          <a:xfrm>
            <a:off x="12039600" y="3155603"/>
            <a:ext cx="5105400" cy="4262289"/>
          </a:xfrm>
          <a:prstGeom prst="roundRect">
            <a:avLst>
              <a:gd name="adj" fmla="val 4916"/>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17" name="Text 14"/>
          <p:cNvSpPr/>
          <p:nvPr/>
        </p:nvSpPr>
        <p:spPr>
          <a:xfrm>
            <a:off x="12496800" y="3574703"/>
            <a:ext cx="4316730"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VALUE</a:t>
            </a:r>
            <a:endParaRPr lang="en-US" sz="1500" dirty="0"/>
          </a:p>
        </p:txBody>
      </p:sp>
      <p:sp>
        <p:nvSpPr>
          <p:cNvPr id="18" name="Text 15"/>
          <p:cNvSpPr/>
          <p:nvPr/>
        </p:nvSpPr>
        <p:spPr>
          <a:xfrm>
            <a:off x="12496800" y="3898553"/>
            <a:ext cx="4316730" cy="395288"/>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250" b="1" kern="0" spc="-11" dirty="0">
                <a:solidFill>
                  <a:srgbClr val="111418"/>
                </a:solidFill>
                <a:latin typeface="Arial" pitchFamily="34" charset="0"/>
                <a:ea typeface="Arial" pitchFamily="34" charset="-122"/>
                <a:cs typeface="Arial" pitchFamily="34" charset="-120"/>
              </a:rPr>
              <a:t>Evidence for GRA.</a:t>
            </a:r>
            <a:endParaRPr lang="en-US" sz="2250" dirty="0"/>
          </a:p>
        </p:txBody>
      </p:sp>
      <p:sp>
        <p:nvSpPr>
          <p:cNvPr id="19" name="Text 16"/>
          <p:cNvSpPr/>
          <p:nvPr/>
        </p:nvSpPr>
        <p:spPr>
          <a:xfrm>
            <a:off x="12496800" y="4560540"/>
            <a:ext cx="4316730" cy="17448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2B3139"/>
                </a:solidFill>
                <a:latin typeface="Arial" pitchFamily="34" charset="0"/>
                <a:ea typeface="Arial" pitchFamily="34" charset="-122"/>
                <a:cs typeface="Arial" pitchFamily="34" charset="-120"/>
              </a:rPr>
              <a:t>Guidance to improve retention, trust, usability and long-term digital service performance. </a:t>
            </a:r>
            <a:r>
              <a:rPr lang="en-US" sz="1680" b="1" dirty="0">
                <a:solidFill>
                  <a:srgbClr val="8A929C"/>
                </a:solidFill>
                <a:latin typeface="Arial" pitchFamily="34" charset="0"/>
                <a:ea typeface="Arial" pitchFamily="34" charset="-122"/>
                <a:cs typeface="Arial" pitchFamily="34" charset="-120"/>
              </a:rPr>
              <a:t>(UN DESA, 2024)</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03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PROBLEM &amp; RESEARCH QUESTION</a:t>
            </a:r>
            <a:endParaRPr lang="en-US" sz="1800" dirty="0"/>
          </a:p>
        </p:txBody>
      </p:sp>
      <p:sp>
        <p:nvSpPr>
          <p:cNvPr id="7" name="Text 4"/>
          <p:cNvSpPr/>
          <p:nvPr/>
        </p:nvSpPr>
        <p:spPr>
          <a:xfrm>
            <a:off x="1143000" y="1533525"/>
            <a:ext cx="15206662" cy="89817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450" b="1" kern="0" spc="-97" dirty="0">
                <a:solidFill>
                  <a:srgbClr val="111418"/>
                </a:solidFill>
                <a:latin typeface="Arial" pitchFamily="34" charset="0"/>
                <a:ea typeface="Arial" pitchFamily="34" charset="-122"/>
                <a:cs typeface="Arial" pitchFamily="34" charset="-120"/>
              </a:rPr>
              <a:t>Adopted, but not consistently used</a:t>
            </a:r>
            <a:endParaRPr lang="en-US" sz="6450" dirty="0"/>
          </a:p>
        </p:txBody>
      </p:sp>
      <p:sp>
        <p:nvSpPr>
          <p:cNvPr id="8" name="Shape 5"/>
          <p:cNvSpPr/>
          <p:nvPr/>
        </p:nvSpPr>
        <p:spPr>
          <a:xfrm>
            <a:off x="1143000" y="3060353"/>
            <a:ext cx="7734300" cy="4395192"/>
          </a:xfrm>
          <a:prstGeom prst="roundRect">
            <a:avLst>
              <a:gd name="adj" fmla="val 4768"/>
            </a:avLst>
          </a:prstGeom>
          <a:solidFill>
            <a:srgbClr val="0A0E12"/>
          </a:solidFill>
          <a:ln/>
          <a:effectLst>
            <a:outerShdw blurRad="19050" dist="9525" dir="5400000" algn="bl" rotWithShape="0">
              <a:srgbClr val="0B3D1E">
                <a:alpha val="4000"/>
              </a:srgbClr>
            </a:outerShdw>
          </a:effectLst>
        </p:spPr>
        <p:txBody>
          <a:bodyPr/>
          <a:lstStyle/>
          <a:p>
            <a:endParaRPr lang="en-US"/>
          </a:p>
        </p:txBody>
      </p:sp>
      <p:sp>
        <p:nvSpPr>
          <p:cNvPr id="9" name="Text 6"/>
          <p:cNvSpPr/>
          <p:nvPr/>
        </p:nvSpPr>
        <p:spPr>
          <a:xfrm>
            <a:off x="1600200" y="3479453"/>
            <a:ext cx="7024497"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4DC97A"/>
                </a:solidFill>
                <a:latin typeface="Arial" pitchFamily="34" charset="0"/>
                <a:ea typeface="Arial" pitchFamily="34" charset="-122"/>
                <a:cs typeface="Arial" pitchFamily="34" charset="-120"/>
              </a:rPr>
              <a:t>RESEARCH PROBLEM</a:t>
            </a:r>
            <a:endParaRPr lang="en-US" sz="1500" dirty="0"/>
          </a:p>
        </p:txBody>
      </p:sp>
      <p:sp>
        <p:nvSpPr>
          <p:cNvPr id="10" name="Text 7"/>
          <p:cNvSpPr/>
          <p:nvPr/>
        </p:nvSpPr>
        <p:spPr>
          <a:xfrm>
            <a:off x="1600200" y="4031903"/>
            <a:ext cx="7024497" cy="2718792"/>
          </a:xfrm>
          <a:prstGeom prst="rect">
            <a:avLst/>
          </a:prstGeom>
          <a:noFill/>
          <a:ln/>
        </p:spPr>
        <p:txBody>
          <a:bodyPr wrap="square" lIns="25400" tIns="25400" rIns="25400" bIns="25400" rtlCol="0" anchor="t">
            <a:normAutofit/>
          </a:bodyPr>
          <a:lstStyle/>
          <a:p>
            <a:pPr marL="0" indent="0" algn="l">
              <a:lnSpc>
                <a:spcPct val="138000"/>
              </a:lnSpc>
              <a:buNone/>
            </a:pPr>
            <a:r>
              <a:rPr lang="en-US" sz="2550" dirty="0">
                <a:solidFill>
                  <a:srgbClr val="FFFFFF">
                    <a:alpha val="92000"/>
                  </a:srgbClr>
                </a:solidFill>
                <a:latin typeface="Arial" pitchFamily="34" charset="0"/>
                <a:ea typeface="Arial" pitchFamily="34" charset="-122"/>
                <a:cs typeface="Arial" pitchFamily="34" charset="-120"/>
              </a:rPr>
              <a:t>E-government services in Guyana, including Padna, may be adopted but are </a:t>
            </a:r>
            <a:r>
              <a:rPr lang="en-US" sz="2550" b="1" dirty="0">
                <a:solidFill>
                  <a:srgbClr val="FFFFFF"/>
                </a:solidFill>
                <a:latin typeface="Arial" pitchFamily="34" charset="0"/>
                <a:ea typeface="Arial" pitchFamily="34" charset="-122"/>
                <a:cs typeface="Arial" pitchFamily="34" charset="-120"/>
              </a:rPr>
              <a:t>not consistently used over time </a:t>
            </a:r>
            <a:r>
              <a:rPr lang="en-US" sz="2550" dirty="0">
                <a:solidFill>
                  <a:srgbClr val="FFFFFF">
                    <a:alpha val="92000"/>
                  </a:srgbClr>
                </a:solidFill>
                <a:latin typeface="Arial" pitchFamily="34" charset="0"/>
                <a:ea typeface="Arial" pitchFamily="34" charset="-122"/>
                <a:cs typeface="Arial" pitchFamily="34" charset="-120"/>
              </a:rPr>
              <a:t>— due to access, usability, digital literacy, trust and security concerns. </a:t>
            </a:r>
            <a:r>
              <a:rPr lang="en-US" sz="1785" b="1" dirty="0">
                <a:solidFill>
                  <a:srgbClr val="4DC97A"/>
                </a:solidFill>
                <a:latin typeface="Arial" pitchFamily="34" charset="0"/>
                <a:ea typeface="Arial" pitchFamily="34" charset="-122"/>
                <a:cs typeface="Arial" pitchFamily="34" charset="-120"/>
              </a:rPr>
              <a:t>(Bélanger &amp; Carter, 2008; UNDP Guyana, 2023)</a:t>
            </a:r>
            <a:endParaRPr lang="en-US" sz="2550" dirty="0"/>
          </a:p>
        </p:txBody>
      </p:sp>
      <p:sp>
        <p:nvSpPr>
          <p:cNvPr id="11" name="Shape 8"/>
          <p:cNvSpPr/>
          <p:nvPr/>
        </p:nvSpPr>
        <p:spPr>
          <a:xfrm>
            <a:off x="9410700" y="3060353"/>
            <a:ext cx="7734300" cy="4395192"/>
          </a:xfrm>
          <a:prstGeom prst="roundRect">
            <a:avLst>
              <a:gd name="adj" fmla="val 4768"/>
            </a:avLst>
          </a:prstGeom>
          <a:solidFill>
            <a:srgbClr val="F2FBF5"/>
          </a:solidFill>
          <a:ln w="19050">
            <a:solidFill>
              <a:srgbClr val="14B24B"/>
            </a:solidFill>
            <a:prstDash val="solid"/>
          </a:ln>
          <a:effectLst>
            <a:outerShdw blurRad="19050" dist="9525" dir="5400000" algn="bl" rotWithShape="0">
              <a:srgbClr val="0B3D1E">
                <a:alpha val="4000"/>
              </a:srgbClr>
            </a:outerShdw>
          </a:effectLst>
        </p:spPr>
        <p:txBody>
          <a:bodyPr/>
          <a:lstStyle/>
          <a:p>
            <a:endParaRPr lang="en-US"/>
          </a:p>
        </p:txBody>
      </p:sp>
      <p:sp>
        <p:nvSpPr>
          <p:cNvPr id="12" name="Text 9"/>
          <p:cNvSpPr/>
          <p:nvPr/>
        </p:nvSpPr>
        <p:spPr>
          <a:xfrm>
            <a:off x="9886950" y="3498503"/>
            <a:ext cx="6985254"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RESEARCH QUESTION</a:t>
            </a:r>
            <a:endParaRPr lang="en-US" sz="1500" dirty="0"/>
          </a:p>
        </p:txBody>
      </p:sp>
      <p:sp>
        <p:nvSpPr>
          <p:cNvPr id="13" name="Text 10"/>
          <p:cNvSpPr/>
          <p:nvPr/>
        </p:nvSpPr>
        <p:spPr>
          <a:xfrm>
            <a:off x="9886950" y="4089053"/>
            <a:ext cx="6985254" cy="1890712"/>
          </a:xfrm>
          <a:prstGeom prst="rect">
            <a:avLst/>
          </a:prstGeom>
          <a:noFill/>
          <a:ln/>
        </p:spPr>
        <p:txBody>
          <a:bodyPr wrap="square" lIns="25400" tIns="25400" rIns="25400" bIns="25400" rtlCol="0" anchor="t">
            <a:normAutofit fontScale="92500"/>
          </a:bodyPr>
          <a:lstStyle/>
          <a:p>
            <a:pPr marL="0" indent="0" algn="l">
              <a:lnSpc>
                <a:spcPct val="128000"/>
              </a:lnSpc>
              <a:buNone/>
            </a:pPr>
            <a:r>
              <a:rPr lang="en-US" sz="2850" b="1" dirty="0">
                <a:solidFill>
                  <a:srgbClr val="111418"/>
                </a:solidFill>
                <a:latin typeface="Arial" pitchFamily="34" charset="0"/>
                <a:ea typeface="Arial" pitchFamily="34" charset="-122"/>
                <a:cs typeface="Arial" pitchFamily="34" charset="-120"/>
              </a:rPr>
              <a:t>What are the main factors that explain the limited </a:t>
            </a:r>
            <a:r>
              <a:rPr lang="en-US" sz="2850" b="1" dirty="0">
                <a:solidFill>
                  <a:srgbClr val="127A38"/>
                </a:solidFill>
                <a:latin typeface="Arial" pitchFamily="34" charset="0"/>
                <a:ea typeface="Arial" pitchFamily="34" charset="-122"/>
                <a:cs typeface="Arial" pitchFamily="34" charset="-120"/>
              </a:rPr>
              <a:t>continued use </a:t>
            </a:r>
            <a:r>
              <a:rPr lang="en-US" sz="2850" b="1" dirty="0">
                <a:solidFill>
                  <a:srgbClr val="111418"/>
                </a:solidFill>
                <a:latin typeface="Arial" pitchFamily="34" charset="0"/>
                <a:ea typeface="Arial" pitchFamily="34" charset="-122"/>
                <a:cs typeface="Arial" pitchFamily="34" charset="-120"/>
              </a:rPr>
              <a:t>of the GRA Padna App among Guyanese taxpayers?</a:t>
            </a:r>
            <a:endParaRPr lang="en-US" sz="2850" dirty="0"/>
          </a:p>
        </p:txBody>
      </p:sp>
      <p:sp>
        <p:nvSpPr>
          <p:cNvPr id="14" name="Shape 11"/>
          <p:cNvSpPr/>
          <p:nvPr/>
        </p:nvSpPr>
        <p:spPr>
          <a:xfrm>
            <a:off x="1143000" y="8743950"/>
            <a:ext cx="1147018" cy="495300"/>
          </a:xfrm>
          <a:prstGeom prst="roundRect">
            <a:avLst>
              <a:gd name="adj" fmla="val 50000"/>
            </a:avLst>
          </a:prstGeom>
          <a:solidFill>
            <a:srgbClr val="E3F6E9"/>
          </a:solidFill>
          <a:ln/>
        </p:spPr>
        <p:txBody>
          <a:bodyPr/>
          <a:lstStyle/>
          <a:p>
            <a:endParaRPr lang="en-US"/>
          </a:p>
        </p:txBody>
      </p:sp>
      <p:sp>
        <p:nvSpPr>
          <p:cNvPr id="15" name="Text 12"/>
          <p:cNvSpPr/>
          <p:nvPr/>
        </p:nvSpPr>
        <p:spPr>
          <a:xfrm>
            <a:off x="1352550" y="8858250"/>
            <a:ext cx="804118" cy="304800"/>
          </a:xfrm>
          <a:prstGeom prst="rect">
            <a:avLst/>
          </a:prstGeom>
          <a:noFill/>
          <a:ln/>
        </p:spPr>
        <p:txBody>
          <a:bodyPr wrap="square" lIns="25400" tIns="25400" rIns="25400" bIns="25400" rtlCol="0" anchor="ctr">
            <a:normAutofit/>
          </a:bodyPr>
          <a:lstStyle/>
          <a:p>
            <a:pPr marL="0" indent="0" algn="l">
              <a:buNone/>
            </a:pPr>
            <a:r>
              <a:rPr lang="en-US" sz="1650" b="1" dirty="0">
                <a:solidFill>
                  <a:srgbClr val="127A38"/>
                </a:solidFill>
                <a:latin typeface="Arial" pitchFamily="34" charset="0"/>
                <a:ea typeface="Arial" pitchFamily="34" charset="-122"/>
                <a:cs typeface="Arial" pitchFamily="34" charset="-120"/>
              </a:rPr>
              <a:t>access</a:t>
            </a:r>
            <a:endParaRPr lang="en-US" sz="1650" dirty="0"/>
          </a:p>
        </p:txBody>
      </p:sp>
      <p:sp>
        <p:nvSpPr>
          <p:cNvPr id="16" name="Shape 13"/>
          <p:cNvSpPr/>
          <p:nvPr/>
        </p:nvSpPr>
        <p:spPr>
          <a:xfrm>
            <a:off x="2423368" y="8743950"/>
            <a:ext cx="1298674" cy="495300"/>
          </a:xfrm>
          <a:prstGeom prst="roundRect">
            <a:avLst>
              <a:gd name="adj" fmla="val 50000"/>
            </a:avLst>
          </a:prstGeom>
          <a:solidFill>
            <a:srgbClr val="FDE3EA"/>
          </a:solidFill>
          <a:ln/>
        </p:spPr>
        <p:txBody>
          <a:bodyPr/>
          <a:lstStyle/>
          <a:p>
            <a:endParaRPr lang="en-US"/>
          </a:p>
        </p:txBody>
      </p:sp>
      <p:sp>
        <p:nvSpPr>
          <p:cNvPr id="17" name="Text 14"/>
          <p:cNvSpPr/>
          <p:nvPr/>
        </p:nvSpPr>
        <p:spPr>
          <a:xfrm>
            <a:off x="2632918" y="8858250"/>
            <a:ext cx="955774" cy="304800"/>
          </a:xfrm>
          <a:prstGeom prst="rect">
            <a:avLst/>
          </a:prstGeom>
          <a:noFill/>
          <a:ln/>
        </p:spPr>
        <p:txBody>
          <a:bodyPr wrap="square" lIns="25400" tIns="25400" rIns="25400" bIns="25400" rtlCol="0" anchor="ctr">
            <a:normAutofit/>
          </a:bodyPr>
          <a:lstStyle/>
          <a:p>
            <a:pPr marL="0" indent="0" algn="l">
              <a:buNone/>
            </a:pPr>
            <a:r>
              <a:rPr lang="en-US" sz="1650" b="1" dirty="0">
                <a:solidFill>
                  <a:srgbClr val="D83A5E"/>
                </a:solidFill>
                <a:latin typeface="Arial" pitchFamily="34" charset="0"/>
                <a:ea typeface="Arial" pitchFamily="34" charset="-122"/>
                <a:cs typeface="Arial" pitchFamily="34" charset="-120"/>
              </a:rPr>
              <a:t>usability</a:t>
            </a:r>
            <a:endParaRPr lang="en-US" sz="1650" dirty="0"/>
          </a:p>
        </p:txBody>
      </p:sp>
      <p:sp>
        <p:nvSpPr>
          <p:cNvPr id="18" name="Shape 15"/>
          <p:cNvSpPr/>
          <p:nvPr/>
        </p:nvSpPr>
        <p:spPr>
          <a:xfrm>
            <a:off x="3855393" y="8743950"/>
            <a:ext cx="1885057" cy="495300"/>
          </a:xfrm>
          <a:prstGeom prst="roundRect">
            <a:avLst>
              <a:gd name="adj" fmla="val 50000"/>
            </a:avLst>
          </a:prstGeom>
          <a:ln w="9525">
            <a:solidFill>
              <a:srgbClr val="D9DDE2"/>
            </a:solidFill>
            <a:prstDash val="solid"/>
          </a:ln>
        </p:spPr>
        <p:txBody>
          <a:bodyPr/>
          <a:lstStyle/>
          <a:p>
            <a:endParaRPr lang="en-US"/>
          </a:p>
        </p:txBody>
      </p:sp>
      <p:sp>
        <p:nvSpPr>
          <p:cNvPr id="19" name="Text 16"/>
          <p:cNvSpPr/>
          <p:nvPr/>
        </p:nvSpPr>
        <p:spPr>
          <a:xfrm>
            <a:off x="4074468" y="8867775"/>
            <a:ext cx="1523107"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2B3139"/>
                </a:solidFill>
                <a:latin typeface="Arial" pitchFamily="34" charset="0"/>
                <a:ea typeface="Arial" pitchFamily="34" charset="-122"/>
                <a:cs typeface="Arial" pitchFamily="34" charset="-120"/>
              </a:rPr>
              <a:t>digital literacy</a:t>
            </a:r>
            <a:endParaRPr lang="en-US" sz="1650" dirty="0"/>
          </a:p>
        </p:txBody>
      </p:sp>
      <p:sp>
        <p:nvSpPr>
          <p:cNvPr id="20" name="Shape 17"/>
          <p:cNvSpPr/>
          <p:nvPr/>
        </p:nvSpPr>
        <p:spPr>
          <a:xfrm>
            <a:off x="5873800" y="8743950"/>
            <a:ext cx="905768" cy="495300"/>
          </a:xfrm>
          <a:prstGeom prst="roundRect">
            <a:avLst>
              <a:gd name="adj" fmla="val 50000"/>
            </a:avLst>
          </a:prstGeom>
          <a:solidFill>
            <a:srgbClr val="FEE8DE"/>
          </a:solidFill>
          <a:ln/>
        </p:spPr>
        <p:txBody>
          <a:bodyPr/>
          <a:lstStyle/>
          <a:p>
            <a:endParaRPr lang="en-US"/>
          </a:p>
        </p:txBody>
      </p:sp>
      <p:sp>
        <p:nvSpPr>
          <p:cNvPr id="21" name="Text 18"/>
          <p:cNvSpPr/>
          <p:nvPr/>
        </p:nvSpPr>
        <p:spPr>
          <a:xfrm>
            <a:off x="6083350" y="8858250"/>
            <a:ext cx="562868" cy="304800"/>
          </a:xfrm>
          <a:prstGeom prst="rect">
            <a:avLst/>
          </a:prstGeom>
          <a:noFill/>
          <a:ln/>
        </p:spPr>
        <p:txBody>
          <a:bodyPr wrap="square" lIns="25400" tIns="25400" rIns="25400" bIns="25400" rtlCol="0" anchor="ctr">
            <a:normAutofit/>
          </a:bodyPr>
          <a:lstStyle/>
          <a:p>
            <a:pPr marL="0" indent="0" algn="l">
              <a:buNone/>
            </a:pPr>
            <a:r>
              <a:rPr lang="en-US" sz="1650" b="1" dirty="0">
                <a:solidFill>
                  <a:srgbClr val="F06A3B"/>
                </a:solidFill>
                <a:latin typeface="Arial" pitchFamily="34" charset="0"/>
                <a:ea typeface="Arial" pitchFamily="34" charset="-122"/>
                <a:cs typeface="Arial" pitchFamily="34" charset="-120"/>
              </a:rPr>
              <a:t>trust</a:t>
            </a:r>
            <a:endParaRPr lang="en-US" sz="1650" dirty="0"/>
          </a:p>
        </p:txBody>
      </p:sp>
      <p:sp>
        <p:nvSpPr>
          <p:cNvPr id="22" name="Shape 19"/>
          <p:cNvSpPr/>
          <p:nvPr/>
        </p:nvSpPr>
        <p:spPr>
          <a:xfrm>
            <a:off x="6912918" y="8743950"/>
            <a:ext cx="1284833" cy="495300"/>
          </a:xfrm>
          <a:prstGeom prst="roundRect">
            <a:avLst>
              <a:gd name="adj" fmla="val 50000"/>
            </a:avLst>
          </a:prstGeom>
          <a:ln w="9525">
            <a:solidFill>
              <a:srgbClr val="D9DDE2"/>
            </a:solidFill>
            <a:prstDash val="solid"/>
          </a:ln>
        </p:spPr>
        <p:txBody>
          <a:bodyPr/>
          <a:lstStyle/>
          <a:p>
            <a:endParaRPr lang="en-US"/>
          </a:p>
        </p:txBody>
      </p:sp>
      <p:sp>
        <p:nvSpPr>
          <p:cNvPr id="23" name="Text 20"/>
          <p:cNvSpPr/>
          <p:nvPr/>
        </p:nvSpPr>
        <p:spPr>
          <a:xfrm>
            <a:off x="7131993" y="8867775"/>
            <a:ext cx="922883"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2B3139"/>
                </a:solidFill>
                <a:latin typeface="Arial" pitchFamily="34" charset="0"/>
                <a:ea typeface="Arial" pitchFamily="34" charset="-122"/>
                <a:cs typeface="Arial" pitchFamily="34" charset="-120"/>
              </a:rPr>
              <a:t>security</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04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METHODOLOGY ROADMAP</a:t>
            </a:r>
            <a:endParaRPr lang="en-US" sz="1800" dirty="0"/>
          </a:p>
        </p:txBody>
      </p:sp>
      <p:sp>
        <p:nvSpPr>
          <p:cNvPr id="7" name="Text 4"/>
          <p:cNvSpPr/>
          <p:nvPr/>
        </p:nvSpPr>
        <p:spPr>
          <a:xfrm>
            <a:off x="1143000" y="1533525"/>
            <a:ext cx="15206662" cy="89817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450" b="1" kern="0" spc="-97" dirty="0">
                <a:solidFill>
                  <a:srgbClr val="111418"/>
                </a:solidFill>
                <a:latin typeface="Arial" pitchFamily="34" charset="0"/>
                <a:cs typeface="Arial" pitchFamily="34" charset="-120"/>
              </a:rPr>
              <a:t>Methodology Roadmap</a:t>
            </a:r>
            <a:endParaRPr lang="en-US" sz="6450" dirty="0"/>
          </a:p>
        </p:txBody>
      </p:sp>
      <p:sp>
        <p:nvSpPr>
          <p:cNvPr id="8" name="Shape 5"/>
          <p:cNvSpPr/>
          <p:nvPr/>
        </p:nvSpPr>
        <p:spPr>
          <a:xfrm>
            <a:off x="1143000" y="3060353"/>
            <a:ext cx="7772400" cy="5988844"/>
          </a:xfrm>
          <a:prstGeom prst="roundRect">
            <a:avLst>
              <a:gd name="adj" fmla="val 3499"/>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9" name="Shape 6"/>
          <p:cNvSpPr/>
          <p:nvPr/>
        </p:nvSpPr>
        <p:spPr>
          <a:xfrm>
            <a:off x="1562100" y="3441353"/>
            <a:ext cx="2021384" cy="476250"/>
          </a:xfrm>
          <a:prstGeom prst="roundRect">
            <a:avLst>
              <a:gd name="adj" fmla="val 50000"/>
            </a:avLst>
          </a:prstGeom>
          <a:solidFill>
            <a:srgbClr val="14B24B"/>
          </a:solidFill>
          <a:ln/>
        </p:spPr>
        <p:txBody>
          <a:bodyPr/>
          <a:lstStyle/>
          <a:p>
            <a:endParaRPr lang="en-US"/>
          </a:p>
        </p:txBody>
      </p:sp>
      <p:sp>
        <p:nvSpPr>
          <p:cNvPr id="10" name="Text 7"/>
          <p:cNvSpPr/>
          <p:nvPr/>
        </p:nvSpPr>
        <p:spPr>
          <a:xfrm>
            <a:off x="1771650" y="3555653"/>
            <a:ext cx="1678484"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FFFFFF"/>
                </a:solidFill>
                <a:latin typeface="Arial" pitchFamily="34" charset="0"/>
                <a:ea typeface="Arial" pitchFamily="34" charset="-122"/>
                <a:cs typeface="Arial" pitchFamily="34" charset="-120"/>
              </a:rPr>
              <a:t>Implementation</a:t>
            </a:r>
            <a:endParaRPr lang="en-US" sz="1650" dirty="0"/>
          </a:p>
        </p:txBody>
      </p:sp>
      <p:sp>
        <p:nvSpPr>
          <p:cNvPr id="11" name="Text 8"/>
          <p:cNvSpPr/>
          <p:nvPr/>
        </p:nvSpPr>
        <p:spPr>
          <a:xfrm>
            <a:off x="1562100" y="4108103"/>
            <a:ext cx="7142226" cy="46672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700" b="1" kern="0" spc="-13" dirty="0">
                <a:solidFill>
                  <a:srgbClr val="111418"/>
                </a:solidFill>
                <a:latin typeface="Arial" pitchFamily="34" charset="0"/>
                <a:ea typeface="Arial" pitchFamily="34" charset="-122"/>
                <a:cs typeface="Arial" pitchFamily="34" charset="-120"/>
              </a:rPr>
              <a:t>Building the conceptual model</a:t>
            </a:r>
            <a:endParaRPr lang="en-US" sz="2700" dirty="0"/>
          </a:p>
        </p:txBody>
      </p:sp>
      <p:sp>
        <p:nvSpPr>
          <p:cNvPr id="12" name="Shape 9"/>
          <p:cNvSpPr/>
          <p:nvPr/>
        </p:nvSpPr>
        <p:spPr>
          <a:xfrm>
            <a:off x="1562100" y="5950000"/>
            <a:ext cx="6934200" cy="9525"/>
          </a:xfrm>
          <a:prstGeom prst="rect">
            <a:avLst/>
          </a:prstGeom>
          <a:solidFill>
            <a:srgbClr val="000000">
              <a:alpha val="5000"/>
            </a:srgbClr>
          </a:solidFill>
          <a:ln/>
        </p:spPr>
        <p:txBody>
          <a:bodyPr/>
          <a:lstStyle/>
          <a:p>
            <a:endParaRPr lang="en-US"/>
          </a:p>
        </p:txBody>
      </p:sp>
      <p:sp>
        <p:nvSpPr>
          <p:cNvPr id="13" name="Shape 10"/>
          <p:cNvSpPr/>
          <p:nvPr/>
        </p:nvSpPr>
        <p:spPr>
          <a:xfrm>
            <a:off x="1562100" y="4955828"/>
            <a:ext cx="419100" cy="419100"/>
          </a:xfrm>
          <a:prstGeom prst="ellipse">
            <a:avLst/>
          </a:prstGeom>
          <a:solidFill>
            <a:srgbClr val="E3F6E9"/>
          </a:solidFill>
          <a:ln/>
        </p:spPr>
        <p:txBody>
          <a:bodyPr/>
          <a:lstStyle/>
          <a:p>
            <a:endParaRPr lang="en-US"/>
          </a:p>
        </p:txBody>
      </p:sp>
      <p:sp>
        <p:nvSpPr>
          <p:cNvPr id="14" name="Text 11"/>
          <p:cNvSpPr/>
          <p:nvPr/>
        </p:nvSpPr>
        <p:spPr>
          <a:xfrm>
            <a:off x="1562100" y="4955828"/>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1</a:t>
            </a:r>
            <a:endParaRPr lang="en-US" sz="1500" dirty="0"/>
          </a:p>
        </p:txBody>
      </p:sp>
      <p:sp>
        <p:nvSpPr>
          <p:cNvPr id="15" name="Text 12"/>
          <p:cNvSpPr/>
          <p:nvPr/>
        </p:nvSpPr>
        <p:spPr>
          <a:xfrm>
            <a:off x="2190750" y="4955828"/>
            <a:ext cx="6494717" cy="860822"/>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Review </a:t>
            </a:r>
            <a:r>
              <a:rPr lang="en-US" sz="2400" dirty="0">
                <a:solidFill>
                  <a:srgbClr val="2B3139"/>
                </a:solidFill>
                <a:latin typeface="Arial" pitchFamily="34" charset="0"/>
                <a:ea typeface="Arial" pitchFamily="34" charset="-122"/>
                <a:cs typeface="Arial" pitchFamily="34" charset="-120"/>
              </a:rPr>
              <a:t>continuance literature (ECM, UTAUT2, Trust)</a:t>
            </a:r>
            <a:endParaRPr lang="en-US" sz="2400" dirty="0"/>
          </a:p>
        </p:txBody>
      </p:sp>
      <p:sp>
        <p:nvSpPr>
          <p:cNvPr id="16" name="Shape 13"/>
          <p:cNvSpPr/>
          <p:nvPr/>
        </p:nvSpPr>
        <p:spPr>
          <a:xfrm>
            <a:off x="1562100" y="6721525"/>
            <a:ext cx="6934200" cy="9525"/>
          </a:xfrm>
          <a:prstGeom prst="rect">
            <a:avLst/>
          </a:prstGeom>
          <a:solidFill>
            <a:srgbClr val="000000">
              <a:alpha val="5000"/>
            </a:srgbClr>
          </a:solidFill>
          <a:ln/>
        </p:spPr>
        <p:txBody>
          <a:bodyPr/>
          <a:lstStyle/>
          <a:p>
            <a:endParaRPr lang="en-US"/>
          </a:p>
        </p:txBody>
      </p:sp>
      <p:sp>
        <p:nvSpPr>
          <p:cNvPr id="17" name="Shape 14"/>
          <p:cNvSpPr/>
          <p:nvPr/>
        </p:nvSpPr>
        <p:spPr>
          <a:xfrm>
            <a:off x="1562100" y="6130975"/>
            <a:ext cx="419100" cy="419100"/>
          </a:xfrm>
          <a:prstGeom prst="ellipse">
            <a:avLst/>
          </a:prstGeom>
          <a:solidFill>
            <a:srgbClr val="E3F6E9"/>
          </a:solidFill>
          <a:ln/>
        </p:spPr>
        <p:txBody>
          <a:bodyPr/>
          <a:lstStyle/>
          <a:p>
            <a:endParaRPr lang="en-US"/>
          </a:p>
        </p:txBody>
      </p:sp>
      <p:sp>
        <p:nvSpPr>
          <p:cNvPr id="18" name="Text 15"/>
          <p:cNvSpPr/>
          <p:nvPr/>
        </p:nvSpPr>
        <p:spPr>
          <a:xfrm>
            <a:off x="1562100" y="6130975"/>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2</a:t>
            </a:r>
            <a:endParaRPr lang="en-US" sz="1500" dirty="0"/>
          </a:p>
        </p:txBody>
      </p:sp>
      <p:sp>
        <p:nvSpPr>
          <p:cNvPr id="19" name="Text 16"/>
          <p:cNvSpPr/>
          <p:nvPr/>
        </p:nvSpPr>
        <p:spPr>
          <a:xfrm>
            <a:off x="2190750" y="6130975"/>
            <a:ext cx="6494717" cy="44946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Compare </a:t>
            </a:r>
            <a:r>
              <a:rPr lang="en-US" sz="2400" dirty="0">
                <a:solidFill>
                  <a:srgbClr val="2B3139"/>
                </a:solidFill>
                <a:latin typeface="Arial" pitchFamily="34" charset="0"/>
                <a:ea typeface="Arial" pitchFamily="34" charset="-122"/>
                <a:cs typeface="Arial" pitchFamily="34" charset="-120"/>
              </a:rPr>
              <a:t>candidate theories &amp; their fit</a:t>
            </a:r>
            <a:endParaRPr lang="en-US" sz="2400" dirty="0"/>
          </a:p>
        </p:txBody>
      </p:sp>
      <p:sp>
        <p:nvSpPr>
          <p:cNvPr id="20" name="Shape 17"/>
          <p:cNvSpPr/>
          <p:nvPr/>
        </p:nvSpPr>
        <p:spPr>
          <a:xfrm>
            <a:off x="1562100" y="7896671"/>
            <a:ext cx="6934200" cy="9525"/>
          </a:xfrm>
          <a:prstGeom prst="rect">
            <a:avLst/>
          </a:prstGeom>
          <a:solidFill>
            <a:srgbClr val="000000">
              <a:alpha val="5000"/>
            </a:srgbClr>
          </a:solidFill>
          <a:ln/>
        </p:spPr>
        <p:txBody>
          <a:bodyPr/>
          <a:lstStyle/>
          <a:p>
            <a:endParaRPr lang="en-US"/>
          </a:p>
        </p:txBody>
      </p:sp>
      <p:sp>
        <p:nvSpPr>
          <p:cNvPr id="21" name="Shape 18"/>
          <p:cNvSpPr/>
          <p:nvPr/>
        </p:nvSpPr>
        <p:spPr>
          <a:xfrm>
            <a:off x="1562100" y="6902500"/>
            <a:ext cx="419100" cy="419100"/>
          </a:xfrm>
          <a:prstGeom prst="ellipse">
            <a:avLst/>
          </a:prstGeom>
          <a:solidFill>
            <a:srgbClr val="E3F6E9"/>
          </a:solidFill>
          <a:ln/>
        </p:spPr>
        <p:txBody>
          <a:bodyPr/>
          <a:lstStyle/>
          <a:p>
            <a:endParaRPr lang="en-US"/>
          </a:p>
        </p:txBody>
      </p:sp>
      <p:sp>
        <p:nvSpPr>
          <p:cNvPr id="22" name="Text 19"/>
          <p:cNvSpPr/>
          <p:nvPr/>
        </p:nvSpPr>
        <p:spPr>
          <a:xfrm>
            <a:off x="1562100" y="6902500"/>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3</a:t>
            </a:r>
            <a:endParaRPr lang="en-US" sz="1500" dirty="0"/>
          </a:p>
        </p:txBody>
      </p:sp>
      <p:sp>
        <p:nvSpPr>
          <p:cNvPr id="23" name="Text 20"/>
          <p:cNvSpPr/>
          <p:nvPr/>
        </p:nvSpPr>
        <p:spPr>
          <a:xfrm>
            <a:off x="2190750" y="6902500"/>
            <a:ext cx="6494717" cy="860822"/>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Select </a:t>
            </a:r>
            <a:r>
              <a:rPr lang="en-US" sz="2400" dirty="0">
                <a:solidFill>
                  <a:srgbClr val="2B3139"/>
                </a:solidFill>
                <a:latin typeface="Arial" pitchFamily="34" charset="0"/>
                <a:ea typeface="Arial" pitchFamily="34" charset="-122"/>
                <a:cs typeface="Arial" pitchFamily="34" charset="-120"/>
              </a:rPr>
              <a:t>base model + extend for Guyanese context</a:t>
            </a:r>
            <a:endParaRPr lang="en-US" sz="2400" dirty="0"/>
          </a:p>
        </p:txBody>
      </p:sp>
      <p:sp>
        <p:nvSpPr>
          <p:cNvPr id="24" name="Shape 21"/>
          <p:cNvSpPr/>
          <p:nvPr/>
        </p:nvSpPr>
        <p:spPr>
          <a:xfrm>
            <a:off x="1562100" y="8077646"/>
            <a:ext cx="419100" cy="419100"/>
          </a:xfrm>
          <a:prstGeom prst="ellipse">
            <a:avLst/>
          </a:prstGeom>
          <a:solidFill>
            <a:srgbClr val="E3F6E9"/>
          </a:solidFill>
          <a:ln/>
        </p:spPr>
        <p:txBody>
          <a:bodyPr/>
          <a:lstStyle/>
          <a:p>
            <a:endParaRPr lang="en-US"/>
          </a:p>
        </p:txBody>
      </p:sp>
      <p:sp>
        <p:nvSpPr>
          <p:cNvPr id="25" name="Text 22"/>
          <p:cNvSpPr/>
          <p:nvPr/>
        </p:nvSpPr>
        <p:spPr>
          <a:xfrm>
            <a:off x="1562100" y="8077646"/>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4</a:t>
            </a:r>
            <a:endParaRPr lang="en-US" sz="1500" dirty="0"/>
          </a:p>
        </p:txBody>
      </p:sp>
      <p:sp>
        <p:nvSpPr>
          <p:cNvPr id="26" name="Text 23"/>
          <p:cNvSpPr/>
          <p:nvPr/>
        </p:nvSpPr>
        <p:spPr>
          <a:xfrm>
            <a:off x="2190750" y="8077646"/>
            <a:ext cx="6494717" cy="44946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Map </a:t>
            </a:r>
            <a:r>
              <a:rPr lang="en-US" sz="2400" dirty="0">
                <a:solidFill>
                  <a:srgbClr val="2B3139"/>
                </a:solidFill>
                <a:latin typeface="Arial" pitchFamily="34" charset="0"/>
                <a:ea typeface="Arial" pitchFamily="34" charset="-122"/>
                <a:cs typeface="Arial" pitchFamily="34" charset="-120"/>
              </a:rPr>
              <a:t>constructs to testable hypotheses</a:t>
            </a:r>
            <a:endParaRPr lang="en-US" sz="2400" dirty="0"/>
          </a:p>
        </p:txBody>
      </p:sp>
      <p:sp>
        <p:nvSpPr>
          <p:cNvPr id="27" name="Shape 24"/>
          <p:cNvSpPr/>
          <p:nvPr/>
        </p:nvSpPr>
        <p:spPr>
          <a:xfrm>
            <a:off x="9372600" y="3060353"/>
            <a:ext cx="7772400" cy="5988844"/>
          </a:xfrm>
          <a:prstGeom prst="roundRect">
            <a:avLst>
              <a:gd name="adj" fmla="val 3499"/>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28" name="Shape 25"/>
          <p:cNvSpPr/>
          <p:nvPr/>
        </p:nvSpPr>
        <p:spPr>
          <a:xfrm>
            <a:off x="9791700" y="3441353"/>
            <a:ext cx="1493044" cy="476250"/>
          </a:xfrm>
          <a:prstGeom prst="roundRect">
            <a:avLst>
              <a:gd name="adj" fmla="val 50000"/>
            </a:avLst>
          </a:prstGeom>
          <a:solidFill>
            <a:srgbClr val="0A0E12"/>
          </a:solidFill>
          <a:ln/>
        </p:spPr>
        <p:txBody>
          <a:bodyPr/>
          <a:lstStyle/>
          <a:p>
            <a:endParaRPr lang="en-US"/>
          </a:p>
        </p:txBody>
      </p:sp>
      <p:sp>
        <p:nvSpPr>
          <p:cNvPr id="29" name="Text 26"/>
          <p:cNvSpPr/>
          <p:nvPr/>
        </p:nvSpPr>
        <p:spPr>
          <a:xfrm>
            <a:off x="10001250" y="3555653"/>
            <a:ext cx="1150144"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FFFFFF"/>
                </a:solidFill>
                <a:latin typeface="Arial" pitchFamily="34" charset="0"/>
                <a:ea typeface="Arial" pitchFamily="34" charset="-122"/>
                <a:cs typeface="Arial" pitchFamily="34" charset="-120"/>
              </a:rPr>
              <a:t>Evaluation</a:t>
            </a:r>
            <a:endParaRPr lang="en-US" sz="1650" dirty="0"/>
          </a:p>
        </p:txBody>
      </p:sp>
      <p:sp>
        <p:nvSpPr>
          <p:cNvPr id="30" name="Text 27"/>
          <p:cNvSpPr/>
          <p:nvPr/>
        </p:nvSpPr>
        <p:spPr>
          <a:xfrm>
            <a:off x="9791700" y="4108103"/>
            <a:ext cx="7142226" cy="46672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700" b="1" kern="0" spc="-13" dirty="0">
                <a:solidFill>
                  <a:srgbClr val="111418"/>
                </a:solidFill>
                <a:latin typeface="Arial" pitchFamily="34" charset="0"/>
                <a:ea typeface="Arial" pitchFamily="34" charset="-122"/>
                <a:cs typeface="Arial" pitchFamily="34" charset="-120"/>
              </a:rPr>
              <a:t>Empirically testing the model</a:t>
            </a:r>
            <a:endParaRPr lang="en-US" sz="2700" dirty="0"/>
          </a:p>
        </p:txBody>
      </p:sp>
      <p:sp>
        <p:nvSpPr>
          <p:cNvPr id="31" name="Shape 28"/>
          <p:cNvSpPr/>
          <p:nvPr/>
        </p:nvSpPr>
        <p:spPr>
          <a:xfrm>
            <a:off x="9791700" y="5950000"/>
            <a:ext cx="6934200" cy="9525"/>
          </a:xfrm>
          <a:prstGeom prst="rect">
            <a:avLst/>
          </a:prstGeom>
          <a:solidFill>
            <a:srgbClr val="000000">
              <a:alpha val="5000"/>
            </a:srgbClr>
          </a:solidFill>
          <a:ln/>
        </p:spPr>
        <p:txBody>
          <a:bodyPr/>
          <a:lstStyle/>
          <a:p>
            <a:endParaRPr lang="en-US"/>
          </a:p>
        </p:txBody>
      </p:sp>
      <p:sp>
        <p:nvSpPr>
          <p:cNvPr id="32" name="Shape 29"/>
          <p:cNvSpPr/>
          <p:nvPr/>
        </p:nvSpPr>
        <p:spPr>
          <a:xfrm>
            <a:off x="9791700" y="4955828"/>
            <a:ext cx="419100" cy="419100"/>
          </a:xfrm>
          <a:prstGeom prst="ellipse">
            <a:avLst/>
          </a:prstGeom>
          <a:solidFill>
            <a:srgbClr val="E3F6E9"/>
          </a:solidFill>
          <a:ln/>
        </p:spPr>
        <p:txBody>
          <a:bodyPr/>
          <a:lstStyle/>
          <a:p>
            <a:endParaRPr lang="en-US"/>
          </a:p>
        </p:txBody>
      </p:sp>
      <p:sp>
        <p:nvSpPr>
          <p:cNvPr id="33" name="Text 30"/>
          <p:cNvSpPr/>
          <p:nvPr/>
        </p:nvSpPr>
        <p:spPr>
          <a:xfrm>
            <a:off x="9791700" y="4955828"/>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5</a:t>
            </a:r>
            <a:endParaRPr lang="en-US" sz="1500" dirty="0"/>
          </a:p>
        </p:txBody>
      </p:sp>
      <p:sp>
        <p:nvSpPr>
          <p:cNvPr id="34" name="Text 31"/>
          <p:cNvSpPr/>
          <p:nvPr/>
        </p:nvSpPr>
        <p:spPr>
          <a:xfrm>
            <a:off x="10420350" y="4955828"/>
            <a:ext cx="6494717" cy="860822"/>
          </a:xfrm>
          <a:prstGeom prst="rect">
            <a:avLst/>
          </a:prstGeom>
          <a:noFill/>
          <a:ln/>
        </p:spPr>
        <p:txBody>
          <a:bodyPr wrap="square" lIns="25400" tIns="25400" rIns="25400" bIns="25400" rtlCol="0" anchor="t">
            <a:normAutofit/>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Define </a:t>
            </a:r>
            <a:r>
              <a:rPr lang="en-US" sz="2400" dirty="0">
                <a:solidFill>
                  <a:srgbClr val="2B3139"/>
                </a:solidFill>
                <a:latin typeface="Arial" pitchFamily="34" charset="0"/>
                <a:ea typeface="Arial" pitchFamily="34" charset="-122"/>
                <a:cs typeface="Arial" pitchFamily="34" charset="-120"/>
              </a:rPr>
              <a:t>sample &amp; target size (G*Power) </a:t>
            </a:r>
            <a:r>
              <a:rPr lang="en-US" sz="1680" b="1" dirty="0">
                <a:solidFill>
                  <a:srgbClr val="8A929C"/>
                </a:solidFill>
                <a:latin typeface="Arial" pitchFamily="34" charset="0"/>
                <a:ea typeface="Arial" pitchFamily="34" charset="-122"/>
                <a:cs typeface="Arial" pitchFamily="34" charset="-120"/>
              </a:rPr>
              <a:t>(Faul et al., 2009)</a:t>
            </a:r>
            <a:endParaRPr lang="en-US" sz="2400" dirty="0"/>
          </a:p>
        </p:txBody>
      </p:sp>
      <p:sp>
        <p:nvSpPr>
          <p:cNvPr id="35" name="Shape 32"/>
          <p:cNvSpPr/>
          <p:nvPr/>
        </p:nvSpPr>
        <p:spPr>
          <a:xfrm>
            <a:off x="9791700" y="6721525"/>
            <a:ext cx="6934200" cy="9525"/>
          </a:xfrm>
          <a:prstGeom prst="rect">
            <a:avLst/>
          </a:prstGeom>
          <a:solidFill>
            <a:srgbClr val="000000">
              <a:alpha val="5000"/>
            </a:srgbClr>
          </a:solidFill>
          <a:ln/>
        </p:spPr>
        <p:txBody>
          <a:bodyPr/>
          <a:lstStyle/>
          <a:p>
            <a:endParaRPr lang="en-US"/>
          </a:p>
        </p:txBody>
      </p:sp>
      <p:sp>
        <p:nvSpPr>
          <p:cNvPr id="36" name="Shape 33"/>
          <p:cNvSpPr/>
          <p:nvPr/>
        </p:nvSpPr>
        <p:spPr>
          <a:xfrm>
            <a:off x="9791700" y="6130975"/>
            <a:ext cx="419100" cy="419100"/>
          </a:xfrm>
          <a:prstGeom prst="ellipse">
            <a:avLst/>
          </a:prstGeom>
          <a:solidFill>
            <a:srgbClr val="E3F6E9"/>
          </a:solidFill>
          <a:ln/>
        </p:spPr>
        <p:txBody>
          <a:bodyPr/>
          <a:lstStyle/>
          <a:p>
            <a:endParaRPr lang="en-US"/>
          </a:p>
        </p:txBody>
      </p:sp>
      <p:sp>
        <p:nvSpPr>
          <p:cNvPr id="37" name="Text 34"/>
          <p:cNvSpPr/>
          <p:nvPr/>
        </p:nvSpPr>
        <p:spPr>
          <a:xfrm>
            <a:off x="9791700" y="6130975"/>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6</a:t>
            </a:r>
            <a:endParaRPr lang="en-US" sz="1500" dirty="0"/>
          </a:p>
        </p:txBody>
      </p:sp>
      <p:sp>
        <p:nvSpPr>
          <p:cNvPr id="38" name="Text 35"/>
          <p:cNvSpPr/>
          <p:nvPr/>
        </p:nvSpPr>
        <p:spPr>
          <a:xfrm>
            <a:off x="10420350" y="6130975"/>
            <a:ext cx="6494717" cy="44946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Design </a:t>
            </a:r>
            <a:r>
              <a:rPr lang="en-US" sz="2400" dirty="0">
                <a:solidFill>
                  <a:srgbClr val="2B3139"/>
                </a:solidFill>
                <a:latin typeface="Arial" pitchFamily="34" charset="0"/>
                <a:ea typeface="Arial" pitchFamily="34" charset="-122"/>
                <a:cs typeface="Arial" pitchFamily="34" charset="-120"/>
              </a:rPr>
              <a:t>research instrument (survey)</a:t>
            </a:r>
            <a:endParaRPr lang="en-US" sz="2400" dirty="0"/>
          </a:p>
        </p:txBody>
      </p:sp>
      <p:sp>
        <p:nvSpPr>
          <p:cNvPr id="39" name="Shape 36"/>
          <p:cNvSpPr/>
          <p:nvPr/>
        </p:nvSpPr>
        <p:spPr>
          <a:xfrm>
            <a:off x="9791700" y="7493050"/>
            <a:ext cx="6934200" cy="9525"/>
          </a:xfrm>
          <a:prstGeom prst="rect">
            <a:avLst/>
          </a:prstGeom>
          <a:solidFill>
            <a:srgbClr val="000000">
              <a:alpha val="5000"/>
            </a:srgbClr>
          </a:solidFill>
          <a:ln/>
        </p:spPr>
        <p:txBody>
          <a:bodyPr/>
          <a:lstStyle/>
          <a:p>
            <a:endParaRPr lang="en-US"/>
          </a:p>
        </p:txBody>
      </p:sp>
      <p:sp>
        <p:nvSpPr>
          <p:cNvPr id="40" name="Shape 37"/>
          <p:cNvSpPr/>
          <p:nvPr/>
        </p:nvSpPr>
        <p:spPr>
          <a:xfrm>
            <a:off x="9791700" y="6902500"/>
            <a:ext cx="419100" cy="419100"/>
          </a:xfrm>
          <a:prstGeom prst="ellipse">
            <a:avLst/>
          </a:prstGeom>
          <a:solidFill>
            <a:srgbClr val="E3F6E9"/>
          </a:solidFill>
          <a:ln/>
        </p:spPr>
        <p:txBody>
          <a:bodyPr/>
          <a:lstStyle/>
          <a:p>
            <a:endParaRPr lang="en-US"/>
          </a:p>
        </p:txBody>
      </p:sp>
      <p:sp>
        <p:nvSpPr>
          <p:cNvPr id="41" name="Text 38"/>
          <p:cNvSpPr/>
          <p:nvPr/>
        </p:nvSpPr>
        <p:spPr>
          <a:xfrm>
            <a:off x="9791700" y="6902500"/>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7</a:t>
            </a:r>
            <a:endParaRPr lang="en-US" sz="1500" dirty="0"/>
          </a:p>
        </p:txBody>
      </p:sp>
      <p:sp>
        <p:nvSpPr>
          <p:cNvPr id="42" name="Text 39"/>
          <p:cNvSpPr/>
          <p:nvPr/>
        </p:nvSpPr>
        <p:spPr>
          <a:xfrm>
            <a:off x="10420350" y="6902500"/>
            <a:ext cx="6494717" cy="44946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Collect </a:t>
            </a:r>
            <a:r>
              <a:rPr lang="en-US" sz="2400" dirty="0">
                <a:solidFill>
                  <a:srgbClr val="2B3139"/>
                </a:solidFill>
                <a:latin typeface="Arial" pitchFamily="34" charset="0"/>
                <a:ea typeface="Arial" pitchFamily="34" charset="-122"/>
                <a:cs typeface="Arial" pitchFamily="34" charset="-120"/>
              </a:rPr>
              <a:t>data ethically &amp; anonymously</a:t>
            </a:r>
            <a:endParaRPr lang="en-US" sz="2400" dirty="0"/>
          </a:p>
        </p:txBody>
      </p:sp>
      <p:sp>
        <p:nvSpPr>
          <p:cNvPr id="43" name="Shape 40"/>
          <p:cNvSpPr/>
          <p:nvPr/>
        </p:nvSpPr>
        <p:spPr>
          <a:xfrm>
            <a:off x="9791700" y="7674025"/>
            <a:ext cx="419100" cy="419100"/>
          </a:xfrm>
          <a:prstGeom prst="ellipse">
            <a:avLst/>
          </a:prstGeom>
          <a:solidFill>
            <a:srgbClr val="E3F6E9"/>
          </a:solidFill>
          <a:ln/>
        </p:spPr>
        <p:txBody>
          <a:bodyPr/>
          <a:lstStyle/>
          <a:p>
            <a:endParaRPr lang="en-US"/>
          </a:p>
        </p:txBody>
      </p:sp>
      <p:sp>
        <p:nvSpPr>
          <p:cNvPr id="44" name="Text 41"/>
          <p:cNvSpPr/>
          <p:nvPr/>
        </p:nvSpPr>
        <p:spPr>
          <a:xfrm>
            <a:off x="9791700" y="7674025"/>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8</a:t>
            </a:r>
            <a:endParaRPr lang="en-US" sz="1500" dirty="0"/>
          </a:p>
        </p:txBody>
      </p:sp>
      <p:sp>
        <p:nvSpPr>
          <p:cNvPr id="45" name="Text 42"/>
          <p:cNvSpPr/>
          <p:nvPr/>
        </p:nvSpPr>
        <p:spPr>
          <a:xfrm>
            <a:off x="10420350" y="7674025"/>
            <a:ext cx="6494717" cy="860822"/>
          </a:xfrm>
          <a:prstGeom prst="rect">
            <a:avLst/>
          </a:prstGeom>
          <a:noFill/>
          <a:ln/>
        </p:spPr>
        <p:txBody>
          <a:bodyPr wrap="square" lIns="25400" tIns="25400" rIns="25400" bIns="25400" rtlCol="0" anchor="t">
            <a:normAutofit/>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Analyse </a:t>
            </a:r>
            <a:r>
              <a:rPr lang="en-US" sz="2400" dirty="0">
                <a:solidFill>
                  <a:srgbClr val="2B3139"/>
                </a:solidFill>
                <a:latin typeface="Arial" pitchFamily="34" charset="0"/>
                <a:ea typeface="Arial" pitchFamily="34" charset="-122"/>
                <a:cs typeface="Arial" pitchFamily="34" charset="-120"/>
              </a:rPr>
              <a:t>with PLS-SEM in SmartPLS 4 </a:t>
            </a:r>
            <a:r>
              <a:rPr lang="en-US" sz="1680" b="1" dirty="0">
                <a:solidFill>
                  <a:srgbClr val="8A929C"/>
                </a:solidFill>
                <a:latin typeface="Arial" pitchFamily="34" charset="0"/>
                <a:ea typeface="Arial" pitchFamily="34" charset="-122"/>
                <a:cs typeface="Arial" pitchFamily="34" charset="-120"/>
              </a:rPr>
              <a:t>(Hair et al., 2019)</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05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PART I · IMPLEMENTATION </a:t>
            </a:r>
            <a:r>
              <a:rPr lang="en-US" sz="1800" kern="0" spc="324" dirty="0">
                <a:solidFill>
                  <a:srgbClr val="D9DDE2"/>
                </a:solidFill>
                <a:latin typeface="Arial" pitchFamily="34" charset="0"/>
                <a:ea typeface="Arial" pitchFamily="34" charset="-122"/>
                <a:cs typeface="Arial" pitchFamily="34" charset="-120"/>
              </a:rPr>
              <a:t>/ </a:t>
            </a:r>
            <a:r>
              <a:rPr lang="en-US" sz="1800" b="1" kern="0" spc="324" dirty="0">
                <a:solidFill>
                  <a:srgbClr val="8A929C"/>
                </a:solidFill>
                <a:latin typeface="Arial" pitchFamily="34" charset="0"/>
                <a:ea typeface="Arial" pitchFamily="34" charset="-122"/>
                <a:cs typeface="Arial" pitchFamily="34" charset="-120"/>
              </a:rPr>
              <a:t>BUILDING THE CONCEPTUAL MODEL</a:t>
            </a:r>
            <a:endParaRPr lang="en-US" sz="1800" dirty="0"/>
          </a:p>
        </p:txBody>
      </p:sp>
      <p:sp>
        <p:nvSpPr>
          <p:cNvPr id="7" name="Text 4"/>
          <p:cNvSpPr/>
          <p:nvPr/>
        </p:nvSpPr>
        <p:spPr>
          <a:xfrm>
            <a:off x="1143000" y="1533525"/>
            <a:ext cx="15206662" cy="89817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450" b="1" kern="0" spc="-97" dirty="0">
                <a:solidFill>
                  <a:srgbClr val="111418"/>
                </a:solidFill>
                <a:latin typeface="Arial" pitchFamily="34" charset="0"/>
                <a:ea typeface="Arial" pitchFamily="34" charset="-122"/>
                <a:cs typeface="Arial" pitchFamily="34" charset="-120"/>
              </a:rPr>
              <a:t>From literature to model</a:t>
            </a:r>
            <a:endParaRPr lang="en-US" sz="6450" dirty="0"/>
          </a:p>
        </p:txBody>
      </p:sp>
      <p:sp>
        <p:nvSpPr>
          <p:cNvPr id="8" name="Shape 5"/>
          <p:cNvSpPr/>
          <p:nvPr/>
        </p:nvSpPr>
        <p:spPr>
          <a:xfrm>
            <a:off x="1143000" y="3060353"/>
            <a:ext cx="3017490" cy="2857500"/>
          </a:xfrm>
          <a:prstGeom prst="roundRect">
            <a:avLst>
              <a:gd name="adj" fmla="val 7333"/>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9" name="Text 6"/>
          <p:cNvSpPr/>
          <p:nvPr/>
        </p:nvSpPr>
        <p:spPr>
          <a:xfrm>
            <a:off x="1409700" y="3365153"/>
            <a:ext cx="256029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b="1" kern="0" spc="-162" dirty="0">
                <a:solidFill>
                  <a:srgbClr val="14B24B"/>
                </a:solidFill>
                <a:latin typeface="Arial" pitchFamily="34" charset="0"/>
                <a:ea typeface="Arial" pitchFamily="34" charset="-122"/>
                <a:cs typeface="Arial" pitchFamily="34" charset="-120"/>
              </a:rPr>
              <a:t>01</a:t>
            </a:r>
            <a:endParaRPr lang="en-US" sz="5400" dirty="0"/>
          </a:p>
        </p:txBody>
      </p:sp>
      <p:sp>
        <p:nvSpPr>
          <p:cNvPr id="10" name="Text 7"/>
          <p:cNvSpPr/>
          <p:nvPr/>
        </p:nvSpPr>
        <p:spPr>
          <a:xfrm>
            <a:off x="1409700" y="4203353"/>
            <a:ext cx="2560290" cy="6096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800" b="1" dirty="0">
                <a:solidFill>
                  <a:srgbClr val="111418"/>
                </a:solidFill>
                <a:latin typeface="Arial" pitchFamily="34" charset="0"/>
                <a:ea typeface="Arial" pitchFamily="34" charset="-122"/>
                <a:cs typeface="Arial" pitchFamily="34" charset="-120"/>
              </a:rPr>
              <a:t>Review continuance literature</a:t>
            </a:r>
            <a:endParaRPr lang="en-US" sz="1800" dirty="0"/>
          </a:p>
        </p:txBody>
      </p:sp>
      <p:sp>
        <p:nvSpPr>
          <p:cNvPr id="11" name="Text 8"/>
          <p:cNvSpPr/>
          <p:nvPr/>
        </p:nvSpPr>
        <p:spPr>
          <a:xfrm>
            <a:off x="1409700" y="4870103"/>
            <a:ext cx="2560290" cy="781050"/>
          </a:xfrm>
          <a:prstGeom prst="rect">
            <a:avLst/>
          </a:prstGeom>
          <a:noFill/>
          <a:ln/>
        </p:spPr>
        <p:txBody>
          <a:bodyPr wrap="square" lIns="25400" tIns="25400" rIns="25400" bIns="25400" rtlCol="0" anchor="t">
            <a:normAutofit/>
          </a:bodyPr>
          <a:lstStyle/>
          <a:p>
            <a:pPr marL="0" indent="0" algn="l">
              <a:lnSpc>
                <a:spcPct val="130000"/>
              </a:lnSpc>
              <a:buNone/>
            </a:pPr>
            <a:r>
              <a:rPr lang="en-US" sz="1500" dirty="0">
                <a:solidFill>
                  <a:srgbClr val="5C6570"/>
                </a:solidFill>
                <a:latin typeface="Arial" pitchFamily="34" charset="0"/>
                <a:ea typeface="Arial" pitchFamily="34" charset="-122"/>
                <a:cs typeface="Arial" pitchFamily="34" charset="-120"/>
              </a:rPr>
              <a:t>ECM, UTAUT2, trust &amp; e-government. </a:t>
            </a:r>
            <a:r>
              <a:rPr lang="en-US" sz="1050" b="1" dirty="0">
                <a:solidFill>
                  <a:srgbClr val="8A929C"/>
                </a:solidFill>
                <a:latin typeface="Arial" pitchFamily="34" charset="0"/>
                <a:ea typeface="Arial" pitchFamily="34" charset="-122"/>
                <a:cs typeface="Arial" pitchFamily="34" charset="-120"/>
              </a:rPr>
              <a:t>(Bhattacherjee, 2001)</a:t>
            </a:r>
            <a:endParaRPr lang="en-US" sz="1500" dirty="0"/>
          </a:p>
        </p:txBody>
      </p:sp>
      <p:sp>
        <p:nvSpPr>
          <p:cNvPr id="12" name="Shape 9"/>
          <p:cNvSpPr/>
          <p:nvPr/>
        </p:nvSpPr>
        <p:spPr>
          <a:xfrm>
            <a:off x="4389090" y="3060353"/>
            <a:ext cx="3017490" cy="2857500"/>
          </a:xfrm>
          <a:prstGeom prst="roundRect">
            <a:avLst>
              <a:gd name="adj" fmla="val 7333"/>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13" name="Text 10"/>
          <p:cNvSpPr/>
          <p:nvPr/>
        </p:nvSpPr>
        <p:spPr>
          <a:xfrm>
            <a:off x="4655790" y="3365153"/>
            <a:ext cx="256029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b="1" kern="0" spc="-162" dirty="0">
                <a:solidFill>
                  <a:srgbClr val="14B24B"/>
                </a:solidFill>
                <a:latin typeface="Arial" pitchFamily="34" charset="0"/>
                <a:ea typeface="Arial" pitchFamily="34" charset="-122"/>
                <a:cs typeface="Arial" pitchFamily="34" charset="-120"/>
              </a:rPr>
              <a:t>02</a:t>
            </a:r>
            <a:endParaRPr lang="en-US" sz="5400" dirty="0"/>
          </a:p>
        </p:txBody>
      </p:sp>
      <p:sp>
        <p:nvSpPr>
          <p:cNvPr id="14" name="Text 11"/>
          <p:cNvSpPr/>
          <p:nvPr/>
        </p:nvSpPr>
        <p:spPr>
          <a:xfrm>
            <a:off x="4655790" y="4203353"/>
            <a:ext cx="2560290" cy="6096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800" b="1" dirty="0">
                <a:solidFill>
                  <a:srgbClr val="111418"/>
                </a:solidFill>
                <a:latin typeface="Arial" pitchFamily="34" charset="0"/>
                <a:ea typeface="Arial" pitchFamily="34" charset="-122"/>
                <a:cs typeface="Arial" pitchFamily="34" charset="-120"/>
              </a:rPr>
              <a:t>Compare candidate models</a:t>
            </a:r>
            <a:endParaRPr lang="en-US" sz="1800" dirty="0"/>
          </a:p>
        </p:txBody>
      </p:sp>
      <p:sp>
        <p:nvSpPr>
          <p:cNvPr id="15" name="Text 12"/>
          <p:cNvSpPr/>
          <p:nvPr/>
        </p:nvSpPr>
        <p:spPr>
          <a:xfrm>
            <a:off x="4655790" y="4870103"/>
            <a:ext cx="2560290" cy="5334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00" dirty="0">
                <a:solidFill>
                  <a:srgbClr val="5C6570"/>
                </a:solidFill>
                <a:latin typeface="Arial" pitchFamily="34" charset="0"/>
                <a:ea typeface="Arial" pitchFamily="34" charset="-122"/>
                <a:cs typeface="Arial" pitchFamily="34" charset="-120"/>
              </a:rPr>
              <a:t>Map strengths &amp; weaknesses side-by-side.</a:t>
            </a:r>
            <a:endParaRPr lang="en-US" sz="1500" dirty="0"/>
          </a:p>
        </p:txBody>
      </p:sp>
      <p:sp>
        <p:nvSpPr>
          <p:cNvPr id="16" name="Shape 13"/>
          <p:cNvSpPr/>
          <p:nvPr/>
        </p:nvSpPr>
        <p:spPr>
          <a:xfrm>
            <a:off x="7635180" y="3060353"/>
            <a:ext cx="3017490" cy="2857500"/>
          </a:xfrm>
          <a:prstGeom prst="roundRect">
            <a:avLst>
              <a:gd name="adj" fmla="val 7333"/>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17" name="Text 14"/>
          <p:cNvSpPr/>
          <p:nvPr/>
        </p:nvSpPr>
        <p:spPr>
          <a:xfrm>
            <a:off x="7901880" y="3365153"/>
            <a:ext cx="256029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b="1" kern="0" spc="-162" dirty="0">
                <a:solidFill>
                  <a:srgbClr val="14B24B"/>
                </a:solidFill>
                <a:latin typeface="Arial" pitchFamily="34" charset="0"/>
                <a:ea typeface="Arial" pitchFamily="34" charset="-122"/>
                <a:cs typeface="Arial" pitchFamily="34" charset="-120"/>
              </a:rPr>
              <a:t>03</a:t>
            </a:r>
            <a:endParaRPr lang="en-US" sz="5400" dirty="0"/>
          </a:p>
        </p:txBody>
      </p:sp>
      <p:sp>
        <p:nvSpPr>
          <p:cNvPr id="18" name="Text 15"/>
          <p:cNvSpPr/>
          <p:nvPr/>
        </p:nvSpPr>
        <p:spPr>
          <a:xfrm>
            <a:off x="7901880" y="4203353"/>
            <a:ext cx="2560290" cy="32385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800" b="1" dirty="0">
                <a:solidFill>
                  <a:srgbClr val="111418"/>
                </a:solidFill>
                <a:latin typeface="Arial" pitchFamily="34" charset="0"/>
                <a:ea typeface="Arial" pitchFamily="34" charset="-122"/>
                <a:cs typeface="Arial" pitchFamily="34" charset="-120"/>
              </a:rPr>
              <a:t>Select base model</a:t>
            </a:r>
            <a:endParaRPr lang="en-US" sz="1800" dirty="0"/>
          </a:p>
        </p:txBody>
      </p:sp>
      <p:sp>
        <p:nvSpPr>
          <p:cNvPr id="19" name="Text 16"/>
          <p:cNvSpPr/>
          <p:nvPr/>
        </p:nvSpPr>
        <p:spPr>
          <a:xfrm>
            <a:off x="7901880" y="4584353"/>
            <a:ext cx="2560290" cy="5334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00" dirty="0">
                <a:solidFill>
                  <a:srgbClr val="5C6570"/>
                </a:solidFill>
                <a:latin typeface="Arial" pitchFamily="34" charset="0"/>
                <a:ea typeface="Arial" pitchFamily="34" charset="-122"/>
                <a:cs typeface="Arial" pitchFamily="34" charset="-120"/>
              </a:rPr>
              <a:t>Best fit for post-adoption continuance.</a:t>
            </a:r>
            <a:endParaRPr lang="en-US" sz="1500" dirty="0"/>
          </a:p>
        </p:txBody>
      </p:sp>
      <p:sp>
        <p:nvSpPr>
          <p:cNvPr id="20" name="Shape 17"/>
          <p:cNvSpPr/>
          <p:nvPr/>
        </p:nvSpPr>
        <p:spPr>
          <a:xfrm>
            <a:off x="10881271" y="3060353"/>
            <a:ext cx="3017490" cy="2857500"/>
          </a:xfrm>
          <a:prstGeom prst="roundRect">
            <a:avLst>
              <a:gd name="adj" fmla="val 7333"/>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21" name="Text 18"/>
          <p:cNvSpPr/>
          <p:nvPr/>
        </p:nvSpPr>
        <p:spPr>
          <a:xfrm>
            <a:off x="11147971" y="3365153"/>
            <a:ext cx="256029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b="1" kern="0" spc="-162" dirty="0">
                <a:solidFill>
                  <a:srgbClr val="14B24B"/>
                </a:solidFill>
                <a:latin typeface="Arial" pitchFamily="34" charset="0"/>
                <a:ea typeface="Arial" pitchFamily="34" charset="-122"/>
                <a:cs typeface="Arial" pitchFamily="34" charset="-120"/>
              </a:rPr>
              <a:t>04</a:t>
            </a:r>
            <a:endParaRPr lang="en-US" sz="5400" dirty="0"/>
          </a:p>
        </p:txBody>
      </p:sp>
      <p:sp>
        <p:nvSpPr>
          <p:cNvPr id="22" name="Text 19"/>
          <p:cNvSpPr/>
          <p:nvPr/>
        </p:nvSpPr>
        <p:spPr>
          <a:xfrm>
            <a:off x="11147971" y="4203353"/>
            <a:ext cx="2560290" cy="6096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800" b="1" dirty="0">
                <a:solidFill>
                  <a:srgbClr val="111418"/>
                </a:solidFill>
                <a:latin typeface="Arial" pitchFamily="34" charset="0"/>
                <a:ea typeface="Arial" pitchFamily="34" charset="-122"/>
                <a:cs typeface="Arial" pitchFamily="34" charset="-120"/>
              </a:rPr>
              <a:t>Add contextual constructs</a:t>
            </a:r>
            <a:endParaRPr lang="en-US" sz="1800" dirty="0"/>
          </a:p>
        </p:txBody>
      </p:sp>
      <p:sp>
        <p:nvSpPr>
          <p:cNvPr id="23" name="Text 20"/>
          <p:cNvSpPr/>
          <p:nvPr/>
        </p:nvSpPr>
        <p:spPr>
          <a:xfrm>
            <a:off x="11147971" y="4870103"/>
            <a:ext cx="2560290" cy="781050"/>
          </a:xfrm>
          <a:prstGeom prst="rect">
            <a:avLst/>
          </a:prstGeom>
          <a:noFill/>
          <a:ln/>
        </p:spPr>
        <p:txBody>
          <a:bodyPr wrap="square" lIns="25400" tIns="25400" rIns="25400" bIns="25400" rtlCol="0" anchor="t">
            <a:normAutofit lnSpcReduction="10000"/>
          </a:bodyPr>
          <a:lstStyle/>
          <a:p>
            <a:pPr marL="0" indent="0" algn="l">
              <a:lnSpc>
                <a:spcPct val="130000"/>
              </a:lnSpc>
              <a:buNone/>
            </a:pPr>
            <a:r>
              <a:rPr lang="en-US" sz="1500" dirty="0">
                <a:solidFill>
                  <a:srgbClr val="5C6570"/>
                </a:solidFill>
                <a:latin typeface="Arial" pitchFamily="34" charset="0"/>
                <a:ea typeface="Arial" pitchFamily="34" charset="-122"/>
                <a:cs typeface="Arial" pitchFamily="34" charset="-120"/>
              </a:rPr>
              <a:t>For the Guyanese e-government setting. </a:t>
            </a:r>
            <a:r>
              <a:rPr lang="en-US" sz="1050" b="1" dirty="0">
                <a:solidFill>
                  <a:srgbClr val="8A929C"/>
                </a:solidFill>
                <a:latin typeface="Arial" pitchFamily="34" charset="0"/>
                <a:ea typeface="Arial" pitchFamily="34" charset="-122"/>
                <a:cs typeface="Arial" pitchFamily="34" charset="-120"/>
              </a:rPr>
              <a:t>(Carter &amp; Bélanger, 2005)</a:t>
            </a:r>
            <a:endParaRPr lang="en-US" sz="1500" dirty="0"/>
          </a:p>
        </p:txBody>
      </p:sp>
      <p:sp>
        <p:nvSpPr>
          <p:cNvPr id="24" name="Shape 21"/>
          <p:cNvSpPr/>
          <p:nvPr/>
        </p:nvSpPr>
        <p:spPr>
          <a:xfrm>
            <a:off x="14127361" y="3060353"/>
            <a:ext cx="3017490" cy="2857500"/>
          </a:xfrm>
          <a:prstGeom prst="roundRect">
            <a:avLst>
              <a:gd name="adj" fmla="val 7333"/>
            </a:avLst>
          </a:prstGeom>
          <a:solidFill>
            <a:srgbClr val="0A0E12"/>
          </a:solidFill>
          <a:ln/>
          <a:effectLst>
            <a:outerShdw blurRad="19050" dist="9525" dir="5400000" algn="bl" rotWithShape="0">
              <a:srgbClr val="0B3D1E">
                <a:alpha val="4000"/>
              </a:srgbClr>
            </a:outerShdw>
          </a:effectLst>
        </p:spPr>
        <p:txBody>
          <a:bodyPr/>
          <a:lstStyle/>
          <a:p>
            <a:endParaRPr lang="en-US"/>
          </a:p>
        </p:txBody>
      </p:sp>
      <p:sp>
        <p:nvSpPr>
          <p:cNvPr id="25" name="Text 22"/>
          <p:cNvSpPr/>
          <p:nvPr/>
        </p:nvSpPr>
        <p:spPr>
          <a:xfrm>
            <a:off x="14394061" y="3365153"/>
            <a:ext cx="2560290" cy="7239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5400" b="1" kern="0" spc="-162" dirty="0">
                <a:solidFill>
                  <a:srgbClr val="4DC97A"/>
                </a:solidFill>
                <a:latin typeface="Arial" pitchFamily="34" charset="0"/>
                <a:ea typeface="Arial" pitchFamily="34" charset="-122"/>
                <a:cs typeface="Arial" pitchFamily="34" charset="-120"/>
              </a:rPr>
              <a:t>05</a:t>
            </a:r>
            <a:endParaRPr lang="en-US" sz="5400" dirty="0"/>
          </a:p>
        </p:txBody>
      </p:sp>
      <p:sp>
        <p:nvSpPr>
          <p:cNvPr id="26" name="Text 23"/>
          <p:cNvSpPr/>
          <p:nvPr/>
        </p:nvSpPr>
        <p:spPr>
          <a:xfrm>
            <a:off x="14394061" y="4203353"/>
            <a:ext cx="2560290" cy="6096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800" b="1" dirty="0">
                <a:solidFill>
                  <a:srgbClr val="FFFFFF"/>
                </a:solidFill>
                <a:latin typeface="Arial" pitchFamily="34" charset="0"/>
                <a:ea typeface="Arial" pitchFamily="34" charset="-122"/>
                <a:cs typeface="Arial" pitchFamily="34" charset="-120"/>
              </a:rPr>
              <a:t>Finalise model &amp; hypotheses</a:t>
            </a:r>
            <a:endParaRPr lang="en-US" sz="1800" dirty="0"/>
          </a:p>
        </p:txBody>
      </p:sp>
      <p:sp>
        <p:nvSpPr>
          <p:cNvPr id="27" name="Text 24"/>
          <p:cNvSpPr/>
          <p:nvPr/>
        </p:nvSpPr>
        <p:spPr>
          <a:xfrm>
            <a:off x="14394061" y="4870103"/>
            <a:ext cx="2560290" cy="28575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500" dirty="0">
                <a:solidFill>
                  <a:srgbClr val="FFFFFF">
                    <a:alpha val="70000"/>
                  </a:srgbClr>
                </a:solidFill>
                <a:latin typeface="Arial" pitchFamily="34" charset="0"/>
                <a:ea typeface="Arial" pitchFamily="34" charset="-122"/>
                <a:cs typeface="Arial" pitchFamily="34" charset="-120"/>
              </a:rPr>
              <a:t>Ready for empirical testing.</a:t>
            </a:r>
            <a:endParaRPr lang="en-US" sz="1500" dirty="0"/>
          </a:p>
        </p:txBody>
      </p:sp>
      <p:sp>
        <p:nvSpPr>
          <p:cNvPr id="28" name="Text 25"/>
          <p:cNvSpPr/>
          <p:nvPr/>
        </p:nvSpPr>
        <p:spPr>
          <a:xfrm>
            <a:off x="5321350" y="6603653"/>
            <a:ext cx="7874660" cy="314325"/>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C6570"/>
                </a:solidFill>
                <a:latin typeface="Arial" pitchFamily="34" charset="0"/>
                <a:ea typeface="Arial" pitchFamily="34" charset="-122"/>
                <a:cs typeface="Arial" pitchFamily="34" charset="-120"/>
              </a:rPr>
              <a:t>Output: a conceptual model fit for a Guyanese, post-adoption context.</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06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MODEL REVIEW</a:t>
            </a:r>
            <a:endParaRPr lang="en-US" sz="1800" dirty="0"/>
          </a:p>
        </p:txBody>
      </p:sp>
      <p:sp>
        <p:nvSpPr>
          <p:cNvPr id="7" name="Text 4"/>
          <p:cNvSpPr/>
          <p:nvPr/>
        </p:nvSpPr>
        <p:spPr>
          <a:xfrm>
            <a:off x="1143000" y="1533525"/>
            <a:ext cx="15206662" cy="1758255"/>
          </a:xfrm>
          <a:prstGeom prst="rect">
            <a:avLst/>
          </a:prstGeom>
          <a:noFill/>
          <a:ln/>
        </p:spPr>
        <p:txBody>
          <a:bodyPr wrap="square" lIns="25400" tIns="25400" rIns="25400" bIns="25400" rtlCol="0" anchor="t">
            <a:normAutofit/>
          </a:bodyPr>
          <a:lstStyle/>
          <a:p>
            <a:pPr marL="0" indent="0" algn="ctr">
              <a:lnSpc>
                <a:spcPct val="105000"/>
              </a:lnSpc>
              <a:buNone/>
            </a:pPr>
            <a:r>
              <a:rPr lang="en-US" sz="6450" b="1" kern="0" spc="-97" dirty="0">
                <a:solidFill>
                  <a:srgbClr val="111418"/>
                </a:solidFill>
                <a:latin typeface="Arial" pitchFamily="34" charset="0"/>
                <a:ea typeface="Arial" pitchFamily="34" charset="-122"/>
                <a:cs typeface="Arial" pitchFamily="34" charset="-120"/>
              </a:rPr>
              <a:t>Best fit for </a:t>
            </a:r>
            <a:r>
              <a:rPr lang="en-US" sz="6450" b="1" kern="0" spc="-97" dirty="0">
                <a:solidFill>
                  <a:srgbClr val="0E9F43"/>
                </a:solidFill>
                <a:latin typeface="Arial" pitchFamily="34" charset="0"/>
                <a:ea typeface="Arial" pitchFamily="34" charset="-122"/>
                <a:cs typeface="Arial" pitchFamily="34" charset="-120"/>
              </a:rPr>
              <a:t>continuance</a:t>
            </a:r>
            <a:endParaRPr lang="en-US" sz="6450" dirty="0"/>
          </a:p>
        </p:txBody>
      </p:sp>
      <p:sp>
        <p:nvSpPr>
          <p:cNvPr id="8" name="Shape 5"/>
          <p:cNvSpPr/>
          <p:nvPr/>
        </p:nvSpPr>
        <p:spPr>
          <a:xfrm>
            <a:off x="1143000" y="3634680"/>
            <a:ext cx="16002000" cy="5191125"/>
          </a:xfrm>
          <a:prstGeom prst="roundRect">
            <a:avLst>
              <a:gd name="adj" fmla="val 4037"/>
            </a:avLst>
          </a:prstGeom>
          <a:solidFill>
            <a:srgbClr val="FFFFFF"/>
          </a:solidFill>
          <a:ln/>
          <a:effectLst>
            <a:outerShdw blurRad="19050" dist="9525" dir="5400000" algn="bl" rotWithShape="0">
              <a:srgbClr val="0B3D1E">
                <a:alpha val="4000"/>
              </a:srgbClr>
            </a:outerShdw>
          </a:effectLst>
        </p:spPr>
        <p:txBody>
          <a:bodyPr/>
          <a:lstStyle/>
          <a:p>
            <a:endParaRPr lang="en-US"/>
          </a:p>
        </p:txBody>
      </p:sp>
      <p:sp>
        <p:nvSpPr>
          <p:cNvPr id="9" name="Shape 6"/>
          <p:cNvSpPr/>
          <p:nvPr/>
        </p:nvSpPr>
        <p:spPr>
          <a:xfrm>
            <a:off x="1143000" y="3634680"/>
            <a:ext cx="2152650" cy="666750"/>
          </a:xfrm>
          <a:prstGeom prst="rect">
            <a:avLst/>
          </a:prstGeom>
          <a:solidFill>
            <a:srgbClr val="0A0E12"/>
          </a:solidFill>
          <a:ln/>
        </p:spPr>
        <p:txBody>
          <a:bodyPr/>
          <a:lstStyle/>
          <a:p>
            <a:endParaRPr lang="en-US"/>
          </a:p>
        </p:txBody>
      </p:sp>
      <p:sp>
        <p:nvSpPr>
          <p:cNvPr id="10" name="Text 7"/>
          <p:cNvSpPr/>
          <p:nvPr/>
        </p:nvSpPr>
        <p:spPr>
          <a:xfrm>
            <a:off x="1409700" y="3844230"/>
            <a:ext cx="169545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132" dirty="0">
                <a:solidFill>
                  <a:srgbClr val="FFFFFF"/>
                </a:solidFill>
                <a:latin typeface="Arial" pitchFamily="34" charset="0"/>
                <a:ea typeface="Arial" pitchFamily="34" charset="-122"/>
                <a:cs typeface="Arial" pitchFamily="34" charset="-120"/>
              </a:rPr>
              <a:t>MODEL</a:t>
            </a:r>
            <a:endParaRPr lang="en-US" sz="1650" dirty="0"/>
          </a:p>
        </p:txBody>
      </p:sp>
      <p:sp>
        <p:nvSpPr>
          <p:cNvPr id="11" name="Shape 8"/>
          <p:cNvSpPr/>
          <p:nvPr/>
        </p:nvSpPr>
        <p:spPr>
          <a:xfrm>
            <a:off x="3295650" y="3634680"/>
            <a:ext cx="5873055" cy="666750"/>
          </a:xfrm>
          <a:prstGeom prst="rect">
            <a:avLst/>
          </a:prstGeom>
          <a:solidFill>
            <a:srgbClr val="0A0E12"/>
          </a:solidFill>
          <a:ln/>
        </p:spPr>
        <p:txBody>
          <a:bodyPr/>
          <a:lstStyle/>
          <a:p>
            <a:endParaRPr lang="en-US"/>
          </a:p>
        </p:txBody>
      </p:sp>
      <p:sp>
        <p:nvSpPr>
          <p:cNvPr id="12" name="Text 9"/>
          <p:cNvSpPr/>
          <p:nvPr/>
        </p:nvSpPr>
        <p:spPr>
          <a:xfrm>
            <a:off x="3562350" y="3844230"/>
            <a:ext cx="5515847"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132" dirty="0">
                <a:solidFill>
                  <a:srgbClr val="FFFFFF"/>
                </a:solidFill>
                <a:latin typeface="Arial" pitchFamily="34" charset="0"/>
                <a:ea typeface="Arial" pitchFamily="34" charset="-122"/>
                <a:cs typeface="Arial" pitchFamily="34" charset="-120"/>
              </a:rPr>
              <a:t>STRENGTH</a:t>
            </a:r>
            <a:endParaRPr lang="en-US" sz="1650" dirty="0"/>
          </a:p>
        </p:txBody>
      </p:sp>
      <p:sp>
        <p:nvSpPr>
          <p:cNvPr id="13" name="Shape 10"/>
          <p:cNvSpPr/>
          <p:nvPr/>
        </p:nvSpPr>
        <p:spPr>
          <a:xfrm>
            <a:off x="9168705" y="3634680"/>
            <a:ext cx="5728395" cy="666750"/>
          </a:xfrm>
          <a:prstGeom prst="rect">
            <a:avLst/>
          </a:prstGeom>
          <a:solidFill>
            <a:srgbClr val="0A0E12"/>
          </a:solidFill>
          <a:ln/>
        </p:spPr>
        <p:txBody>
          <a:bodyPr/>
          <a:lstStyle/>
          <a:p>
            <a:endParaRPr lang="en-US"/>
          </a:p>
        </p:txBody>
      </p:sp>
      <p:sp>
        <p:nvSpPr>
          <p:cNvPr id="14" name="Text 11"/>
          <p:cNvSpPr/>
          <p:nvPr/>
        </p:nvSpPr>
        <p:spPr>
          <a:xfrm>
            <a:off x="9435405" y="3844230"/>
            <a:ext cx="5366846"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132" dirty="0">
                <a:solidFill>
                  <a:srgbClr val="FFFFFF"/>
                </a:solidFill>
                <a:latin typeface="Arial" pitchFamily="34" charset="0"/>
                <a:ea typeface="Arial" pitchFamily="34" charset="-122"/>
                <a:cs typeface="Arial" pitchFamily="34" charset="-120"/>
              </a:rPr>
              <a:t>WEAKNESS</a:t>
            </a:r>
            <a:endParaRPr lang="en-US" sz="1650" dirty="0"/>
          </a:p>
        </p:txBody>
      </p:sp>
      <p:sp>
        <p:nvSpPr>
          <p:cNvPr id="15" name="Shape 12"/>
          <p:cNvSpPr/>
          <p:nvPr/>
        </p:nvSpPr>
        <p:spPr>
          <a:xfrm>
            <a:off x="14897100" y="3634680"/>
            <a:ext cx="2247900" cy="666750"/>
          </a:xfrm>
          <a:prstGeom prst="rect">
            <a:avLst/>
          </a:prstGeom>
          <a:solidFill>
            <a:srgbClr val="0A0E12"/>
          </a:solidFill>
          <a:ln/>
        </p:spPr>
        <p:txBody>
          <a:bodyPr/>
          <a:lstStyle/>
          <a:p>
            <a:endParaRPr lang="en-US"/>
          </a:p>
        </p:txBody>
      </p:sp>
      <p:sp>
        <p:nvSpPr>
          <p:cNvPr id="16" name="Text 13"/>
          <p:cNvSpPr/>
          <p:nvPr/>
        </p:nvSpPr>
        <p:spPr>
          <a:xfrm>
            <a:off x="15125700" y="3844230"/>
            <a:ext cx="1790700" cy="285750"/>
          </a:xfrm>
          <a:prstGeom prst="rect">
            <a:avLst/>
          </a:prstGeom>
          <a:noFill/>
          <a:ln/>
        </p:spPr>
        <p:txBody>
          <a:bodyPr wrap="square" lIns="25400" tIns="25400" rIns="25400" bIns="25400" rtlCol="0" anchor="t">
            <a:normAutofit lnSpcReduction="10000"/>
          </a:bodyPr>
          <a:lstStyle/>
          <a:p>
            <a:pPr marL="0" indent="0" algn="ctr">
              <a:buNone/>
            </a:pPr>
            <a:r>
              <a:rPr lang="en-US" sz="1650" b="1" kern="0" spc="132" dirty="0">
                <a:solidFill>
                  <a:srgbClr val="FFFFFF"/>
                </a:solidFill>
                <a:latin typeface="Arial" pitchFamily="34" charset="0"/>
                <a:ea typeface="Arial" pitchFamily="34" charset="-122"/>
                <a:cs typeface="Arial" pitchFamily="34" charset="-120"/>
              </a:rPr>
              <a:t>FIT</a:t>
            </a:r>
            <a:endParaRPr lang="en-US" sz="1650" dirty="0"/>
          </a:p>
        </p:txBody>
      </p:sp>
      <p:sp>
        <p:nvSpPr>
          <p:cNvPr id="17" name="Shape 14"/>
          <p:cNvSpPr/>
          <p:nvPr/>
        </p:nvSpPr>
        <p:spPr>
          <a:xfrm>
            <a:off x="1143000" y="5306318"/>
            <a:ext cx="16002000" cy="9525"/>
          </a:xfrm>
          <a:prstGeom prst="rect">
            <a:avLst/>
          </a:prstGeom>
          <a:solidFill>
            <a:srgbClr val="000000">
              <a:alpha val="5000"/>
            </a:srgbClr>
          </a:solidFill>
          <a:ln/>
        </p:spPr>
        <p:txBody>
          <a:bodyPr/>
          <a:lstStyle/>
          <a:p>
            <a:endParaRPr lang="en-US"/>
          </a:p>
        </p:txBody>
      </p:sp>
      <p:sp>
        <p:nvSpPr>
          <p:cNvPr id="18" name="Text 15"/>
          <p:cNvSpPr/>
          <p:nvPr/>
        </p:nvSpPr>
        <p:spPr>
          <a:xfrm>
            <a:off x="1409700" y="4510980"/>
            <a:ext cx="678210" cy="361950"/>
          </a:xfrm>
          <a:prstGeom prst="rect">
            <a:avLst/>
          </a:prstGeom>
          <a:noFill/>
          <a:ln/>
        </p:spPr>
        <p:txBody>
          <a:bodyPr wrap="square" lIns="0" tIns="0" rIns="0" bIns="0" rtlCol="0" anchor="t">
            <a:normAutofit/>
          </a:bodyPr>
          <a:lstStyle/>
          <a:p>
            <a:pPr marL="0" indent="0" algn="l">
              <a:buNone/>
            </a:pPr>
            <a:r>
              <a:rPr lang="en-US" sz="2100" b="1" dirty="0">
                <a:solidFill>
                  <a:srgbClr val="111418"/>
                </a:solidFill>
                <a:latin typeface="Arial" pitchFamily="34" charset="0"/>
                <a:ea typeface="Arial" pitchFamily="34" charset="-122"/>
                <a:cs typeface="Arial" pitchFamily="34" charset="-120"/>
              </a:rPr>
              <a:t>TAM</a:t>
            </a:r>
            <a:endParaRPr lang="en-US" sz="2100" dirty="0"/>
          </a:p>
        </p:txBody>
      </p:sp>
      <p:sp>
        <p:nvSpPr>
          <p:cNvPr id="19" name="Text 16"/>
          <p:cNvSpPr/>
          <p:nvPr/>
        </p:nvSpPr>
        <p:spPr>
          <a:xfrm>
            <a:off x="1409700" y="4853880"/>
            <a:ext cx="1695450" cy="228600"/>
          </a:xfrm>
          <a:prstGeom prst="rect">
            <a:avLst/>
          </a:prstGeom>
          <a:noFill/>
          <a:ln/>
        </p:spPr>
        <p:txBody>
          <a:bodyPr wrap="square" lIns="25400" tIns="25400" rIns="25400" bIns="25400" rtlCol="0" anchor="t">
            <a:normAutofit lnSpcReduction="10000"/>
          </a:bodyPr>
          <a:lstStyle/>
          <a:p>
            <a:pPr marL="0" indent="0" algn="l">
              <a:buNone/>
            </a:pPr>
            <a:r>
              <a:rPr lang="en-US" sz="1275" dirty="0">
                <a:solidFill>
                  <a:srgbClr val="8A929C"/>
                </a:solidFill>
                <a:latin typeface="Arial" pitchFamily="34" charset="0"/>
                <a:ea typeface="Arial" pitchFamily="34" charset="-122"/>
                <a:cs typeface="Arial" pitchFamily="34" charset="-120"/>
              </a:rPr>
              <a:t>Davis, 1989</a:t>
            </a:r>
            <a:endParaRPr lang="en-US" sz="1275" dirty="0"/>
          </a:p>
        </p:txBody>
      </p:sp>
      <p:sp>
        <p:nvSpPr>
          <p:cNvPr id="20" name="Text 17"/>
          <p:cNvSpPr/>
          <p:nvPr/>
        </p:nvSpPr>
        <p:spPr>
          <a:xfrm>
            <a:off x="3562350" y="4510980"/>
            <a:ext cx="5515847" cy="633413"/>
          </a:xfrm>
          <a:prstGeom prst="rect">
            <a:avLst/>
          </a:prstGeom>
          <a:noFill/>
          <a:ln/>
        </p:spPr>
        <p:txBody>
          <a:bodyPr wrap="square" lIns="25400" tIns="25400" rIns="25400" bIns="25400" rtlCol="0" anchor="t">
            <a:normAutofit/>
          </a:bodyPr>
          <a:lstStyle/>
          <a:p>
            <a:pPr marL="0" indent="0" algn="l">
              <a:buNone/>
            </a:pPr>
            <a:r>
              <a:rPr lang="en-US" sz="1950" dirty="0">
                <a:solidFill>
                  <a:srgbClr val="111418"/>
                </a:solidFill>
                <a:latin typeface="Arial" pitchFamily="34" charset="0"/>
                <a:ea typeface="Arial" pitchFamily="34" charset="-122"/>
                <a:cs typeface="Arial" pitchFamily="34" charset="-120"/>
              </a:rPr>
              <a:t>Explains perceived usefulness &amp; ease of use.</a:t>
            </a:r>
            <a:endParaRPr lang="en-US" sz="1950" dirty="0"/>
          </a:p>
        </p:txBody>
      </p:sp>
      <p:sp>
        <p:nvSpPr>
          <p:cNvPr id="21" name="Text 18"/>
          <p:cNvSpPr/>
          <p:nvPr/>
        </p:nvSpPr>
        <p:spPr>
          <a:xfrm>
            <a:off x="9435405" y="4510980"/>
            <a:ext cx="5366846" cy="633413"/>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111418"/>
                </a:solidFill>
                <a:latin typeface="Arial" pitchFamily="34" charset="0"/>
                <a:ea typeface="Arial" pitchFamily="34" charset="-122"/>
                <a:cs typeface="Arial" pitchFamily="34" charset="-120"/>
              </a:rPr>
              <a:t>Stronger for adoption than post-adoption continuance.</a:t>
            </a:r>
            <a:endParaRPr lang="en-US" sz="1950" dirty="0"/>
          </a:p>
        </p:txBody>
      </p:sp>
      <p:sp>
        <p:nvSpPr>
          <p:cNvPr id="22" name="Shape 19"/>
          <p:cNvSpPr/>
          <p:nvPr/>
        </p:nvSpPr>
        <p:spPr>
          <a:xfrm>
            <a:off x="15581114" y="4510980"/>
            <a:ext cx="879723" cy="352425"/>
          </a:xfrm>
          <a:prstGeom prst="roundRect">
            <a:avLst>
              <a:gd name="adj" fmla="val 50000"/>
            </a:avLst>
          </a:prstGeom>
          <a:solidFill>
            <a:srgbClr val="FEE8DE"/>
          </a:solidFill>
          <a:ln/>
        </p:spPr>
        <p:txBody>
          <a:bodyPr/>
          <a:lstStyle/>
          <a:p>
            <a:endParaRPr lang="en-US"/>
          </a:p>
        </p:txBody>
      </p:sp>
      <p:sp>
        <p:nvSpPr>
          <p:cNvPr id="23" name="Text 20"/>
          <p:cNvSpPr/>
          <p:nvPr/>
        </p:nvSpPr>
        <p:spPr>
          <a:xfrm>
            <a:off x="15714464" y="4587180"/>
            <a:ext cx="613023" cy="238125"/>
          </a:xfrm>
          <a:prstGeom prst="rect">
            <a:avLst/>
          </a:prstGeom>
          <a:noFill/>
          <a:ln/>
        </p:spPr>
        <p:txBody>
          <a:bodyPr wrap="square" lIns="25400" tIns="25400" rIns="25400" bIns="25400" rtlCol="0" anchor="ctr">
            <a:normAutofit lnSpcReduction="10000"/>
          </a:bodyPr>
          <a:lstStyle/>
          <a:p>
            <a:pPr marL="0" indent="0" algn="ctr">
              <a:buNone/>
            </a:pPr>
            <a:r>
              <a:rPr lang="en-US" sz="1350" b="1" dirty="0">
                <a:solidFill>
                  <a:srgbClr val="F06A3B"/>
                </a:solidFill>
                <a:latin typeface="Arial" pitchFamily="34" charset="0"/>
                <a:ea typeface="Arial" pitchFamily="34" charset="-122"/>
                <a:cs typeface="Arial" pitchFamily="34" charset="-120"/>
              </a:rPr>
              <a:t>Partial</a:t>
            </a:r>
            <a:endParaRPr lang="en-US" sz="1350" dirty="0"/>
          </a:p>
        </p:txBody>
      </p:sp>
      <p:sp>
        <p:nvSpPr>
          <p:cNvPr id="24" name="Shape 21"/>
          <p:cNvSpPr/>
          <p:nvPr/>
        </p:nvSpPr>
        <p:spPr>
          <a:xfrm>
            <a:off x="1143000" y="6782693"/>
            <a:ext cx="16002000" cy="9525"/>
          </a:xfrm>
          <a:prstGeom prst="rect">
            <a:avLst/>
          </a:prstGeom>
          <a:solidFill>
            <a:srgbClr val="000000">
              <a:alpha val="5000"/>
            </a:srgbClr>
          </a:solidFill>
          <a:ln/>
        </p:spPr>
        <p:txBody>
          <a:bodyPr/>
          <a:lstStyle/>
          <a:p>
            <a:endParaRPr lang="en-US"/>
          </a:p>
        </p:txBody>
      </p:sp>
      <p:sp>
        <p:nvSpPr>
          <p:cNvPr id="25" name="Text 22"/>
          <p:cNvSpPr/>
          <p:nvPr/>
        </p:nvSpPr>
        <p:spPr>
          <a:xfrm>
            <a:off x="1409700" y="5530155"/>
            <a:ext cx="1160859" cy="685800"/>
          </a:xfrm>
          <a:prstGeom prst="rect">
            <a:avLst/>
          </a:prstGeom>
          <a:noFill/>
          <a:ln/>
        </p:spPr>
        <p:txBody>
          <a:bodyPr wrap="square" lIns="0" tIns="0" rIns="0" bIns="0" rtlCol="0" anchor="t">
            <a:normAutofit/>
          </a:bodyPr>
          <a:lstStyle/>
          <a:p>
            <a:pPr marL="0" indent="0" algn="l">
              <a:buNone/>
            </a:pPr>
            <a:r>
              <a:rPr lang="en-US" sz="2100" b="1" dirty="0">
                <a:solidFill>
                  <a:srgbClr val="111418"/>
                </a:solidFill>
                <a:latin typeface="Arial" pitchFamily="34" charset="0"/>
                <a:ea typeface="Arial" pitchFamily="34" charset="-122"/>
                <a:cs typeface="Arial" pitchFamily="34" charset="-120"/>
              </a:rPr>
              <a:t>UTAUT / UTAUT2</a:t>
            </a:r>
            <a:endParaRPr lang="en-US" sz="2100" dirty="0"/>
          </a:p>
        </p:txBody>
      </p:sp>
      <p:sp>
        <p:nvSpPr>
          <p:cNvPr id="26" name="Text 23"/>
          <p:cNvSpPr/>
          <p:nvPr/>
        </p:nvSpPr>
        <p:spPr>
          <a:xfrm>
            <a:off x="1409700" y="6196905"/>
            <a:ext cx="1695450" cy="419100"/>
          </a:xfrm>
          <a:prstGeom prst="rect">
            <a:avLst/>
          </a:prstGeom>
          <a:noFill/>
          <a:ln/>
        </p:spPr>
        <p:txBody>
          <a:bodyPr wrap="square" lIns="25400" tIns="25400" rIns="25400" bIns="25400" rtlCol="0" anchor="t">
            <a:normAutofit/>
          </a:bodyPr>
          <a:lstStyle/>
          <a:p>
            <a:pPr marL="0" indent="0" algn="l">
              <a:buNone/>
            </a:pPr>
            <a:r>
              <a:rPr lang="en-US" sz="1275" dirty="0">
                <a:solidFill>
                  <a:srgbClr val="8A929C"/>
                </a:solidFill>
                <a:latin typeface="Arial" pitchFamily="34" charset="0"/>
                <a:ea typeface="Arial" pitchFamily="34" charset="-122"/>
                <a:cs typeface="Arial" pitchFamily="34" charset="-120"/>
              </a:rPr>
              <a:t>Venkatesh et al., 2012</a:t>
            </a:r>
            <a:endParaRPr lang="en-US" sz="1275" dirty="0"/>
          </a:p>
        </p:txBody>
      </p:sp>
      <p:sp>
        <p:nvSpPr>
          <p:cNvPr id="27" name="Text 24"/>
          <p:cNvSpPr/>
          <p:nvPr/>
        </p:nvSpPr>
        <p:spPr>
          <a:xfrm>
            <a:off x="3562350" y="5525393"/>
            <a:ext cx="5515847" cy="1095375"/>
          </a:xfrm>
          <a:prstGeom prst="rect">
            <a:avLst/>
          </a:prstGeom>
          <a:noFill/>
          <a:ln/>
        </p:spPr>
        <p:txBody>
          <a:bodyPr wrap="square" lIns="25400" tIns="25400" rIns="25400" bIns="25400" rtlCol="0" anchor="t">
            <a:normAutofit/>
          </a:bodyPr>
          <a:lstStyle/>
          <a:p>
            <a:pPr marL="0" indent="0" algn="l">
              <a:buNone/>
            </a:pPr>
            <a:r>
              <a:rPr lang="en-US" sz="1950" dirty="0">
                <a:solidFill>
                  <a:srgbClr val="111418"/>
                </a:solidFill>
                <a:latin typeface="Arial" pitchFamily="34" charset="0"/>
                <a:ea typeface="Arial" pitchFamily="34" charset="-122"/>
                <a:cs typeface="Arial" pitchFamily="34" charset="-120"/>
              </a:rPr>
              <a:t>Captures social influence, habit &amp; facilitating conditions.</a:t>
            </a:r>
            <a:endParaRPr lang="en-US" sz="1950" dirty="0"/>
          </a:p>
        </p:txBody>
      </p:sp>
      <p:sp>
        <p:nvSpPr>
          <p:cNvPr id="28" name="Text 25"/>
          <p:cNvSpPr/>
          <p:nvPr/>
        </p:nvSpPr>
        <p:spPr>
          <a:xfrm>
            <a:off x="9435405" y="5525393"/>
            <a:ext cx="5366846" cy="1095375"/>
          </a:xfrm>
          <a:prstGeom prst="rect">
            <a:avLst/>
          </a:prstGeom>
          <a:noFill/>
          <a:ln/>
        </p:spPr>
        <p:txBody>
          <a:bodyPr wrap="square" lIns="25400" tIns="25400" rIns="25400" bIns="25400" rtlCol="0" anchor="t">
            <a:normAutofit/>
          </a:bodyPr>
          <a:lstStyle/>
          <a:p>
            <a:pPr marL="0" indent="0" algn="l">
              <a:buNone/>
            </a:pPr>
            <a:r>
              <a:rPr lang="en-US" sz="1950" dirty="0">
                <a:solidFill>
                  <a:srgbClr val="111418"/>
                </a:solidFill>
                <a:latin typeface="Arial" pitchFamily="34" charset="0"/>
                <a:ea typeface="Arial" pitchFamily="34" charset="-122"/>
                <a:cs typeface="Arial" pitchFamily="34" charset="-120"/>
              </a:rPr>
              <a:t>Adoption-focused and broad.</a:t>
            </a:r>
            <a:endParaRPr lang="en-US" sz="1950" dirty="0"/>
          </a:p>
        </p:txBody>
      </p:sp>
      <p:sp>
        <p:nvSpPr>
          <p:cNvPr id="29" name="Shape 26"/>
          <p:cNvSpPr/>
          <p:nvPr/>
        </p:nvSpPr>
        <p:spPr>
          <a:xfrm>
            <a:off x="15581114" y="5530155"/>
            <a:ext cx="879723" cy="352425"/>
          </a:xfrm>
          <a:prstGeom prst="roundRect">
            <a:avLst>
              <a:gd name="adj" fmla="val 50000"/>
            </a:avLst>
          </a:prstGeom>
          <a:solidFill>
            <a:srgbClr val="FEE8DE"/>
          </a:solidFill>
          <a:ln/>
        </p:spPr>
        <p:txBody>
          <a:bodyPr/>
          <a:lstStyle/>
          <a:p>
            <a:endParaRPr lang="en-US"/>
          </a:p>
        </p:txBody>
      </p:sp>
      <p:sp>
        <p:nvSpPr>
          <p:cNvPr id="30" name="Text 27"/>
          <p:cNvSpPr/>
          <p:nvPr/>
        </p:nvSpPr>
        <p:spPr>
          <a:xfrm>
            <a:off x="15714464" y="5606355"/>
            <a:ext cx="613023" cy="238125"/>
          </a:xfrm>
          <a:prstGeom prst="rect">
            <a:avLst/>
          </a:prstGeom>
          <a:noFill/>
          <a:ln/>
        </p:spPr>
        <p:txBody>
          <a:bodyPr wrap="square" lIns="25400" tIns="25400" rIns="25400" bIns="25400" rtlCol="0" anchor="ctr">
            <a:normAutofit lnSpcReduction="10000"/>
          </a:bodyPr>
          <a:lstStyle/>
          <a:p>
            <a:pPr marL="0" indent="0" algn="ctr">
              <a:buNone/>
            </a:pPr>
            <a:r>
              <a:rPr lang="en-US" sz="1350" b="1" dirty="0">
                <a:solidFill>
                  <a:srgbClr val="F06A3B"/>
                </a:solidFill>
                <a:latin typeface="Arial" pitchFamily="34" charset="0"/>
                <a:ea typeface="Arial" pitchFamily="34" charset="-122"/>
                <a:cs typeface="Arial" pitchFamily="34" charset="-120"/>
              </a:rPr>
              <a:t>Partial</a:t>
            </a:r>
            <a:endParaRPr lang="en-US" sz="1350" dirty="0"/>
          </a:p>
        </p:txBody>
      </p:sp>
      <p:sp>
        <p:nvSpPr>
          <p:cNvPr id="31" name="Shape 28"/>
          <p:cNvSpPr/>
          <p:nvPr/>
        </p:nvSpPr>
        <p:spPr>
          <a:xfrm>
            <a:off x="1143000" y="7859018"/>
            <a:ext cx="16002000" cy="9525"/>
          </a:xfrm>
          <a:prstGeom prst="rect">
            <a:avLst/>
          </a:prstGeom>
          <a:solidFill>
            <a:srgbClr val="000000">
              <a:alpha val="5000"/>
            </a:srgbClr>
          </a:solidFill>
          <a:ln/>
        </p:spPr>
        <p:txBody>
          <a:bodyPr/>
          <a:lstStyle/>
          <a:p>
            <a:endParaRPr lang="en-US"/>
          </a:p>
        </p:txBody>
      </p:sp>
      <p:sp>
        <p:nvSpPr>
          <p:cNvPr id="32" name="Text 29"/>
          <p:cNvSpPr/>
          <p:nvPr/>
        </p:nvSpPr>
        <p:spPr>
          <a:xfrm>
            <a:off x="1409700" y="7001768"/>
            <a:ext cx="1695450" cy="695325"/>
          </a:xfrm>
          <a:prstGeom prst="rect">
            <a:avLst/>
          </a:prstGeom>
          <a:noFill/>
          <a:ln/>
        </p:spPr>
        <p:txBody>
          <a:bodyPr wrap="square" lIns="25400" tIns="25400" rIns="25400" bIns="25400" rtlCol="0" anchor="t">
            <a:normAutofit/>
          </a:bodyPr>
          <a:lstStyle/>
          <a:p>
            <a:pPr marL="0" indent="0" algn="l">
              <a:buNone/>
            </a:pPr>
            <a:r>
              <a:rPr lang="en-US" sz="2100" b="1" dirty="0">
                <a:solidFill>
                  <a:srgbClr val="111418"/>
                </a:solidFill>
                <a:latin typeface="Arial" pitchFamily="34" charset="0"/>
                <a:ea typeface="Arial" pitchFamily="34" charset="-122"/>
                <a:cs typeface="Arial" pitchFamily="34" charset="-120"/>
              </a:rPr>
              <a:t>IS Success Model</a:t>
            </a:r>
            <a:endParaRPr lang="en-US" sz="2100" dirty="0"/>
          </a:p>
        </p:txBody>
      </p:sp>
      <p:sp>
        <p:nvSpPr>
          <p:cNvPr id="33" name="Text 30"/>
          <p:cNvSpPr/>
          <p:nvPr/>
        </p:nvSpPr>
        <p:spPr>
          <a:xfrm>
            <a:off x="3562350" y="7001768"/>
            <a:ext cx="5515847" cy="695325"/>
          </a:xfrm>
          <a:prstGeom prst="rect">
            <a:avLst/>
          </a:prstGeom>
          <a:noFill/>
          <a:ln/>
        </p:spPr>
        <p:txBody>
          <a:bodyPr wrap="square" lIns="25400" tIns="25400" rIns="25400" bIns="25400" rtlCol="0" anchor="t">
            <a:normAutofit/>
          </a:bodyPr>
          <a:lstStyle/>
          <a:p>
            <a:pPr marL="0" indent="0" algn="l">
              <a:buNone/>
            </a:pPr>
            <a:r>
              <a:rPr lang="en-US" sz="1950" dirty="0">
                <a:solidFill>
                  <a:srgbClr val="111418"/>
                </a:solidFill>
                <a:latin typeface="Arial" pitchFamily="34" charset="0"/>
                <a:ea typeface="Arial" pitchFamily="34" charset="-122"/>
                <a:cs typeface="Arial" pitchFamily="34" charset="-120"/>
              </a:rPr>
              <a:t>Useful for information, system &amp; service quality.</a:t>
            </a:r>
            <a:endParaRPr lang="en-US" sz="1950" dirty="0"/>
          </a:p>
        </p:txBody>
      </p:sp>
      <p:sp>
        <p:nvSpPr>
          <p:cNvPr id="34" name="Text 31"/>
          <p:cNvSpPr/>
          <p:nvPr/>
        </p:nvSpPr>
        <p:spPr>
          <a:xfrm>
            <a:off x="9435405" y="7001768"/>
            <a:ext cx="5366846" cy="695325"/>
          </a:xfrm>
          <a:prstGeom prst="rect">
            <a:avLst/>
          </a:prstGeom>
          <a:noFill/>
          <a:ln/>
        </p:spPr>
        <p:txBody>
          <a:bodyPr wrap="square" lIns="25400" tIns="25400" rIns="25400" bIns="25400" rtlCol="0" anchor="t">
            <a:normAutofit/>
          </a:bodyPr>
          <a:lstStyle/>
          <a:p>
            <a:pPr marL="0" indent="0" algn="l">
              <a:buNone/>
            </a:pPr>
            <a:r>
              <a:rPr lang="en-US" sz="1950" dirty="0">
                <a:solidFill>
                  <a:srgbClr val="111418"/>
                </a:solidFill>
                <a:latin typeface="Arial" pitchFamily="34" charset="0"/>
                <a:ea typeface="Arial" pitchFamily="34" charset="-122"/>
                <a:cs typeface="Arial" pitchFamily="34" charset="-120"/>
              </a:rPr>
              <a:t>Less direct for confirmation-based continuance.</a:t>
            </a:r>
            <a:endParaRPr lang="en-US" sz="1950" dirty="0"/>
          </a:p>
        </p:txBody>
      </p:sp>
      <p:sp>
        <p:nvSpPr>
          <p:cNvPr id="35" name="Shape 32"/>
          <p:cNvSpPr/>
          <p:nvPr/>
        </p:nvSpPr>
        <p:spPr>
          <a:xfrm>
            <a:off x="15581114" y="7006530"/>
            <a:ext cx="879723" cy="352425"/>
          </a:xfrm>
          <a:prstGeom prst="roundRect">
            <a:avLst>
              <a:gd name="adj" fmla="val 50000"/>
            </a:avLst>
          </a:prstGeom>
          <a:solidFill>
            <a:srgbClr val="FEE8DE"/>
          </a:solidFill>
          <a:ln/>
        </p:spPr>
        <p:txBody>
          <a:bodyPr/>
          <a:lstStyle/>
          <a:p>
            <a:endParaRPr lang="en-US"/>
          </a:p>
        </p:txBody>
      </p:sp>
      <p:sp>
        <p:nvSpPr>
          <p:cNvPr id="36" name="Text 33"/>
          <p:cNvSpPr/>
          <p:nvPr/>
        </p:nvSpPr>
        <p:spPr>
          <a:xfrm>
            <a:off x="15714464" y="7082730"/>
            <a:ext cx="613023" cy="238125"/>
          </a:xfrm>
          <a:prstGeom prst="rect">
            <a:avLst/>
          </a:prstGeom>
          <a:noFill/>
          <a:ln/>
        </p:spPr>
        <p:txBody>
          <a:bodyPr wrap="square" lIns="25400" tIns="25400" rIns="25400" bIns="25400" rtlCol="0" anchor="ctr">
            <a:normAutofit lnSpcReduction="10000"/>
          </a:bodyPr>
          <a:lstStyle/>
          <a:p>
            <a:pPr marL="0" indent="0" algn="ctr">
              <a:buNone/>
            </a:pPr>
            <a:r>
              <a:rPr lang="en-US" sz="1350" b="1" dirty="0">
                <a:solidFill>
                  <a:srgbClr val="F06A3B"/>
                </a:solidFill>
                <a:latin typeface="Arial" pitchFamily="34" charset="0"/>
                <a:ea typeface="Arial" pitchFamily="34" charset="-122"/>
                <a:cs typeface="Arial" pitchFamily="34" charset="-120"/>
              </a:rPr>
              <a:t>Partial</a:t>
            </a:r>
            <a:endParaRPr lang="en-US" sz="1350" dirty="0"/>
          </a:p>
        </p:txBody>
      </p:sp>
      <p:sp>
        <p:nvSpPr>
          <p:cNvPr id="37" name="Shape 34"/>
          <p:cNvSpPr/>
          <p:nvPr/>
        </p:nvSpPr>
        <p:spPr>
          <a:xfrm>
            <a:off x="1143000" y="7868543"/>
            <a:ext cx="16002000" cy="957263"/>
          </a:xfrm>
          <a:prstGeom prst="rect">
            <a:avLst/>
          </a:prstGeom>
          <a:solidFill>
            <a:srgbClr val="F2FBF5"/>
          </a:solidFill>
          <a:ln/>
        </p:spPr>
        <p:txBody>
          <a:bodyPr/>
          <a:lstStyle/>
          <a:p>
            <a:endParaRPr lang="en-US"/>
          </a:p>
        </p:txBody>
      </p:sp>
      <p:sp>
        <p:nvSpPr>
          <p:cNvPr id="38" name="Text 35"/>
          <p:cNvSpPr/>
          <p:nvPr/>
        </p:nvSpPr>
        <p:spPr>
          <a:xfrm>
            <a:off x="1409700" y="8082855"/>
            <a:ext cx="684014" cy="361950"/>
          </a:xfrm>
          <a:prstGeom prst="rect">
            <a:avLst/>
          </a:prstGeom>
          <a:noFill/>
          <a:ln/>
        </p:spPr>
        <p:txBody>
          <a:bodyPr wrap="square" lIns="0" tIns="0" rIns="0" bIns="0" rtlCol="0" anchor="t">
            <a:normAutofit/>
          </a:bodyPr>
          <a:lstStyle/>
          <a:p>
            <a:pPr marL="0" indent="0" algn="l">
              <a:buNone/>
            </a:pPr>
            <a:r>
              <a:rPr lang="en-US" sz="2100" b="1" dirty="0">
                <a:solidFill>
                  <a:srgbClr val="127A38"/>
                </a:solidFill>
                <a:latin typeface="Arial" pitchFamily="34" charset="0"/>
                <a:ea typeface="Arial" pitchFamily="34" charset="-122"/>
                <a:cs typeface="Arial" pitchFamily="34" charset="-120"/>
              </a:rPr>
              <a:t>ECM</a:t>
            </a:r>
            <a:endParaRPr lang="en-US" sz="2100" dirty="0"/>
          </a:p>
        </p:txBody>
      </p:sp>
      <p:sp>
        <p:nvSpPr>
          <p:cNvPr id="39" name="Text 36"/>
          <p:cNvSpPr/>
          <p:nvPr/>
        </p:nvSpPr>
        <p:spPr>
          <a:xfrm>
            <a:off x="1409700" y="8425755"/>
            <a:ext cx="1695450" cy="228600"/>
          </a:xfrm>
          <a:prstGeom prst="rect">
            <a:avLst/>
          </a:prstGeom>
          <a:noFill/>
          <a:ln/>
        </p:spPr>
        <p:txBody>
          <a:bodyPr wrap="square" lIns="25400" tIns="25400" rIns="25400" bIns="25400" rtlCol="0" anchor="t">
            <a:normAutofit lnSpcReduction="10000"/>
          </a:bodyPr>
          <a:lstStyle/>
          <a:p>
            <a:pPr marL="0" indent="0" algn="l">
              <a:buNone/>
            </a:pPr>
            <a:r>
              <a:rPr lang="en-US" sz="1275" b="1" dirty="0">
                <a:solidFill>
                  <a:srgbClr val="127A38"/>
                </a:solidFill>
                <a:latin typeface="Arial" pitchFamily="34" charset="0"/>
                <a:ea typeface="Arial" pitchFamily="34" charset="-122"/>
                <a:cs typeface="Arial" pitchFamily="34" charset="-120"/>
              </a:rPr>
              <a:t>Bhattacherjee, 2001</a:t>
            </a:r>
            <a:endParaRPr lang="en-US" sz="1275" dirty="0"/>
          </a:p>
        </p:txBody>
      </p:sp>
      <p:sp>
        <p:nvSpPr>
          <p:cNvPr id="40" name="Text 37"/>
          <p:cNvSpPr/>
          <p:nvPr/>
        </p:nvSpPr>
        <p:spPr>
          <a:xfrm>
            <a:off x="3562350" y="8078093"/>
            <a:ext cx="5515847" cy="576263"/>
          </a:xfrm>
          <a:prstGeom prst="rect">
            <a:avLst/>
          </a:prstGeom>
          <a:noFill/>
          <a:ln/>
        </p:spPr>
        <p:txBody>
          <a:bodyPr wrap="square" lIns="25400" tIns="25400" rIns="25400" bIns="25400" rtlCol="0" anchor="t">
            <a:normAutofit/>
          </a:bodyPr>
          <a:lstStyle/>
          <a:p>
            <a:pPr marL="0" indent="0" algn="l">
              <a:buNone/>
            </a:pPr>
            <a:r>
              <a:rPr lang="en-US" sz="1950" dirty="0">
                <a:solidFill>
                  <a:srgbClr val="111418"/>
                </a:solidFill>
                <a:latin typeface="Arial" pitchFamily="34" charset="0"/>
                <a:ea typeface="Arial" pitchFamily="34" charset="-122"/>
                <a:cs typeface="Arial" pitchFamily="34" charset="-120"/>
              </a:rPr>
              <a:t>Designed for post-adoption continuance.</a:t>
            </a:r>
            <a:endParaRPr lang="en-US" sz="1950" dirty="0"/>
          </a:p>
        </p:txBody>
      </p:sp>
      <p:sp>
        <p:nvSpPr>
          <p:cNvPr id="41" name="Text 38"/>
          <p:cNvSpPr/>
          <p:nvPr/>
        </p:nvSpPr>
        <p:spPr>
          <a:xfrm>
            <a:off x="9435405" y="8078093"/>
            <a:ext cx="5366846" cy="576263"/>
          </a:xfrm>
          <a:prstGeom prst="rect">
            <a:avLst/>
          </a:prstGeom>
          <a:noFill/>
          <a:ln/>
        </p:spPr>
        <p:txBody>
          <a:bodyPr wrap="square" lIns="25400" tIns="25400" rIns="25400" bIns="25400" rtlCol="0" anchor="t">
            <a:normAutofit/>
          </a:bodyPr>
          <a:lstStyle/>
          <a:p>
            <a:pPr marL="0" indent="0" algn="l">
              <a:buNone/>
            </a:pPr>
            <a:r>
              <a:rPr lang="en-US" sz="1950" dirty="0">
                <a:solidFill>
                  <a:srgbClr val="111418"/>
                </a:solidFill>
                <a:latin typeface="Arial" pitchFamily="34" charset="0"/>
                <a:ea typeface="Arial" pitchFamily="34" charset="-122"/>
                <a:cs typeface="Arial" pitchFamily="34" charset="-120"/>
              </a:rPr>
              <a:t>Benefits from contextual support constructs.</a:t>
            </a:r>
            <a:endParaRPr lang="en-US" sz="1950" dirty="0"/>
          </a:p>
        </p:txBody>
      </p:sp>
      <p:sp>
        <p:nvSpPr>
          <p:cNvPr id="42" name="Shape 39"/>
          <p:cNvSpPr/>
          <p:nvPr/>
        </p:nvSpPr>
        <p:spPr>
          <a:xfrm>
            <a:off x="15481995" y="8082855"/>
            <a:ext cx="1078111" cy="352425"/>
          </a:xfrm>
          <a:prstGeom prst="roundRect">
            <a:avLst>
              <a:gd name="adj" fmla="val 50000"/>
            </a:avLst>
          </a:prstGeom>
          <a:solidFill>
            <a:srgbClr val="14B24B"/>
          </a:solidFill>
          <a:ln/>
        </p:spPr>
        <p:txBody>
          <a:bodyPr/>
          <a:lstStyle/>
          <a:p>
            <a:endParaRPr lang="en-US"/>
          </a:p>
        </p:txBody>
      </p:sp>
      <p:sp>
        <p:nvSpPr>
          <p:cNvPr id="43" name="Text 40"/>
          <p:cNvSpPr/>
          <p:nvPr/>
        </p:nvSpPr>
        <p:spPr>
          <a:xfrm>
            <a:off x="15615345" y="8159055"/>
            <a:ext cx="811411" cy="238125"/>
          </a:xfrm>
          <a:prstGeom prst="rect">
            <a:avLst/>
          </a:prstGeom>
          <a:noFill/>
          <a:ln/>
        </p:spPr>
        <p:txBody>
          <a:bodyPr wrap="square" lIns="25400" tIns="25400" rIns="25400" bIns="25400" rtlCol="0" anchor="ctr">
            <a:normAutofit lnSpcReduction="10000"/>
          </a:bodyPr>
          <a:lstStyle/>
          <a:p>
            <a:pPr marL="0" indent="0" algn="ctr">
              <a:buNone/>
            </a:pPr>
            <a:r>
              <a:rPr lang="en-US" sz="1350" b="1" dirty="0">
                <a:solidFill>
                  <a:srgbClr val="FFFFFF"/>
                </a:solidFill>
                <a:latin typeface="Arial" pitchFamily="34" charset="0"/>
                <a:ea typeface="Arial" pitchFamily="34" charset="-122"/>
                <a:cs typeface="Arial" pitchFamily="34" charset="-120"/>
              </a:rPr>
              <a:t>Selected</a:t>
            </a:r>
            <a:endParaRPr lang="en-US" sz="1350" dirty="0"/>
          </a:p>
        </p:txBody>
      </p:sp>
      <p:sp>
        <p:nvSpPr>
          <p:cNvPr id="44" name="Shape 41"/>
          <p:cNvSpPr/>
          <p:nvPr/>
        </p:nvSpPr>
        <p:spPr>
          <a:xfrm>
            <a:off x="1143000" y="9130605"/>
            <a:ext cx="16002000" cy="1087636"/>
          </a:xfrm>
          <a:prstGeom prst="roundRect">
            <a:avLst>
              <a:gd name="adj" fmla="val 19267"/>
            </a:avLst>
          </a:prstGeom>
          <a:solidFill>
            <a:srgbClr val="0A0E12"/>
          </a:solidFill>
          <a:ln/>
        </p:spPr>
        <p:txBody>
          <a:bodyPr/>
          <a:lstStyle/>
          <a:p>
            <a:endParaRPr lang="en-US"/>
          </a:p>
        </p:txBody>
      </p:sp>
      <p:sp>
        <p:nvSpPr>
          <p:cNvPr id="45" name="Text 42"/>
          <p:cNvSpPr/>
          <p:nvPr/>
        </p:nvSpPr>
        <p:spPr>
          <a:xfrm>
            <a:off x="1447800" y="9340155"/>
            <a:ext cx="15872460" cy="706636"/>
          </a:xfrm>
          <a:prstGeom prst="rect">
            <a:avLst/>
          </a:prstGeom>
          <a:noFill/>
          <a:ln/>
        </p:spPr>
        <p:txBody>
          <a:bodyPr wrap="square" lIns="25400" tIns="25400" rIns="25400" bIns="25400" rtlCol="0" anchor="t">
            <a:normAutofit/>
          </a:bodyPr>
          <a:lstStyle/>
          <a:p>
            <a:pPr marL="0" indent="0" algn="l">
              <a:lnSpc>
                <a:spcPct val="135000"/>
              </a:lnSpc>
              <a:buNone/>
            </a:pPr>
            <a:r>
              <a:rPr lang="en-US" sz="1950" b="1" dirty="0">
                <a:solidFill>
                  <a:srgbClr val="4DC97A"/>
                </a:solidFill>
                <a:latin typeface="Arial" pitchFamily="34" charset="0"/>
                <a:ea typeface="Arial" pitchFamily="34" charset="-122"/>
                <a:cs typeface="Arial" pitchFamily="34" charset="-120"/>
              </a:rPr>
              <a:t>Decision: </a:t>
            </a:r>
            <a:r>
              <a:rPr lang="en-US" sz="1950" dirty="0">
                <a:solidFill>
                  <a:srgbClr val="FFFFFF"/>
                </a:solidFill>
                <a:highlight>
                  <a:srgbClr val="0A0E12"/>
                </a:highlight>
                <a:latin typeface="Arial" pitchFamily="34" charset="0"/>
                <a:ea typeface="Arial" pitchFamily="34" charset="-122"/>
                <a:cs typeface="Arial" pitchFamily="34" charset="-120"/>
              </a:rPr>
              <a:t>use ECM as the base model, then extend it with constructs that address behavioural, infrastructural and trust-related barriers.</a:t>
            </a:r>
            <a:endParaRPr lang="en-US" sz="1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07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SELECTING &amp; EXTENDING THE BASE MODEL</a:t>
            </a:r>
            <a:endParaRPr lang="en-US" sz="1800" dirty="0"/>
          </a:p>
        </p:txBody>
      </p:sp>
      <p:sp>
        <p:nvSpPr>
          <p:cNvPr id="7" name="Text 4"/>
          <p:cNvSpPr/>
          <p:nvPr/>
        </p:nvSpPr>
        <p:spPr>
          <a:xfrm>
            <a:off x="1143000" y="1533525"/>
            <a:ext cx="15206662" cy="1758255"/>
          </a:xfrm>
          <a:prstGeom prst="rect">
            <a:avLst/>
          </a:prstGeom>
          <a:noFill/>
          <a:ln/>
        </p:spPr>
        <p:txBody>
          <a:bodyPr wrap="square" lIns="25400" tIns="25400" rIns="25400" bIns="25400" rtlCol="0" anchor="t">
            <a:normAutofit/>
          </a:bodyPr>
          <a:lstStyle/>
          <a:p>
            <a:pPr marL="0" indent="0" algn="l">
              <a:lnSpc>
                <a:spcPct val="105000"/>
              </a:lnSpc>
              <a:buNone/>
            </a:pPr>
            <a:r>
              <a:rPr lang="en-US" sz="6450" b="1" kern="0" spc="-97" dirty="0">
                <a:solidFill>
                  <a:srgbClr val="111418"/>
                </a:solidFill>
                <a:latin typeface="Arial" pitchFamily="34" charset="0"/>
                <a:ea typeface="Arial" pitchFamily="34" charset="-122"/>
                <a:cs typeface="Arial" pitchFamily="34" charset="-120"/>
              </a:rPr>
              <a:t>ECM at the core, extended for context</a:t>
            </a:r>
            <a:endParaRPr lang="en-US" sz="6450" dirty="0"/>
          </a:p>
        </p:txBody>
      </p:sp>
      <p:sp>
        <p:nvSpPr>
          <p:cNvPr id="8" name="Shape 5"/>
          <p:cNvSpPr/>
          <p:nvPr/>
        </p:nvSpPr>
        <p:spPr>
          <a:xfrm>
            <a:off x="1143000" y="3825180"/>
            <a:ext cx="6093619" cy="5202436"/>
          </a:xfrm>
          <a:prstGeom prst="roundRect">
            <a:avLst>
              <a:gd name="adj" fmla="val 4028"/>
            </a:avLst>
          </a:prstGeom>
          <a:solidFill>
            <a:srgbClr val="F2FBF5"/>
          </a:solidFill>
          <a:ln w="19050">
            <a:solidFill>
              <a:srgbClr val="14B24B"/>
            </a:solidFill>
            <a:prstDash val="solid"/>
          </a:ln>
          <a:effectLst>
            <a:outerShdw blurRad="19050" dist="9525" dir="5400000" algn="bl" rotWithShape="0">
              <a:srgbClr val="0B3D1E">
                <a:alpha val="4000"/>
              </a:srgbClr>
            </a:outerShdw>
          </a:effectLst>
        </p:spPr>
        <p:txBody>
          <a:bodyPr/>
          <a:lstStyle/>
          <a:p>
            <a:endParaRPr lang="en-US"/>
          </a:p>
        </p:txBody>
      </p:sp>
      <p:sp>
        <p:nvSpPr>
          <p:cNvPr id="9" name="Text 6"/>
          <p:cNvSpPr/>
          <p:nvPr/>
        </p:nvSpPr>
        <p:spPr>
          <a:xfrm>
            <a:off x="1619250" y="4263330"/>
            <a:ext cx="5295352"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BASE MODEL · ECM</a:t>
            </a:r>
            <a:endParaRPr lang="en-US" sz="1500" dirty="0"/>
          </a:p>
        </p:txBody>
      </p:sp>
      <p:sp>
        <p:nvSpPr>
          <p:cNvPr id="10" name="Text 7"/>
          <p:cNvSpPr/>
          <p:nvPr/>
        </p:nvSpPr>
        <p:spPr>
          <a:xfrm>
            <a:off x="1619250" y="4587180"/>
            <a:ext cx="5295352" cy="847725"/>
          </a:xfrm>
          <a:prstGeom prst="rect">
            <a:avLst/>
          </a:prstGeom>
          <a:noFill/>
          <a:ln/>
        </p:spPr>
        <p:txBody>
          <a:bodyPr wrap="square" lIns="25400" tIns="25400" rIns="25400" bIns="25400" rtlCol="0" anchor="t">
            <a:normAutofit fontScale="92500"/>
          </a:bodyPr>
          <a:lstStyle/>
          <a:p>
            <a:pPr marL="0" indent="0" algn="l">
              <a:lnSpc>
                <a:spcPct val="125000"/>
              </a:lnSpc>
              <a:buNone/>
            </a:pPr>
            <a:r>
              <a:rPr lang="en-US" sz="2550" b="1" kern="0" spc="-13" dirty="0">
                <a:solidFill>
                  <a:srgbClr val="111418"/>
                </a:solidFill>
                <a:latin typeface="Arial" pitchFamily="34" charset="0"/>
                <a:ea typeface="Arial" pitchFamily="34" charset="-122"/>
                <a:cs typeface="Arial" pitchFamily="34" charset="-120"/>
              </a:rPr>
              <a:t>Continuance after initial experience</a:t>
            </a:r>
            <a:endParaRPr lang="en-US" sz="2550" dirty="0"/>
          </a:p>
        </p:txBody>
      </p:sp>
      <p:sp>
        <p:nvSpPr>
          <p:cNvPr id="11" name="Text 8"/>
          <p:cNvSpPr/>
          <p:nvPr/>
        </p:nvSpPr>
        <p:spPr>
          <a:xfrm>
            <a:off x="1619250" y="5530155"/>
            <a:ext cx="5295352" cy="1744861"/>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2B3139"/>
                </a:solidFill>
                <a:latin typeface="Arial" pitchFamily="34" charset="0"/>
                <a:ea typeface="Arial" pitchFamily="34" charset="-122"/>
                <a:cs typeface="Arial" pitchFamily="34" charset="-120"/>
              </a:rPr>
              <a:t>Our problem concerns continued use </a:t>
            </a:r>
            <a:r>
              <a:rPr lang="en-US" sz="2400" i="1" dirty="0">
                <a:solidFill>
                  <a:srgbClr val="2B3139"/>
                </a:solidFill>
                <a:latin typeface="Arial" pitchFamily="34" charset="0"/>
                <a:ea typeface="Arial" pitchFamily="34" charset="-122"/>
                <a:cs typeface="Arial" pitchFamily="34" charset="-120"/>
              </a:rPr>
              <a:t>after </a:t>
            </a:r>
            <a:r>
              <a:rPr lang="en-US" sz="2400" dirty="0">
                <a:solidFill>
                  <a:srgbClr val="2B3139"/>
                </a:solidFill>
                <a:latin typeface="Arial" pitchFamily="34" charset="0"/>
                <a:ea typeface="Arial" pitchFamily="34" charset="-122"/>
                <a:cs typeface="Arial" pitchFamily="34" charset="-120"/>
              </a:rPr>
              <a:t>first-time experience — ECM is built exactly for that. </a:t>
            </a:r>
            <a:r>
              <a:rPr lang="en-US" sz="1680" b="1" dirty="0">
                <a:solidFill>
                  <a:srgbClr val="8A929C"/>
                </a:solidFill>
                <a:latin typeface="Arial" pitchFamily="34" charset="0"/>
                <a:ea typeface="Arial" pitchFamily="34" charset="-122"/>
                <a:cs typeface="Arial" pitchFamily="34" charset="-120"/>
              </a:rPr>
              <a:t>(Bhattacherjee, 2001)</a:t>
            </a:r>
            <a:endParaRPr lang="en-US" sz="2400" dirty="0"/>
          </a:p>
        </p:txBody>
      </p:sp>
      <p:sp>
        <p:nvSpPr>
          <p:cNvPr id="12" name="Shape 9"/>
          <p:cNvSpPr/>
          <p:nvPr/>
        </p:nvSpPr>
        <p:spPr>
          <a:xfrm>
            <a:off x="1619250" y="7541716"/>
            <a:ext cx="1767334" cy="476250"/>
          </a:xfrm>
          <a:prstGeom prst="roundRect">
            <a:avLst>
              <a:gd name="adj" fmla="val 50000"/>
            </a:avLst>
          </a:prstGeom>
          <a:solidFill>
            <a:srgbClr val="E3F6E9"/>
          </a:solidFill>
          <a:ln/>
        </p:spPr>
        <p:txBody>
          <a:bodyPr/>
          <a:lstStyle/>
          <a:p>
            <a:endParaRPr lang="en-US"/>
          </a:p>
        </p:txBody>
      </p:sp>
      <p:sp>
        <p:nvSpPr>
          <p:cNvPr id="13" name="Text 10"/>
          <p:cNvSpPr/>
          <p:nvPr/>
        </p:nvSpPr>
        <p:spPr>
          <a:xfrm>
            <a:off x="1828800" y="7656016"/>
            <a:ext cx="1424434"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127A38"/>
                </a:solidFill>
                <a:latin typeface="Arial" pitchFamily="34" charset="0"/>
                <a:ea typeface="Arial" pitchFamily="34" charset="-122"/>
                <a:cs typeface="Arial" pitchFamily="34" charset="-120"/>
              </a:rPr>
              <a:t>Confirmation</a:t>
            </a:r>
            <a:endParaRPr lang="en-US" sz="1650" dirty="0"/>
          </a:p>
        </p:txBody>
      </p:sp>
      <p:sp>
        <p:nvSpPr>
          <p:cNvPr id="14" name="Shape 11"/>
          <p:cNvSpPr/>
          <p:nvPr/>
        </p:nvSpPr>
        <p:spPr>
          <a:xfrm>
            <a:off x="3481834" y="7541716"/>
            <a:ext cx="2647801" cy="476250"/>
          </a:xfrm>
          <a:prstGeom prst="roundRect">
            <a:avLst>
              <a:gd name="adj" fmla="val 50000"/>
            </a:avLst>
          </a:prstGeom>
          <a:solidFill>
            <a:srgbClr val="E3F6E9"/>
          </a:solidFill>
          <a:ln/>
        </p:spPr>
        <p:txBody>
          <a:bodyPr/>
          <a:lstStyle/>
          <a:p>
            <a:endParaRPr lang="en-US"/>
          </a:p>
        </p:txBody>
      </p:sp>
      <p:sp>
        <p:nvSpPr>
          <p:cNvPr id="15" name="Text 12"/>
          <p:cNvSpPr/>
          <p:nvPr/>
        </p:nvSpPr>
        <p:spPr>
          <a:xfrm>
            <a:off x="3691384" y="7656016"/>
            <a:ext cx="2308135"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127A38"/>
                </a:solidFill>
                <a:latin typeface="Arial" pitchFamily="34" charset="0"/>
                <a:ea typeface="Arial" pitchFamily="34" charset="-122"/>
                <a:cs typeface="Arial" pitchFamily="34" charset="-120"/>
              </a:rPr>
              <a:t>Perceived Usefulness</a:t>
            </a:r>
            <a:endParaRPr lang="en-US" sz="1650" dirty="0"/>
          </a:p>
        </p:txBody>
      </p:sp>
      <p:sp>
        <p:nvSpPr>
          <p:cNvPr id="16" name="Shape 13"/>
          <p:cNvSpPr/>
          <p:nvPr/>
        </p:nvSpPr>
        <p:spPr>
          <a:xfrm>
            <a:off x="1619250" y="8113216"/>
            <a:ext cx="1645741" cy="476250"/>
          </a:xfrm>
          <a:prstGeom prst="roundRect">
            <a:avLst>
              <a:gd name="adj" fmla="val 50000"/>
            </a:avLst>
          </a:prstGeom>
          <a:solidFill>
            <a:srgbClr val="E3F6E9"/>
          </a:solidFill>
          <a:ln/>
        </p:spPr>
        <p:txBody>
          <a:bodyPr/>
          <a:lstStyle/>
          <a:p>
            <a:endParaRPr lang="en-US"/>
          </a:p>
        </p:txBody>
      </p:sp>
      <p:sp>
        <p:nvSpPr>
          <p:cNvPr id="17" name="Text 14"/>
          <p:cNvSpPr/>
          <p:nvPr/>
        </p:nvSpPr>
        <p:spPr>
          <a:xfrm>
            <a:off x="1828800" y="8227516"/>
            <a:ext cx="1302841"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127A38"/>
                </a:solidFill>
                <a:latin typeface="Arial" pitchFamily="34" charset="0"/>
                <a:ea typeface="Arial" pitchFamily="34" charset="-122"/>
                <a:cs typeface="Arial" pitchFamily="34" charset="-120"/>
              </a:rPr>
              <a:t>Satisfaction</a:t>
            </a:r>
            <a:endParaRPr lang="en-US" sz="1650" dirty="0"/>
          </a:p>
        </p:txBody>
      </p:sp>
      <p:sp>
        <p:nvSpPr>
          <p:cNvPr id="18" name="Shape 15"/>
          <p:cNvSpPr/>
          <p:nvPr/>
        </p:nvSpPr>
        <p:spPr>
          <a:xfrm>
            <a:off x="7503319" y="3825180"/>
            <a:ext cx="4687491" cy="5202436"/>
          </a:xfrm>
          <a:prstGeom prst="roundRect">
            <a:avLst>
              <a:gd name="adj" fmla="val 4470"/>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19" name="Text 16"/>
          <p:cNvSpPr/>
          <p:nvPr/>
        </p:nvSpPr>
        <p:spPr>
          <a:xfrm>
            <a:off x="7960519" y="4244280"/>
            <a:ext cx="3886283"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D83A5E"/>
                </a:solidFill>
                <a:latin typeface="Arial" pitchFamily="34" charset="0"/>
                <a:ea typeface="Arial" pitchFamily="34" charset="-122"/>
                <a:cs typeface="Arial" pitchFamily="34" charset="-120"/>
              </a:rPr>
              <a:t>EXTENSION · UTAUT2</a:t>
            </a:r>
            <a:endParaRPr lang="en-US" sz="1500" dirty="0"/>
          </a:p>
        </p:txBody>
      </p:sp>
      <p:sp>
        <p:nvSpPr>
          <p:cNvPr id="20" name="Text 17"/>
          <p:cNvSpPr/>
          <p:nvPr/>
        </p:nvSpPr>
        <p:spPr>
          <a:xfrm>
            <a:off x="7960519" y="4568130"/>
            <a:ext cx="3886283" cy="395288"/>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250" b="1" kern="0" spc="-11" dirty="0">
                <a:solidFill>
                  <a:srgbClr val="111418"/>
                </a:solidFill>
                <a:latin typeface="Arial" pitchFamily="34" charset="0"/>
                <a:ea typeface="Arial" pitchFamily="34" charset="-122"/>
                <a:cs typeface="Arial" pitchFamily="34" charset="-120"/>
              </a:rPr>
              <a:t>Behavioural drivers</a:t>
            </a:r>
            <a:endParaRPr lang="en-US" sz="2250" dirty="0"/>
          </a:p>
        </p:txBody>
      </p:sp>
      <p:sp>
        <p:nvSpPr>
          <p:cNvPr id="21" name="Text 18"/>
          <p:cNvSpPr/>
          <p:nvPr/>
        </p:nvSpPr>
        <p:spPr>
          <a:xfrm>
            <a:off x="7960519" y="5058668"/>
            <a:ext cx="3886283" cy="1424583"/>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2B3139"/>
                </a:solidFill>
                <a:latin typeface="Arial" pitchFamily="34" charset="0"/>
                <a:ea typeface="Arial" pitchFamily="34" charset="-122"/>
                <a:cs typeface="Arial" pitchFamily="34" charset="-120"/>
              </a:rPr>
              <a:t>Adds habit, social influence and facilitating conditions — factors ECM alone doesn't cover. </a:t>
            </a:r>
            <a:r>
              <a:rPr lang="en-US" sz="1365" b="1" dirty="0">
                <a:solidFill>
                  <a:srgbClr val="8A929C"/>
                </a:solidFill>
                <a:latin typeface="Arial" pitchFamily="34" charset="0"/>
                <a:ea typeface="Arial" pitchFamily="34" charset="-122"/>
                <a:cs typeface="Arial" pitchFamily="34" charset="-120"/>
              </a:rPr>
              <a:t>(Venkatesh et al., 2012)</a:t>
            </a:r>
            <a:endParaRPr lang="en-US" sz="1950" dirty="0"/>
          </a:p>
        </p:txBody>
      </p:sp>
      <p:sp>
        <p:nvSpPr>
          <p:cNvPr id="22" name="Shape 19"/>
          <p:cNvSpPr/>
          <p:nvPr/>
        </p:nvSpPr>
        <p:spPr>
          <a:xfrm>
            <a:off x="7960519" y="6692801"/>
            <a:ext cx="963067" cy="476250"/>
          </a:xfrm>
          <a:prstGeom prst="roundRect">
            <a:avLst>
              <a:gd name="adj" fmla="val 50000"/>
            </a:avLst>
          </a:prstGeom>
          <a:solidFill>
            <a:srgbClr val="FDE3EA"/>
          </a:solidFill>
          <a:ln/>
        </p:spPr>
        <p:txBody>
          <a:bodyPr/>
          <a:lstStyle/>
          <a:p>
            <a:endParaRPr lang="en-US"/>
          </a:p>
        </p:txBody>
      </p:sp>
      <p:sp>
        <p:nvSpPr>
          <p:cNvPr id="23" name="Text 20"/>
          <p:cNvSpPr/>
          <p:nvPr/>
        </p:nvSpPr>
        <p:spPr>
          <a:xfrm>
            <a:off x="8170069" y="6807101"/>
            <a:ext cx="620167"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D83A5E"/>
                </a:solidFill>
                <a:latin typeface="Arial" pitchFamily="34" charset="0"/>
                <a:ea typeface="Arial" pitchFamily="34" charset="-122"/>
                <a:cs typeface="Arial" pitchFamily="34" charset="-120"/>
              </a:rPr>
              <a:t>Habit</a:t>
            </a:r>
            <a:endParaRPr lang="en-US" sz="1650" dirty="0"/>
          </a:p>
        </p:txBody>
      </p:sp>
      <p:sp>
        <p:nvSpPr>
          <p:cNvPr id="24" name="Shape 21"/>
          <p:cNvSpPr/>
          <p:nvPr/>
        </p:nvSpPr>
        <p:spPr>
          <a:xfrm>
            <a:off x="9018836" y="6692801"/>
            <a:ext cx="2056358" cy="476250"/>
          </a:xfrm>
          <a:prstGeom prst="roundRect">
            <a:avLst>
              <a:gd name="adj" fmla="val 50000"/>
            </a:avLst>
          </a:prstGeom>
          <a:solidFill>
            <a:srgbClr val="FDE3EA"/>
          </a:solidFill>
          <a:ln/>
        </p:spPr>
        <p:txBody>
          <a:bodyPr/>
          <a:lstStyle/>
          <a:p>
            <a:endParaRPr lang="en-US"/>
          </a:p>
        </p:txBody>
      </p:sp>
      <p:sp>
        <p:nvSpPr>
          <p:cNvPr id="25" name="Text 22"/>
          <p:cNvSpPr/>
          <p:nvPr/>
        </p:nvSpPr>
        <p:spPr>
          <a:xfrm>
            <a:off x="9228386" y="6807101"/>
            <a:ext cx="1713458"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D83A5E"/>
                </a:solidFill>
                <a:latin typeface="Arial" pitchFamily="34" charset="0"/>
                <a:ea typeface="Arial" pitchFamily="34" charset="-122"/>
                <a:cs typeface="Arial" pitchFamily="34" charset="-120"/>
              </a:rPr>
              <a:t>Social Influence</a:t>
            </a:r>
            <a:endParaRPr lang="en-US" sz="1650" dirty="0"/>
          </a:p>
        </p:txBody>
      </p:sp>
      <p:sp>
        <p:nvSpPr>
          <p:cNvPr id="26" name="Shape 23"/>
          <p:cNvSpPr/>
          <p:nvPr/>
        </p:nvSpPr>
        <p:spPr>
          <a:xfrm>
            <a:off x="7960519" y="7264301"/>
            <a:ext cx="1549896" cy="476250"/>
          </a:xfrm>
          <a:prstGeom prst="roundRect">
            <a:avLst>
              <a:gd name="adj" fmla="val 50000"/>
            </a:avLst>
          </a:prstGeom>
          <a:solidFill>
            <a:srgbClr val="FDE3EA"/>
          </a:solidFill>
          <a:ln/>
        </p:spPr>
        <p:txBody>
          <a:bodyPr/>
          <a:lstStyle/>
          <a:p>
            <a:endParaRPr lang="en-US"/>
          </a:p>
        </p:txBody>
      </p:sp>
      <p:sp>
        <p:nvSpPr>
          <p:cNvPr id="27" name="Text 24"/>
          <p:cNvSpPr/>
          <p:nvPr/>
        </p:nvSpPr>
        <p:spPr>
          <a:xfrm>
            <a:off x="8170069" y="7378601"/>
            <a:ext cx="1206996"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D83A5E"/>
                </a:solidFill>
                <a:latin typeface="Arial" pitchFamily="34" charset="0"/>
                <a:ea typeface="Arial" pitchFamily="34" charset="-122"/>
                <a:cs typeface="Arial" pitchFamily="34" charset="-120"/>
              </a:rPr>
              <a:t>Facilitating</a:t>
            </a:r>
            <a:endParaRPr lang="en-US" sz="1650" dirty="0"/>
          </a:p>
        </p:txBody>
      </p:sp>
      <p:sp>
        <p:nvSpPr>
          <p:cNvPr id="28" name="Shape 25"/>
          <p:cNvSpPr/>
          <p:nvPr/>
        </p:nvSpPr>
        <p:spPr>
          <a:xfrm>
            <a:off x="12457509" y="3825180"/>
            <a:ext cx="4687491" cy="5202436"/>
          </a:xfrm>
          <a:prstGeom prst="roundRect">
            <a:avLst>
              <a:gd name="adj" fmla="val 4470"/>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29" name="Text 26"/>
          <p:cNvSpPr/>
          <p:nvPr/>
        </p:nvSpPr>
        <p:spPr>
          <a:xfrm>
            <a:off x="12914709" y="4244280"/>
            <a:ext cx="3886283" cy="4953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F06A3B"/>
                </a:solidFill>
                <a:latin typeface="Arial" pitchFamily="34" charset="0"/>
                <a:ea typeface="Arial" pitchFamily="34" charset="-122"/>
                <a:cs typeface="Arial" pitchFamily="34" charset="-120"/>
              </a:rPr>
              <a:t>EXTENSION · TRUST &amp; SECURITY</a:t>
            </a:r>
            <a:endParaRPr lang="en-US" sz="1500" dirty="0"/>
          </a:p>
        </p:txBody>
      </p:sp>
      <p:sp>
        <p:nvSpPr>
          <p:cNvPr id="30" name="Text 27"/>
          <p:cNvSpPr/>
          <p:nvPr/>
        </p:nvSpPr>
        <p:spPr>
          <a:xfrm>
            <a:off x="12914709" y="4796730"/>
            <a:ext cx="3886283" cy="395288"/>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250" b="1" kern="0" spc="-11" dirty="0">
                <a:solidFill>
                  <a:srgbClr val="111418"/>
                </a:solidFill>
                <a:latin typeface="Arial" pitchFamily="34" charset="0"/>
                <a:ea typeface="Arial" pitchFamily="34" charset="-122"/>
                <a:cs typeface="Arial" pitchFamily="34" charset="-120"/>
              </a:rPr>
              <a:t>E-government risk</a:t>
            </a:r>
            <a:endParaRPr lang="en-US" sz="2250" dirty="0"/>
          </a:p>
        </p:txBody>
      </p:sp>
      <p:sp>
        <p:nvSpPr>
          <p:cNvPr id="31" name="Text 28"/>
          <p:cNvSpPr/>
          <p:nvPr/>
        </p:nvSpPr>
        <p:spPr>
          <a:xfrm>
            <a:off x="12914709" y="5287268"/>
            <a:ext cx="3886283" cy="1424583"/>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1950" dirty="0">
                <a:solidFill>
                  <a:srgbClr val="2B3139"/>
                </a:solidFill>
                <a:latin typeface="Arial" pitchFamily="34" charset="0"/>
                <a:ea typeface="Arial" pitchFamily="34" charset="-122"/>
                <a:cs typeface="Arial" pitchFamily="34" charset="-120"/>
              </a:rPr>
              <a:t>Taxpayer data is sensitive; trust and perceived security are first-order drivers of continued use. </a:t>
            </a:r>
            <a:r>
              <a:rPr lang="en-US" sz="1365" b="1" dirty="0">
                <a:solidFill>
                  <a:srgbClr val="8A929C"/>
                </a:solidFill>
                <a:latin typeface="Arial" pitchFamily="34" charset="0"/>
                <a:ea typeface="Arial" pitchFamily="34" charset="-122"/>
                <a:cs typeface="Arial" pitchFamily="34" charset="-120"/>
              </a:rPr>
              <a:t>(Bélanger &amp; Carter, 2008)</a:t>
            </a:r>
            <a:endParaRPr lang="en-US" sz="1950" dirty="0"/>
          </a:p>
        </p:txBody>
      </p:sp>
      <p:sp>
        <p:nvSpPr>
          <p:cNvPr id="32" name="Shape 29"/>
          <p:cNvSpPr/>
          <p:nvPr/>
        </p:nvSpPr>
        <p:spPr>
          <a:xfrm>
            <a:off x="12914709" y="6921401"/>
            <a:ext cx="957114" cy="476250"/>
          </a:xfrm>
          <a:prstGeom prst="roundRect">
            <a:avLst>
              <a:gd name="adj" fmla="val 50000"/>
            </a:avLst>
          </a:prstGeom>
          <a:solidFill>
            <a:srgbClr val="FEE8DE"/>
          </a:solidFill>
          <a:ln/>
        </p:spPr>
        <p:txBody>
          <a:bodyPr/>
          <a:lstStyle/>
          <a:p>
            <a:endParaRPr lang="en-US"/>
          </a:p>
        </p:txBody>
      </p:sp>
      <p:sp>
        <p:nvSpPr>
          <p:cNvPr id="33" name="Text 30"/>
          <p:cNvSpPr/>
          <p:nvPr/>
        </p:nvSpPr>
        <p:spPr>
          <a:xfrm>
            <a:off x="13124259" y="7035701"/>
            <a:ext cx="614214"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F06A3B"/>
                </a:solidFill>
                <a:latin typeface="Arial" pitchFamily="34" charset="0"/>
                <a:ea typeface="Arial" pitchFamily="34" charset="-122"/>
                <a:cs typeface="Arial" pitchFamily="34" charset="-120"/>
              </a:rPr>
              <a:t>Trust</a:t>
            </a:r>
            <a:endParaRPr lang="en-US" sz="1650" dirty="0"/>
          </a:p>
        </p:txBody>
      </p:sp>
      <p:sp>
        <p:nvSpPr>
          <p:cNvPr id="34" name="Shape 31"/>
          <p:cNvSpPr/>
          <p:nvPr/>
        </p:nvSpPr>
        <p:spPr>
          <a:xfrm>
            <a:off x="13967073" y="6921401"/>
            <a:ext cx="2357884" cy="476250"/>
          </a:xfrm>
          <a:prstGeom prst="roundRect">
            <a:avLst>
              <a:gd name="adj" fmla="val 50000"/>
            </a:avLst>
          </a:prstGeom>
          <a:solidFill>
            <a:srgbClr val="FEE8DE"/>
          </a:solidFill>
          <a:ln/>
        </p:spPr>
        <p:txBody>
          <a:bodyPr/>
          <a:lstStyle/>
          <a:p>
            <a:endParaRPr lang="en-US"/>
          </a:p>
        </p:txBody>
      </p:sp>
      <p:sp>
        <p:nvSpPr>
          <p:cNvPr id="35" name="Text 32"/>
          <p:cNvSpPr/>
          <p:nvPr/>
        </p:nvSpPr>
        <p:spPr>
          <a:xfrm>
            <a:off x="14176623" y="7035701"/>
            <a:ext cx="2014984"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F06A3B"/>
                </a:solidFill>
                <a:latin typeface="Arial" pitchFamily="34" charset="0"/>
                <a:ea typeface="Arial" pitchFamily="34" charset="-122"/>
                <a:cs typeface="Arial" pitchFamily="34" charset="-120"/>
              </a:rPr>
              <a:t>Perceived Security</a:t>
            </a:r>
            <a:endParaRPr lang="en-US" sz="1650" dirty="0"/>
          </a:p>
        </p:txBody>
      </p:sp>
      <p:sp>
        <p:nvSpPr>
          <p:cNvPr id="36" name="Shape 33"/>
          <p:cNvSpPr/>
          <p:nvPr/>
        </p:nvSpPr>
        <p:spPr>
          <a:xfrm>
            <a:off x="1143000" y="9561016"/>
            <a:ext cx="16002000" cy="942975"/>
          </a:xfrm>
          <a:prstGeom prst="roundRect">
            <a:avLst>
              <a:gd name="adj" fmla="val 22222"/>
            </a:avLst>
          </a:prstGeom>
          <a:solidFill>
            <a:srgbClr val="FFFFFF"/>
          </a:solidFill>
          <a:ln/>
          <a:effectLst>
            <a:outerShdw blurRad="19050" dist="9525" dir="5400000" algn="bl" rotWithShape="0">
              <a:srgbClr val="0B3D1E">
                <a:alpha val="4000"/>
              </a:srgbClr>
            </a:outerShdw>
          </a:effectLst>
        </p:spPr>
        <p:txBody>
          <a:bodyPr/>
          <a:lstStyle/>
          <a:p>
            <a:endParaRPr lang="en-US"/>
          </a:p>
        </p:txBody>
      </p:sp>
      <p:sp>
        <p:nvSpPr>
          <p:cNvPr id="37" name="Text 34"/>
          <p:cNvSpPr/>
          <p:nvPr/>
        </p:nvSpPr>
        <p:spPr>
          <a:xfrm>
            <a:off x="1485900" y="9861054"/>
            <a:ext cx="3328144"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27A38"/>
                </a:solidFill>
                <a:latin typeface="Arial" pitchFamily="34" charset="0"/>
                <a:ea typeface="Arial" pitchFamily="34" charset="-122"/>
                <a:cs typeface="Arial" pitchFamily="34" charset="-120"/>
              </a:rPr>
              <a:t>Final conceptual model</a:t>
            </a:r>
            <a:endParaRPr lang="en-US" sz="2250" dirty="0"/>
          </a:p>
        </p:txBody>
      </p:sp>
      <p:sp>
        <p:nvSpPr>
          <p:cNvPr id="38" name="Text 35"/>
          <p:cNvSpPr/>
          <p:nvPr/>
        </p:nvSpPr>
        <p:spPr>
          <a:xfrm>
            <a:off x="4964757" y="9827716"/>
            <a:ext cx="287685" cy="447675"/>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8A929C"/>
                </a:solidFill>
                <a:latin typeface="Arial" pitchFamily="34" charset="0"/>
                <a:ea typeface="Arial" pitchFamily="34" charset="-122"/>
                <a:cs typeface="Arial" pitchFamily="34" charset="-120"/>
              </a:rPr>
              <a:t>=</a:t>
            </a:r>
            <a:endParaRPr lang="en-US" sz="2850" dirty="0"/>
          </a:p>
        </p:txBody>
      </p:sp>
      <p:sp>
        <p:nvSpPr>
          <p:cNvPr id="39" name="Text 36"/>
          <p:cNvSpPr/>
          <p:nvPr/>
        </p:nvSpPr>
        <p:spPr>
          <a:xfrm>
            <a:off x="5423892" y="9861054"/>
            <a:ext cx="727472"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111418"/>
                </a:solidFill>
                <a:latin typeface="Arial" pitchFamily="34" charset="0"/>
                <a:ea typeface="Arial" pitchFamily="34" charset="-122"/>
                <a:cs typeface="Arial" pitchFamily="34" charset="-120"/>
              </a:rPr>
              <a:t>ECM</a:t>
            </a:r>
            <a:endParaRPr lang="en-US" sz="2250" dirty="0"/>
          </a:p>
        </p:txBody>
      </p:sp>
      <p:sp>
        <p:nvSpPr>
          <p:cNvPr id="40" name="Text 37"/>
          <p:cNvSpPr/>
          <p:nvPr/>
        </p:nvSpPr>
        <p:spPr>
          <a:xfrm>
            <a:off x="6322814" y="9827716"/>
            <a:ext cx="287685" cy="447675"/>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8A929C"/>
                </a:solidFill>
                <a:latin typeface="Arial" pitchFamily="34" charset="0"/>
                <a:ea typeface="Arial" pitchFamily="34" charset="-122"/>
                <a:cs typeface="Arial" pitchFamily="34" charset="-120"/>
              </a:rPr>
              <a:t>+</a:t>
            </a:r>
            <a:endParaRPr lang="en-US" sz="2850" dirty="0"/>
          </a:p>
        </p:txBody>
      </p:sp>
      <p:sp>
        <p:nvSpPr>
          <p:cNvPr id="41" name="Text 38"/>
          <p:cNvSpPr/>
          <p:nvPr/>
        </p:nvSpPr>
        <p:spPr>
          <a:xfrm>
            <a:off x="6781949" y="9861054"/>
            <a:ext cx="2823043"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D83A5E"/>
                </a:solidFill>
                <a:latin typeface="Arial" pitchFamily="34" charset="0"/>
                <a:ea typeface="Arial" pitchFamily="34" charset="-122"/>
                <a:cs typeface="Arial" pitchFamily="34" charset="-120"/>
              </a:rPr>
              <a:t>UTAUT2 constructs</a:t>
            </a:r>
            <a:endParaRPr lang="en-US" sz="2250" dirty="0"/>
          </a:p>
        </p:txBody>
      </p:sp>
      <p:sp>
        <p:nvSpPr>
          <p:cNvPr id="42" name="Text 39"/>
          <p:cNvSpPr/>
          <p:nvPr/>
        </p:nvSpPr>
        <p:spPr>
          <a:xfrm>
            <a:off x="9770418" y="9827716"/>
            <a:ext cx="287685" cy="447675"/>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8A929C"/>
                </a:solidFill>
                <a:latin typeface="Arial" pitchFamily="34" charset="0"/>
                <a:ea typeface="Arial" pitchFamily="34" charset="-122"/>
                <a:cs typeface="Arial" pitchFamily="34" charset="-120"/>
              </a:rPr>
              <a:t>+</a:t>
            </a:r>
            <a:endParaRPr lang="en-US" sz="2850" dirty="0"/>
          </a:p>
        </p:txBody>
      </p:sp>
      <p:sp>
        <p:nvSpPr>
          <p:cNvPr id="43" name="Text 40"/>
          <p:cNvSpPr/>
          <p:nvPr/>
        </p:nvSpPr>
        <p:spPr>
          <a:xfrm>
            <a:off x="10229552" y="9861054"/>
            <a:ext cx="2237482" cy="3810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F06A3B"/>
                </a:solidFill>
                <a:latin typeface="Arial" pitchFamily="34" charset="0"/>
                <a:ea typeface="Arial" pitchFamily="34" charset="-122"/>
                <a:cs typeface="Arial" pitchFamily="34" charset="-120"/>
              </a:rPr>
              <a:t>Trust / Security</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08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FINAL CONCEPTUAL MODEL</a:t>
            </a:r>
            <a:endParaRPr lang="en-US" sz="1800" dirty="0"/>
          </a:p>
        </p:txBody>
      </p:sp>
      <p:sp>
        <p:nvSpPr>
          <p:cNvPr id="7" name="Text 4"/>
          <p:cNvSpPr/>
          <p:nvPr/>
        </p:nvSpPr>
        <p:spPr>
          <a:xfrm>
            <a:off x="1143000" y="1533525"/>
            <a:ext cx="15206662" cy="75813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400" b="1" kern="0" spc="-81" dirty="0">
                <a:solidFill>
                  <a:srgbClr val="111418"/>
                </a:solidFill>
                <a:latin typeface="Arial" pitchFamily="34" charset="0"/>
                <a:ea typeface="Arial" pitchFamily="34" charset="-122"/>
                <a:cs typeface="Arial" pitchFamily="34" charset="-120"/>
              </a:rPr>
              <a:t>Eight constructs, one outcome.</a:t>
            </a:r>
            <a:endParaRPr lang="en-US" sz="5400" dirty="0"/>
          </a:p>
        </p:txBody>
      </p:sp>
      <p:sp>
        <p:nvSpPr>
          <p:cNvPr id="8" name="Shape 5"/>
          <p:cNvSpPr/>
          <p:nvPr/>
        </p:nvSpPr>
        <p:spPr>
          <a:xfrm>
            <a:off x="1143000" y="2634555"/>
            <a:ext cx="16002000" cy="6096000"/>
          </a:xfrm>
          <a:prstGeom prst="roundRect">
            <a:avLst>
              <a:gd name="adj" fmla="val 4375"/>
            </a:avLst>
          </a:prstGeom>
          <a:solidFill>
            <a:srgbClr val="FFFFFF">
              <a:alpha val="86000"/>
            </a:srgbClr>
          </a:solidFill>
          <a:ln/>
          <a:effectLst>
            <a:outerShdw blurRad="19050" dist="9525" dir="5400000" algn="bl" rotWithShape="0">
              <a:srgbClr val="0B3D1E">
                <a:alpha val="4000"/>
              </a:srgbClr>
            </a:outerShdw>
          </a:effectLst>
        </p:spPr>
        <p:txBody>
          <a:bodyPr/>
          <a:lstStyle/>
          <a:p>
            <a:endParaRPr lang="en-US"/>
          </a:p>
        </p:txBody>
      </p:sp>
      <p:pic>
        <p:nvPicPr>
          <p:cNvPr id="9" name="Image 1" descr="preencoded.png"/>
          <p:cNvPicPr>
            <a:picLocks noChangeAspect="1"/>
          </p:cNvPicPr>
          <p:nvPr/>
        </p:nvPicPr>
        <p:blipFill>
          <a:blip r:embed="rId4"/>
          <a:stretch>
            <a:fillRect/>
          </a:stretch>
        </p:blipFill>
        <p:spPr>
          <a:xfrm>
            <a:off x="1143000" y="2634555"/>
            <a:ext cx="16002000" cy="6096000"/>
          </a:xfrm>
          <a:prstGeom prst="rect">
            <a:avLst/>
          </a:prstGeom>
        </p:spPr>
      </p:pic>
      <p:sp>
        <p:nvSpPr>
          <p:cNvPr id="10" name="Text 6"/>
          <p:cNvSpPr/>
          <p:nvPr/>
        </p:nvSpPr>
        <p:spPr>
          <a:xfrm>
            <a:off x="902970" y="8997255"/>
            <a:ext cx="16482060" cy="314325"/>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5C6570"/>
                </a:solidFill>
                <a:latin typeface="Arial" pitchFamily="34" charset="0"/>
                <a:ea typeface="Arial" pitchFamily="34" charset="-122"/>
                <a:cs typeface="Arial" pitchFamily="34" charset="-120"/>
              </a:rPr>
              <a:t>Model focus: which factors most strongly explain </a:t>
            </a:r>
            <a:r>
              <a:rPr lang="en-US" sz="1800" b="1" dirty="0">
                <a:solidFill>
                  <a:srgbClr val="111418"/>
                </a:solidFill>
                <a:latin typeface="Arial" pitchFamily="34" charset="0"/>
                <a:ea typeface="Arial" pitchFamily="34" charset="-122"/>
                <a:cs typeface="Arial" pitchFamily="34" charset="-120"/>
              </a:rPr>
              <a:t>limited continued use </a:t>
            </a:r>
            <a:r>
              <a:rPr lang="en-US" sz="1800" dirty="0">
                <a:solidFill>
                  <a:srgbClr val="5C6570"/>
                </a:solidFill>
                <a:latin typeface="Arial" pitchFamily="34" charset="0"/>
                <a:ea typeface="Arial" pitchFamily="34" charset="-122"/>
                <a:cs typeface="Arial" pitchFamily="34" charset="-120"/>
              </a:rPr>
              <a:t>of Padna.</a:t>
            </a:r>
            <a:endParaRPr lang="en-US" sz="1800" dirty="0"/>
          </a:p>
        </p:txBody>
      </p:sp>
      <p:pic>
        <p:nvPicPr>
          <p:cNvPr id="12" name="Picture 11">
            <a:extLst>
              <a:ext uri="{FF2B5EF4-FFF2-40B4-BE49-F238E27FC236}">
                <a16:creationId xmlns:a16="http://schemas.microsoft.com/office/drawing/2014/main" id="{19E3D7DE-F915-6F00-3894-3EE89EE46909}"/>
              </a:ext>
            </a:extLst>
          </p:cNvPr>
          <p:cNvPicPr>
            <a:picLocks noChangeAspect="1"/>
          </p:cNvPicPr>
          <p:nvPr/>
        </p:nvPicPr>
        <p:blipFill>
          <a:blip r:embed="rId5"/>
          <a:stretch>
            <a:fillRect/>
          </a:stretch>
        </p:blipFill>
        <p:spPr>
          <a:xfrm>
            <a:off x="0" y="-1"/>
            <a:ext cx="18193706" cy="102869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09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PART II · EVALUATION </a:t>
            </a:r>
            <a:r>
              <a:rPr lang="en-US" sz="1800" kern="0" spc="324" dirty="0">
                <a:solidFill>
                  <a:srgbClr val="D9DDE2"/>
                </a:solidFill>
                <a:latin typeface="Arial" pitchFamily="34" charset="0"/>
                <a:ea typeface="Arial" pitchFamily="34" charset="-122"/>
                <a:cs typeface="Arial" pitchFamily="34" charset="-120"/>
              </a:rPr>
              <a:t>/ </a:t>
            </a:r>
            <a:r>
              <a:rPr lang="en-US" sz="1800" b="1" kern="0" spc="324" dirty="0">
                <a:solidFill>
                  <a:srgbClr val="8A929C"/>
                </a:solidFill>
                <a:latin typeface="Arial" pitchFamily="34" charset="0"/>
                <a:ea typeface="Arial" pitchFamily="34" charset="-122"/>
                <a:cs typeface="Arial" pitchFamily="34" charset="-120"/>
              </a:rPr>
              <a:t>EMPIRICAL TESTING</a:t>
            </a:r>
            <a:endParaRPr lang="en-US" sz="1800" dirty="0"/>
          </a:p>
        </p:txBody>
      </p:sp>
      <p:sp>
        <p:nvSpPr>
          <p:cNvPr id="7" name="Text 4"/>
          <p:cNvSpPr/>
          <p:nvPr/>
        </p:nvSpPr>
        <p:spPr>
          <a:xfrm>
            <a:off x="1143000" y="1533525"/>
            <a:ext cx="15206662" cy="1758255"/>
          </a:xfrm>
          <a:prstGeom prst="rect">
            <a:avLst/>
          </a:prstGeom>
          <a:noFill/>
          <a:ln/>
        </p:spPr>
        <p:txBody>
          <a:bodyPr wrap="square" lIns="25400" tIns="25400" rIns="25400" bIns="25400" rtlCol="0" anchor="t">
            <a:normAutofit/>
          </a:bodyPr>
          <a:lstStyle/>
          <a:p>
            <a:pPr marL="0" indent="0" algn="l">
              <a:lnSpc>
                <a:spcPct val="105000"/>
              </a:lnSpc>
              <a:buNone/>
            </a:pPr>
            <a:r>
              <a:rPr lang="en-US" sz="6450" b="1" kern="0" spc="-97" dirty="0">
                <a:solidFill>
                  <a:srgbClr val="111418"/>
                </a:solidFill>
                <a:latin typeface="Arial" pitchFamily="34" charset="0"/>
                <a:ea typeface="Arial" pitchFamily="34" charset="-122"/>
                <a:cs typeface="Arial" pitchFamily="34" charset="-120"/>
              </a:rPr>
              <a:t>Quantitative, positivist, cross-sectional</a:t>
            </a:r>
            <a:endParaRPr lang="en-US" sz="6450" dirty="0"/>
          </a:p>
        </p:txBody>
      </p:sp>
      <p:sp>
        <p:nvSpPr>
          <p:cNvPr id="8" name="Shape 5"/>
          <p:cNvSpPr/>
          <p:nvPr/>
        </p:nvSpPr>
        <p:spPr>
          <a:xfrm>
            <a:off x="1143000" y="3939480"/>
            <a:ext cx="5105400" cy="4114651"/>
          </a:xfrm>
          <a:prstGeom prst="roundRect">
            <a:avLst>
              <a:gd name="adj" fmla="val 5093"/>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9" name="Text 6"/>
          <p:cNvSpPr/>
          <p:nvPr/>
        </p:nvSpPr>
        <p:spPr>
          <a:xfrm>
            <a:off x="1600200" y="4358580"/>
            <a:ext cx="4316730"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APPROACH</a:t>
            </a:r>
            <a:endParaRPr lang="en-US" sz="1500" dirty="0"/>
          </a:p>
        </p:txBody>
      </p:sp>
      <p:sp>
        <p:nvSpPr>
          <p:cNvPr id="10" name="Text 7"/>
          <p:cNvSpPr/>
          <p:nvPr/>
        </p:nvSpPr>
        <p:spPr>
          <a:xfrm>
            <a:off x="1600200" y="4682430"/>
            <a:ext cx="4316730" cy="419100"/>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400" b="1" kern="0" spc="-12" dirty="0">
                <a:solidFill>
                  <a:srgbClr val="111418"/>
                </a:solidFill>
                <a:latin typeface="Arial" pitchFamily="34" charset="0"/>
                <a:ea typeface="Arial" pitchFamily="34" charset="-122"/>
                <a:cs typeface="Arial" pitchFamily="34" charset="-120"/>
              </a:rPr>
              <a:t>Quantitative</a:t>
            </a:r>
            <a:endParaRPr lang="en-US" sz="2400" dirty="0"/>
          </a:p>
        </p:txBody>
      </p:sp>
      <p:sp>
        <p:nvSpPr>
          <p:cNvPr id="11" name="Text 8"/>
          <p:cNvSpPr/>
          <p:nvPr/>
        </p:nvSpPr>
        <p:spPr>
          <a:xfrm>
            <a:off x="1600200" y="5196780"/>
            <a:ext cx="4316730" cy="2171551"/>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2B3139"/>
                </a:solidFill>
                <a:latin typeface="Arial" pitchFamily="34" charset="0"/>
                <a:ea typeface="Arial" pitchFamily="34" charset="-122"/>
                <a:cs typeface="Arial" pitchFamily="34" charset="-120"/>
              </a:rPr>
              <a:t>Measures relationships between constructs such as trust, satisfaction, usefulness and facilitating conditions.</a:t>
            </a:r>
            <a:endParaRPr lang="en-US" sz="2400" dirty="0"/>
          </a:p>
        </p:txBody>
      </p:sp>
      <p:sp>
        <p:nvSpPr>
          <p:cNvPr id="12" name="Shape 9"/>
          <p:cNvSpPr/>
          <p:nvPr/>
        </p:nvSpPr>
        <p:spPr>
          <a:xfrm>
            <a:off x="6591300" y="3939480"/>
            <a:ext cx="5105400" cy="4114651"/>
          </a:xfrm>
          <a:prstGeom prst="roundRect">
            <a:avLst>
              <a:gd name="adj" fmla="val 5093"/>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13" name="Text 10"/>
          <p:cNvSpPr/>
          <p:nvPr/>
        </p:nvSpPr>
        <p:spPr>
          <a:xfrm>
            <a:off x="7048500" y="4358580"/>
            <a:ext cx="4316730"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PHILOSOPHY &amp; REASONING</a:t>
            </a:r>
            <a:endParaRPr lang="en-US" sz="1500" dirty="0"/>
          </a:p>
        </p:txBody>
      </p:sp>
      <p:sp>
        <p:nvSpPr>
          <p:cNvPr id="14" name="Text 11"/>
          <p:cNvSpPr/>
          <p:nvPr/>
        </p:nvSpPr>
        <p:spPr>
          <a:xfrm>
            <a:off x="7048500" y="4682430"/>
            <a:ext cx="4316730" cy="419100"/>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400" b="1" kern="0" spc="-12" dirty="0">
                <a:solidFill>
                  <a:srgbClr val="111418"/>
                </a:solidFill>
                <a:latin typeface="Arial" pitchFamily="34" charset="0"/>
                <a:ea typeface="Arial" pitchFamily="34" charset="-122"/>
                <a:cs typeface="Arial" pitchFamily="34" charset="-120"/>
              </a:rPr>
              <a:t>Positivist &amp; deductive</a:t>
            </a:r>
            <a:endParaRPr lang="en-US" sz="2400" dirty="0"/>
          </a:p>
        </p:txBody>
      </p:sp>
      <p:sp>
        <p:nvSpPr>
          <p:cNvPr id="15" name="Text 12"/>
          <p:cNvSpPr/>
          <p:nvPr/>
        </p:nvSpPr>
        <p:spPr>
          <a:xfrm>
            <a:off x="7048500" y="5196780"/>
            <a:ext cx="4316730" cy="131817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400" dirty="0">
                <a:solidFill>
                  <a:srgbClr val="2B3139"/>
                </a:solidFill>
                <a:latin typeface="Arial" pitchFamily="34" charset="0"/>
                <a:ea typeface="Arial" pitchFamily="34" charset="-122"/>
                <a:cs typeface="Arial" pitchFamily="34" charset="-120"/>
              </a:rPr>
              <a:t>Tests established theory through survey data and statistical analysis.</a:t>
            </a:r>
            <a:endParaRPr lang="en-US" sz="2400" dirty="0"/>
          </a:p>
        </p:txBody>
      </p:sp>
      <p:sp>
        <p:nvSpPr>
          <p:cNvPr id="16" name="Shape 13"/>
          <p:cNvSpPr/>
          <p:nvPr/>
        </p:nvSpPr>
        <p:spPr>
          <a:xfrm>
            <a:off x="12039600" y="3939480"/>
            <a:ext cx="5105400" cy="4114651"/>
          </a:xfrm>
          <a:prstGeom prst="roundRect">
            <a:avLst>
              <a:gd name="adj" fmla="val 5093"/>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17" name="Text 14"/>
          <p:cNvSpPr/>
          <p:nvPr/>
        </p:nvSpPr>
        <p:spPr>
          <a:xfrm>
            <a:off x="12496800" y="4358580"/>
            <a:ext cx="4316730"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RESEARCH DESIGN</a:t>
            </a:r>
            <a:endParaRPr lang="en-US" sz="1500" dirty="0"/>
          </a:p>
        </p:txBody>
      </p:sp>
      <p:sp>
        <p:nvSpPr>
          <p:cNvPr id="18" name="Text 15"/>
          <p:cNvSpPr/>
          <p:nvPr/>
        </p:nvSpPr>
        <p:spPr>
          <a:xfrm>
            <a:off x="12496800" y="4682430"/>
            <a:ext cx="4316730" cy="419100"/>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400" b="1" kern="0" spc="-12" dirty="0">
                <a:solidFill>
                  <a:srgbClr val="111418"/>
                </a:solidFill>
                <a:latin typeface="Arial" pitchFamily="34" charset="0"/>
                <a:ea typeface="Arial" pitchFamily="34" charset="-122"/>
                <a:cs typeface="Arial" pitchFamily="34" charset="-120"/>
              </a:rPr>
              <a:t>Cross-sectional survey</a:t>
            </a:r>
            <a:endParaRPr lang="en-US" sz="2400" dirty="0"/>
          </a:p>
        </p:txBody>
      </p:sp>
      <p:sp>
        <p:nvSpPr>
          <p:cNvPr id="19" name="Text 16"/>
          <p:cNvSpPr/>
          <p:nvPr/>
        </p:nvSpPr>
        <p:spPr>
          <a:xfrm>
            <a:off x="12496800" y="5196780"/>
            <a:ext cx="4316730" cy="131817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400" dirty="0">
                <a:solidFill>
                  <a:srgbClr val="2B3139"/>
                </a:solidFill>
                <a:latin typeface="Arial" pitchFamily="34" charset="0"/>
                <a:ea typeface="Arial" pitchFamily="34" charset="-122"/>
                <a:cs typeface="Arial" pitchFamily="34" charset="-120"/>
              </a:rPr>
              <a:t>One point in time — appropriate where no prior Padna dataset exists.</a:t>
            </a:r>
            <a:endParaRPr lang="en-US" sz="2400" dirty="0"/>
          </a:p>
        </p:txBody>
      </p:sp>
      <p:sp>
        <p:nvSpPr>
          <p:cNvPr id="20" name="Shape 17"/>
          <p:cNvSpPr/>
          <p:nvPr/>
        </p:nvSpPr>
        <p:spPr>
          <a:xfrm>
            <a:off x="1143000" y="8654207"/>
            <a:ext cx="114300" cy="114300"/>
          </a:xfrm>
          <a:prstGeom prst="ellipse">
            <a:avLst/>
          </a:prstGeom>
          <a:solidFill>
            <a:srgbClr val="14B24B"/>
          </a:solidFill>
          <a:ln/>
        </p:spPr>
        <p:txBody>
          <a:bodyPr/>
          <a:lstStyle/>
          <a:p>
            <a:endParaRPr lang="en-US"/>
          </a:p>
        </p:txBody>
      </p:sp>
      <p:sp>
        <p:nvSpPr>
          <p:cNvPr id="21" name="Text 18"/>
          <p:cNvSpPr/>
          <p:nvPr/>
        </p:nvSpPr>
        <p:spPr>
          <a:xfrm>
            <a:off x="1390650" y="8587532"/>
            <a:ext cx="1194495" cy="276225"/>
          </a:xfrm>
          <a:prstGeom prst="rect">
            <a:avLst/>
          </a:prstGeom>
          <a:noFill/>
          <a:ln/>
        </p:spPr>
        <p:txBody>
          <a:bodyPr wrap="square" lIns="0" tIns="0" rIns="0" bIns="0" rtlCol="0" anchor="t">
            <a:normAutofit/>
          </a:bodyPr>
          <a:lstStyle/>
          <a:p>
            <a:pPr marL="0" indent="0" algn="l">
              <a:buNone/>
            </a:pPr>
            <a:r>
              <a:rPr lang="en-US" sz="1650" dirty="0">
                <a:solidFill>
                  <a:srgbClr val="5C6570"/>
                </a:solidFill>
                <a:latin typeface="Arial" pitchFamily="34" charset="0"/>
                <a:ea typeface="Arial" pitchFamily="34" charset="-122"/>
                <a:cs typeface="Arial" pitchFamily="34" charset="-120"/>
              </a:rPr>
              <a:t>Survey data</a:t>
            </a:r>
            <a:endParaRPr lang="en-US" sz="1650" dirty="0"/>
          </a:p>
        </p:txBody>
      </p:sp>
      <p:sp>
        <p:nvSpPr>
          <p:cNvPr id="22" name="Shape 19"/>
          <p:cNvSpPr/>
          <p:nvPr/>
        </p:nvSpPr>
        <p:spPr>
          <a:xfrm>
            <a:off x="2889945" y="8654207"/>
            <a:ext cx="114300" cy="114300"/>
          </a:xfrm>
          <a:prstGeom prst="ellipse">
            <a:avLst/>
          </a:prstGeom>
          <a:solidFill>
            <a:srgbClr val="8A929C"/>
          </a:solidFill>
          <a:ln/>
        </p:spPr>
        <p:txBody>
          <a:bodyPr/>
          <a:lstStyle/>
          <a:p>
            <a:endParaRPr lang="en-US"/>
          </a:p>
        </p:txBody>
      </p:sp>
      <p:sp>
        <p:nvSpPr>
          <p:cNvPr id="23" name="Text 20"/>
          <p:cNvSpPr/>
          <p:nvPr/>
        </p:nvSpPr>
        <p:spPr>
          <a:xfrm>
            <a:off x="3137595" y="8587532"/>
            <a:ext cx="1648569" cy="276225"/>
          </a:xfrm>
          <a:prstGeom prst="rect">
            <a:avLst/>
          </a:prstGeom>
          <a:noFill/>
          <a:ln/>
        </p:spPr>
        <p:txBody>
          <a:bodyPr wrap="square" lIns="0" tIns="0" rIns="0" bIns="0" rtlCol="0" anchor="t">
            <a:normAutofit/>
          </a:bodyPr>
          <a:lstStyle/>
          <a:p>
            <a:pPr marL="0" indent="0" algn="l">
              <a:buNone/>
            </a:pPr>
            <a:r>
              <a:rPr lang="en-US" sz="1650" dirty="0">
                <a:solidFill>
                  <a:srgbClr val="5C6570"/>
                </a:solidFill>
                <a:latin typeface="Arial" pitchFamily="34" charset="0"/>
                <a:ea typeface="Arial" pitchFamily="34" charset="-122"/>
                <a:cs typeface="Arial" pitchFamily="34" charset="-120"/>
              </a:rPr>
              <a:t>Statistical testing</a:t>
            </a:r>
            <a:endParaRPr lang="en-US" sz="1650" dirty="0"/>
          </a:p>
        </p:txBody>
      </p:sp>
      <p:sp>
        <p:nvSpPr>
          <p:cNvPr id="24" name="Shape 21"/>
          <p:cNvSpPr/>
          <p:nvPr/>
        </p:nvSpPr>
        <p:spPr>
          <a:xfrm>
            <a:off x="5090964" y="8654207"/>
            <a:ext cx="114300" cy="114300"/>
          </a:xfrm>
          <a:prstGeom prst="ellipse">
            <a:avLst/>
          </a:prstGeom>
          <a:solidFill>
            <a:srgbClr val="D83A5E"/>
          </a:solidFill>
          <a:ln/>
        </p:spPr>
        <p:txBody>
          <a:bodyPr/>
          <a:lstStyle/>
          <a:p>
            <a:endParaRPr lang="en-US"/>
          </a:p>
        </p:txBody>
      </p:sp>
      <p:sp>
        <p:nvSpPr>
          <p:cNvPr id="25" name="Text 22"/>
          <p:cNvSpPr/>
          <p:nvPr/>
        </p:nvSpPr>
        <p:spPr>
          <a:xfrm>
            <a:off x="5338614" y="8587532"/>
            <a:ext cx="1753344" cy="276225"/>
          </a:xfrm>
          <a:prstGeom prst="rect">
            <a:avLst/>
          </a:prstGeom>
          <a:noFill/>
          <a:ln/>
        </p:spPr>
        <p:txBody>
          <a:bodyPr wrap="square" lIns="0" tIns="0" rIns="0" bIns="0" rtlCol="0" anchor="t">
            <a:normAutofit/>
          </a:bodyPr>
          <a:lstStyle/>
          <a:p>
            <a:pPr marL="0" indent="0" algn="l">
              <a:buNone/>
            </a:pPr>
            <a:r>
              <a:rPr lang="en-US" sz="1650" dirty="0">
                <a:solidFill>
                  <a:srgbClr val="5C6570"/>
                </a:solidFill>
                <a:latin typeface="Arial" pitchFamily="34" charset="0"/>
                <a:ea typeface="Arial" pitchFamily="34" charset="-122"/>
                <a:cs typeface="Arial" pitchFamily="34" charset="-120"/>
              </a:rPr>
              <a:t>Hypothesis-driven</a:t>
            </a:r>
            <a:endParaRPr lang="en-US" sz="1650" dirty="0"/>
          </a:p>
        </p:txBody>
      </p:sp>
      <p:sp>
        <p:nvSpPr>
          <p:cNvPr id="26" name="Text 23"/>
          <p:cNvSpPr/>
          <p:nvPr/>
        </p:nvSpPr>
        <p:spPr>
          <a:xfrm>
            <a:off x="10587335" y="8587532"/>
            <a:ext cx="6754395" cy="285750"/>
          </a:xfrm>
          <a:prstGeom prst="rect">
            <a:avLst/>
          </a:prstGeom>
          <a:noFill/>
          <a:ln/>
        </p:spPr>
        <p:txBody>
          <a:bodyPr wrap="square" lIns="25400" tIns="25400" rIns="25400" bIns="25400" rtlCol="0" anchor="t">
            <a:normAutofit lnSpcReduction="10000"/>
          </a:bodyPr>
          <a:lstStyle/>
          <a:p>
            <a:pPr marL="0" indent="0" algn="l">
              <a:buNone/>
            </a:pPr>
            <a:r>
              <a:rPr lang="en-US" sz="1650" i="1" dirty="0">
                <a:solidFill>
                  <a:srgbClr val="8A929C"/>
                </a:solidFill>
                <a:latin typeface="Arial" pitchFamily="34" charset="0"/>
                <a:ea typeface="Arial" pitchFamily="34" charset="-122"/>
                <a:cs typeface="Arial" pitchFamily="34" charset="-120"/>
              </a:rPr>
              <a:t>Aligned with continuance-model precedent. </a:t>
            </a:r>
            <a:r>
              <a:rPr lang="en-US" sz="1155" b="1" i="1" dirty="0">
                <a:solidFill>
                  <a:srgbClr val="8A929C"/>
                </a:solidFill>
                <a:latin typeface="Arial" pitchFamily="34" charset="0"/>
                <a:ea typeface="Arial" pitchFamily="34" charset="-122"/>
                <a:cs typeface="Arial" pitchFamily="34" charset="-120"/>
              </a:rPr>
              <a:t>(Mao et al., 2023; Luo et al., 2024)</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10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SAMPLE, SIZE &amp; RECRUITMENT</a:t>
            </a:r>
            <a:endParaRPr lang="en-US" sz="1800" dirty="0"/>
          </a:p>
        </p:txBody>
      </p:sp>
      <p:sp>
        <p:nvSpPr>
          <p:cNvPr id="7" name="Text 4"/>
          <p:cNvSpPr/>
          <p:nvPr/>
        </p:nvSpPr>
        <p:spPr>
          <a:xfrm>
            <a:off x="1143000" y="1533525"/>
            <a:ext cx="15206662" cy="89817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450" b="1" kern="0" spc="-97" dirty="0">
                <a:solidFill>
                  <a:srgbClr val="111418"/>
                </a:solidFill>
                <a:latin typeface="Arial" pitchFamily="34" charset="0"/>
                <a:ea typeface="Arial" pitchFamily="34" charset="-122"/>
                <a:cs typeface="Arial" pitchFamily="34" charset="-120"/>
              </a:rPr>
              <a:t>Who we survey, how we reach them</a:t>
            </a:r>
            <a:endParaRPr lang="en-US" sz="6450" dirty="0"/>
          </a:p>
        </p:txBody>
      </p:sp>
      <p:sp>
        <p:nvSpPr>
          <p:cNvPr id="8" name="Shape 5"/>
          <p:cNvSpPr/>
          <p:nvPr/>
        </p:nvSpPr>
        <p:spPr>
          <a:xfrm>
            <a:off x="1143000" y="3003203"/>
            <a:ext cx="8355360" cy="6512719"/>
          </a:xfrm>
          <a:prstGeom prst="roundRect">
            <a:avLst>
              <a:gd name="adj" fmla="val 3218"/>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9" name="Text 6"/>
          <p:cNvSpPr/>
          <p:nvPr/>
        </p:nvSpPr>
        <p:spPr>
          <a:xfrm>
            <a:off x="1524000" y="3384203"/>
            <a:ext cx="7821161"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TARGET POPULATION</a:t>
            </a:r>
            <a:endParaRPr lang="en-US" sz="1500" dirty="0"/>
          </a:p>
        </p:txBody>
      </p:sp>
      <p:sp>
        <p:nvSpPr>
          <p:cNvPr id="10" name="Text 7"/>
          <p:cNvSpPr/>
          <p:nvPr/>
        </p:nvSpPr>
        <p:spPr>
          <a:xfrm>
            <a:off x="1524000" y="3936653"/>
            <a:ext cx="7821161" cy="879872"/>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550" b="1" dirty="0">
                <a:solidFill>
                  <a:srgbClr val="111418"/>
                </a:solidFill>
                <a:latin typeface="Arial" pitchFamily="34" charset="0"/>
                <a:ea typeface="Arial" pitchFamily="34" charset="-122"/>
                <a:cs typeface="Arial" pitchFamily="34" charset="-120"/>
              </a:rPr>
              <a:t>Adult Guyanese taxpayers who have used the Padna App at least once.</a:t>
            </a:r>
            <a:endParaRPr lang="en-US" sz="2550" dirty="0"/>
          </a:p>
        </p:txBody>
      </p:sp>
      <p:sp>
        <p:nvSpPr>
          <p:cNvPr id="11" name="Shape 8"/>
          <p:cNvSpPr/>
          <p:nvPr/>
        </p:nvSpPr>
        <p:spPr>
          <a:xfrm>
            <a:off x="1524000" y="5102275"/>
            <a:ext cx="3691830" cy="2440186"/>
          </a:xfrm>
          <a:prstGeom prst="roundRect">
            <a:avLst>
              <a:gd name="adj" fmla="val 7026"/>
            </a:avLst>
          </a:prstGeom>
          <a:solidFill>
            <a:srgbClr val="E3F6E9"/>
          </a:solidFill>
          <a:ln/>
        </p:spPr>
        <p:txBody>
          <a:bodyPr/>
          <a:lstStyle/>
          <a:p>
            <a:endParaRPr lang="en-US"/>
          </a:p>
        </p:txBody>
      </p:sp>
      <p:sp>
        <p:nvSpPr>
          <p:cNvPr id="12" name="Text 9"/>
          <p:cNvSpPr/>
          <p:nvPr/>
        </p:nvSpPr>
        <p:spPr>
          <a:xfrm>
            <a:off x="1733550" y="5311825"/>
            <a:ext cx="3370912" cy="238125"/>
          </a:xfrm>
          <a:prstGeom prst="rect">
            <a:avLst/>
          </a:prstGeom>
          <a:noFill/>
          <a:ln/>
        </p:spPr>
        <p:txBody>
          <a:bodyPr wrap="square" lIns="25400" tIns="25400" rIns="25400" bIns="25400" rtlCol="0" anchor="t">
            <a:normAutofit lnSpcReduction="10000"/>
          </a:bodyPr>
          <a:lstStyle/>
          <a:p>
            <a:pPr marL="0" indent="0" algn="l">
              <a:buNone/>
            </a:pPr>
            <a:r>
              <a:rPr lang="en-US" sz="1350" b="1" kern="0" spc="203" dirty="0">
                <a:solidFill>
                  <a:srgbClr val="127A38"/>
                </a:solidFill>
                <a:latin typeface="Arial" pitchFamily="34" charset="0"/>
                <a:ea typeface="Arial" pitchFamily="34" charset="-122"/>
                <a:cs typeface="Arial" pitchFamily="34" charset="-120"/>
              </a:rPr>
              <a:t>INCLUDE</a:t>
            </a:r>
            <a:endParaRPr lang="en-US" sz="1350" dirty="0"/>
          </a:p>
        </p:txBody>
      </p:sp>
      <p:sp>
        <p:nvSpPr>
          <p:cNvPr id="13" name="Text 10"/>
          <p:cNvSpPr/>
          <p:nvPr/>
        </p:nvSpPr>
        <p:spPr>
          <a:xfrm>
            <a:off x="1710690" y="5626150"/>
            <a:ext cx="3371790" cy="1318171"/>
          </a:xfrm>
          <a:prstGeom prst="rect">
            <a:avLst/>
          </a:prstGeom>
          <a:noFill/>
          <a:ln/>
        </p:spPr>
        <p:txBody>
          <a:bodyPr wrap="square" lIns="25400" tIns="25400" rIns="25400" bIns="25400" rtlCol="0" anchor="t">
            <a:normAutofit fontScale="92500" lnSpcReduction="20000"/>
          </a:bodyPr>
          <a:lstStyle/>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18+ years old</a:t>
            </a:r>
            <a:endParaRPr lang="en-US" sz="2400" dirty="0"/>
          </a:p>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Resident in Guyana</a:t>
            </a:r>
            <a:endParaRPr lang="en-US" sz="2400" dirty="0"/>
          </a:p>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Prior Padna use</a:t>
            </a:r>
            <a:endParaRPr lang="en-US" sz="2400" dirty="0"/>
          </a:p>
        </p:txBody>
      </p:sp>
      <p:sp>
        <p:nvSpPr>
          <p:cNvPr id="14" name="Shape 11"/>
          <p:cNvSpPr/>
          <p:nvPr/>
        </p:nvSpPr>
        <p:spPr>
          <a:xfrm>
            <a:off x="5425380" y="5102275"/>
            <a:ext cx="3691979" cy="2440186"/>
          </a:xfrm>
          <a:prstGeom prst="roundRect">
            <a:avLst>
              <a:gd name="adj" fmla="val 7026"/>
            </a:avLst>
          </a:prstGeom>
          <a:solidFill>
            <a:srgbClr val="FDE3EA"/>
          </a:solidFill>
          <a:ln/>
        </p:spPr>
        <p:txBody>
          <a:bodyPr/>
          <a:lstStyle/>
          <a:p>
            <a:endParaRPr lang="en-US"/>
          </a:p>
        </p:txBody>
      </p:sp>
      <p:sp>
        <p:nvSpPr>
          <p:cNvPr id="15" name="Text 12"/>
          <p:cNvSpPr/>
          <p:nvPr/>
        </p:nvSpPr>
        <p:spPr>
          <a:xfrm>
            <a:off x="5634930" y="5311825"/>
            <a:ext cx="3371066" cy="238125"/>
          </a:xfrm>
          <a:prstGeom prst="rect">
            <a:avLst/>
          </a:prstGeom>
          <a:noFill/>
          <a:ln/>
        </p:spPr>
        <p:txBody>
          <a:bodyPr wrap="square" lIns="25400" tIns="25400" rIns="25400" bIns="25400" rtlCol="0" anchor="t">
            <a:normAutofit lnSpcReduction="10000"/>
          </a:bodyPr>
          <a:lstStyle/>
          <a:p>
            <a:pPr marL="0" indent="0" algn="l">
              <a:buNone/>
            </a:pPr>
            <a:r>
              <a:rPr lang="en-US" sz="1350" b="1" kern="0" spc="203" dirty="0">
                <a:solidFill>
                  <a:srgbClr val="D83A5E"/>
                </a:solidFill>
                <a:latin typeface="Arial" pitchFamily="34" charset="0"/>
                <a:ea typeface="Arial" pitchFamily="34" charset="-122"/>
                <a:cs typeface="Arial" pitchFamily="34" charset="-120"/>
              </a:rPr>
              <a:t>EXCLUDE</a:t>
            </a:r>
            <a:endParaRPr lang="en-US" sz="1350" dirty="0"/>
          </a:p>
        </p:txBody>
      </p:sp>
      <p:sp>
        <p:nvSpPr>
          <p:cNvPr id="16" name="Text 13"/>
          <p:cNvSpPr/>
          <p:nvPr/>
        </p:nvSpPr>
        <p:spPr>
          <a:xfrm>
            <a:off x="5612070" y="5626150"/>
            <a:ext cx="3371939" cy="1744861"/>
          </a:xfrm>
          <a:prstGeom prst="rect">
            <a:avLst/>
          </a:prstGeom>
          <a:noFill/>
          <a:ln/>
        </p:spPr>
        <p:txBody>
          <a:bodyPr wrap="square" lIns="25400" tIns="25400" rIns="25400" bIns="25400" rtlCol="0" anchor="t">
            <a:normAutofit fontScale="92500" lnSpcReduction="20000"/>
          </a:bodyPr>
          <a:lstStyle/>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Non-users of Padna</a:t>
            </a:r>
            <a:endParaRPr lang="en-US" sz="2400" dirty="0"/>
          </a:p>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Under 18</a:t>
            </a:r>
            <a:endParaRPr lang="en-US" sz="2400" dirty="0"/>
          </a:p>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Invalid / incomplete responses</a:t>
            </a:r>
            <a:endParaRPr lang="en-US" sz="2400" dirty="0"/>
          </a:p>
        </p:txBody>
      </p:sp>
      <p:sp>
        <p:nvSpPr>
          <p:cNvPr id="17" name="Text 14"/>
          <p:cNvSpPr/>
          <p:nvPr/>
        </p:nvSpPr>
        <p:spPr>
          <a:xfrm>
            <a:off x="1524000" y="7809161"/>
            <a:ext cx="7821161"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RECRUITMENT</a:t>
            </a:r>
            <a:endParaRPr lang="en-US" sz="1500" dirty="0"/>
          </a:p>
        </p:txBody>
      </p:sp>
      <p:sp>
        <p:nvSpPr>
          <p:cNvPr id="18" name="Text 15"/>
          <p:cNvSpPr/>
          <p:nvPr/>
        </p:nvSpPr>
        <p:spPr>
          <a:xfrm>
            <a:off x="1524000" y="8266361"/>
            <a:ext cx="7821161" cy="6780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800" dirty="0">
                <a:solidFill>
                  <a:srgbClr val="2B3139"/>
                </a:solidFill>
                <a:latin typeface="Arial" pitchFamily="34" charset="0"/>
                <a:ea typeface="Arial" pitchFamily="34" charset="-122"/>
                <a:cs typeface="Arial" pitchFamily="34" charset="-120"/>
              </a:rPr>
              <a:t>Non-probability purposive + snowball distribution through professional networks, social media and taxpayer-related groups.</a:t>
            </a:r>
            <a:endParaRPr lang="en-US" sz="1800" dirty="0"/>
          </a:p>
        </p:txBody>
      </p:sp>
      <p:sp>
        <p:nvSpPr>
          <p:cNvPr id="19" name="Shape 16"/>
          <p:cNvSpPr/>
          <p:nvPr/>
        </p:nvSpPr>
        <p:spPr>
          <a:xfrm>
            <a:off x="9879360" y="3003203"/>
            <a:ext cx="7265491" cy="6512719"/>
          </a:xfrm>
          <a:prstGeom prst="roundRect">
            <a:avLst>
              <a:gd name="adj" fmla="val 3218"/>
            </a:avLst>
          </a:prstGeom>
          <a:solidFill>
            <a:srgbClr val="0A0E12"/>
          </a:solidFill>
          <a:ln/>
          <a:effectLst>
            <a:outerShdw blurRad="19050" dist="9525" dir="5400000" algn="bl" rotWithShape="0">
              <a:srgbClr val="0B3D1E">
                <a:alpha val="4000"/>
              </a:srgbClr>
            </a:outerShdw>
          </a:effectLst>
        </p:spPr>
        <p:txBody>
          <a:bodyPr/>
          <a:lstStyle/>
          <a:p>
            <a:endParaRPr lang="en-US"/>
          </a:p>
        </p:txBody>
      </p:sp>
      <p:sp>
        <p:nvSpPr>
          <p:cNvPr id="20" name="Text 17"/>
          <p:cNvSpPr/>
          <p:nvPr/>
        </p:nvSpPr>
        <p:spPr>
          <a:xfrm>
            <a:off x="10336560" y="4161383"/>
            <a:ext cx="6541624"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4DC97A"/>
                </a:solidFill>
                <a:latin typeface="Arial" pitchFamily="34" charset="0"/>
                <a:ea typeface="Arial" pitchFamily="34" charset="-122"/>
                <a:cs typeface="Arial" pitchFamily="34" charset="-120"/>
              </a:rPr>
              <a:t>SAMPLE SIZE</a:t>
            </a:r>
            <a:endParaRPr lang="en-US" sz="1500" dirty="0"/>
          </a:p>
        </p:txBody>
      </p:sp>
      <p:sp>
        <p:nvSpPr>
          <p:cNvPr id="21" name="Text 18"/>
          <p:cNvSpPr/>
          <p:nvPr/>
        </p:nvSpPr>
        <p:spPr>
          <a:xfrm>
            <a:off x="10336560" y="4580483"/>
            <a:ext cx="6284399" cy="140970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12000" b="1" kern="0" spc="-480" dirty="0">
                <a:solidFill>
                  <a:srgbClr val="FFFFFF"/>
                </a:solidFill>
                <a:latin typeface="Arial" pitchFamily="34" charset="0"/>
                <a:ea typeface="Arial" pitchFamily="34" charset="-122"/>
                <a:cs typeface="Arial" pitchFamily="34" charset="-120"/>
              </a:rPr>
              <a:t>G*Power</a:t>
            </a:r>
            <a:endParaRPr lang="en-US" sz="12000" dirty="0"/>
          </a:p>
        </p:txBody>
      </p:sp>
      <p:sp>
        <p:nvSpPr>
          <p:cNvPr id="22" name="Text 19"/>
          <p:cNvSpPr/>
          <p:nvPr/>
        </p:nvSpPr>
        <p:spPr>
          <a:xfrm>
            <a:off x="10336560" y="6142583"/>
            <a:ext cx="6541624" cy="1157883"/>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100" dirty="0">
                <a:solidFill>
                  <a:srgbClr val="FFFFFF">
                    <a:alpha val="82000"/>
                  </a:srgbClr>
                </a:solidFill>
                <a:latin typeface="Arial" pitchFamily="34" charset="0"/>
                <a:ea typeface="Arial" pitchFamily="34" charset="-122"/>
                <a:cs typeface="Arial" pitchFamily="34" charset="-120"/>
              </a:rPr>
              <a:t>Compute minimum threshold from expected effect sizes; </a:t>
            </a:r>
            <a:r>
              <a:rPr lang="en-US" sz="2100" b="1" dirty="0">
                <a:solidFill>
                  <a:srgbClr val="FFFFFF"/>
                </a:solidFill>
                <a:latin typeface="Arial" pitchFamily="34" charset="0"/>
                <a:ea typeface="Arial" pitchFamily="34" charset="-122"/>
                <a:cs typeface="Arial" pitchFamily="34" charset="-120"/>
              </a:rPr>
              <a:t>target above the minimum </a:t>
            </a:r>
            <a:r>
              <a:rPr lang="en-US" sz="2100" dirty="0">
                <a:solidFill>
                  <a:srgbClr val="FFFFFF">
                    <a:alpha val="82000"/>
                  </a:srgbClr>
                </a:solidFill>
                <a:latin typeface="Arial" pitchFamily="34" charset="0"/>
                <a:ea typeface="Arial" pitchFamily="34" charset="-122"/>
                <a:cs typeface="Arial" pitchFamily="34" charset="-120"/>
              </a:rPr>
              <a:t>for stable PLS-SEM estimates. </a:t>
            </a:r>
            <a:r>
              <a:rPr lang="en-US" sz="1470" b="1" dirty="0">
                <a:solidFill>
                  <a:srgbClr val="4DC97A"/>
                </a:solidFill>
                <a:latin typeface="Arial" pitchFamily="34" charset="0"/>
                <a:ea typeface="Arial" pitchFamily="34" charset="-122"/>
                <a:cs typeface="Arial" pitchFamily="34" charset="-120"/>
              </a:rPr>
              <a:t>(Faul et al., 2009; Cohen, 1988)</a:t>
            </a:r>
            <a:endParaRPr lang="en-US" sz="2100" dirty="0"/>
          </a:p>
        </p:txBody>
      </p:sp>
      <p:sp>
        <p:nvSpPr>
          <p:cNvPr id="23" name="Shape 20"/>
          <p:cNvSpPr/>
          <p:nvPr/>
        </p:nvSpPr>
        <p:spPr>
          <a:xfrm>
            <a:off x="10336560" y="7605266"/>
            <a:ext cx="6351091" cy="9525"/>
          </a:xfrm>
          <a:prstGeom prst="rect">
            <a:avLst/>
          </a:prstGeom>
          <a:solidFill>
            <a:srgbClr val="FFFFFF">
              <a:alpha val="12000"/>
            </a:srgbClr>
          </a:solidFill>
          <a:ln/>
        </p:spPr>
        <p:txBody>
          <a:bodyPr/>
          <a:lstStyle/>
          <a:p>
            <a:endParaRPr lang="en-US"/>
          </a:p>
        </p:txBody>
      </p:sp>
      <p:sp>
        <p:nvSpPr>
          <p:cNvPr id="24" name="Text 21"/>
          <p:cNvSpPr/>
          <p:nvPr/>
        </p:nvSpPr>
        <p:spPr>
          <a:xfrm>
            <a:off x="10336560" y="7862441"/>
            <a:ext cx="6541624" cy="53340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FFFFFF">
                    <a:alpha val="60000"/>
                  </a:srgbClr>
                </a:solidFill>
                <a:latin typeface="Arial" pitchFamily="34" charset="0"/>
                <a:ea typeface="Arial" pitchFamily="34" charset="-122"/>
                <a:cs typeface="Arial" pitchFamily="34" charset="-120"/>
              </a:rPr>
              <a:t>Acceptable for PLS-SEM with small-to-medium samples and many indicators. </a:t>
            </a:r>
            <a:r>
              <a:rPr lang="en-US" sz="1155" b="1" dirty="0">
                <a:solidFill>
                  <a:srgbClr val="FFFFFF">
                    <a:alpha val="60000"/>
                  </a:srgbClr>
                </a:solidFill>
                <a:latin typeface="Arial" pitchFamily="34" charset="0"/>
                <a:ea typeface="Arial" pitchFamily="34" charset="-122"/>
                <a:cs typeface="Arial" pitchFamily="34" charset="-120"/>
              </a:rPr>
              <a:t>(Hair &amp; Alamer, 2022)</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11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RESEARCH INSTRUMENT &amp; DATA COLLECTION</a:t>
            </a:r>
            <a:endParaRPr lang="en-US" sz="1800" dirty="0"/>
          </a:p>
        </p:txBody>
      </p:sp>
      <p:sp>
        <p:nvSpPr>
          <p:cNvPr id="7" name="Text 4"/>
          <p:cNvSpPr/>
          <p:nvPr/>
        </p:nvSpPr>
        <p:spPr>
          <a:xfrm>
            <a:off x="1143000" y="1533525"/>
            <a:ext cx="15206662" cy="1758255"/>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450" b="1" kern="0" spc="-97" dirty="0">
                <a:solidFill>
                  <a:srgbClr val="111418"/>
                </a:solidFill>
                <a:latin typeface="Arial" pitchFamily="34" charset="0"/>
                <a:ea typeface="Arial" pitchFamily="34" charset="-122"/>
                <a:cs typeface="Arial" pitchFamily="34" charset="-120"/>
              </a:rPr>
              <a:t>A structured survey, five-point scales, validated items</a:t>
            </a:r>
            <a:endParaRPr lang="en-US" sz="6450" dirty="0"/>
          </a:p>
        </p:txBody>
      </p:sp>
      <p:sp>
        <p:nvSpPr>
          <p:cNvPr id="8" name="Shape 5"/>
          <p:cNvSpPr/>
          <p:nvPr/>
        </p:nvSpPr>
        <p:spPr>
          <a:xfrm>
            <a:off x="1143000" y="3863280"/>
            <a:ext cx="8657034" cy="6712148"/>
          </a:xfrm>
          <a:prstGeom prst="roundRect">
            <a:avLst>
              <a:gd name="adj" fmla="val 3122"/>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9" name="Shape 6"/>
          <p:cNvSpPr/>
          <p:nvPr/>
        </p:nvSpPr>
        <p:spPr>
          <a:xfrm>
            <a:off x="1600200" y="5448002"/>
            <a:ext cx="7742634" cy="9525"/>
          </a:xfrm>
          <a:prstGeom prst="rect">
            <a:avLst/>
          </a:prstGeom>
          <a:solidFill>
            <a:srgbClr val="000000">
              <a:alpha val="5000"/>
            </a:srgbClr>
          </a:solidFill>
          <a:ln/>
        </p:spPr>
        <p:txBody>
          <a:bodyPr/>
          <a:lstStyle/>
          <a:p>
            <a:endParaRPr lang="en-US"/>
          </a:p>
        </p:txBody>
      </p:sp>
      <p:sp>
        <p:nvSpPr>
          <p:cNvPr id="10" name="Shape 7"/>
          <p:cNvSpPr/>
          <p:nvPr/>
        </p:nvSpPr>
        <p:spPr>
          <a:xfrm>
            <a:off x="1600200" y="4453830"/>
            <a:ext cx="419100" cy="419100"/>
          </a:xfrm>
          <a:prstGeom prst="ellipse">
            <a:avLst/>
          </a:prstGeom>
          <a:solidFill>
            <a:srgbClr val="E3F6E9"/>
          </a:solidFill>
          <a:ln/>
        </p:spPr>
        <p:txBody>
          <a:bodyPr/>
          <a:lstStyle/>
          <a:p>
            <a:endParaRPr lang="en-US"/>
          </a:p>
        </p:txBody>
      </p:sp>
      <p:sp>
        <p:nvSpPr>
          <p:cNvPr id="11" name="Text 8"/>
          <p:cNvSpPr/>
          <p:nvPr/>
        </p:nvSpPr>
        <p:spPr>
          <a:xfrm>
            <a:off x="1600200" y="4453830"/>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01</a:t>
            </a:r>
            <a:endParaRPr lang="en-US" sz="1500" dirty="0"/>
          </a:p>
        </p:txBody>
      </p:sp>
      <p:sp>
        <p:nvSpPr>
          <p:cNvPr id="12" name="Text 9"/>
          <p:cNvSpPr/>
          <p:nvPr/>
        </p:nvSpPr>
        <p:spPr>
          <a:xfrm>
            <a:off x="2228850" y="4453830"/>
            <a:ext cx="7327404" cy="860822"/>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Structured online questionnaire </a:t>
            </a:r>
            <a:r>
              <a:rPr lang="en-US" sz="2400" dirty="0">
                <a:solidFill>
                  <a:srgbClr val="2B3139"/>
                </a:solidFill>
                <a:latin typeface="Arial" pitchFamily="34" charset="0"/>
                <a:ea typeface="Arial" pitchFamily="34" charset="-122"/>
                <a:cs typeface="Arial" pitchFamily="34" charset="-120"/>
              </a:rPr>
              <a:t>with eligibility screening and digital consent.</a:t>
            </a:r>
            <a:endParaRPr lang="en-US" sz="2400" dirty="0"/>
          </a:p>
        </p:txBody>
      </p:sp>
      <p:sp>
        <p:nvSpPr>
          <p:cNvPr id="13" name="Shape 10"/>
          <p:cNvSpPr/>
          <p:nvPr/>
        </p:nvSpPr>
        <p:spPr>
          <a:xfrm>
            <a:off x="1600200" y="6623149"/>
            <a:ext cx="7742634" cy="9525"/>
          </a:xfrm>
          <a:prstGeom prst="rect">
            <a:avLst/>
          </a:prstGeom>
          <a:solidFill>
            <a:srgbClr val="000000">
              <a:alpha val="5000"/>
            </a:srgbClr>
          </a:solidFill>
          <a:ln/>
        </p:spPr>
        <p:txBody>
          <a:bodyPr/>
          <a:lstStyle/>
          <a:p>
            <a:endParaRPr lang="en-US"/>
          </a:p>
        </p:txBody>
      </p:sp>
      <p:sp>
        <p:nvSpPr>
          <p:cNvPr id="14" name="Shape 11"/>
          <p:cNvSpPr/>
          <p:nvPr/>
        </p:nvSpPr>
        <p:spPr>
          <a:xfrm>
            <a:off x="1600200" y="5628977"/>
            <a:ext cx="419100" cy="419100"/>
          </a:xfrm>
          <a:prstGeom prst="ellipse">
            <a:avLst/>
          </a:prstGeom>
          <a:solidFill>
            <a:srgbClr val="E3F6E9"/>
          </a:solidFill>
          <a:ln/>
        </p:spPr>
        <p:txBody>
          <a:bodyPr/>
          <a:lstStyle/>
          <a:p>
            <a:endParaRPr lang="en-US"/>
          </a:p>
        </p:txBody>
      </p:sp>
      <p:sp>
        <p:nvSpPr>
          <p:cNvPr id="15" name="Text 12"/>
          <p:cNvSpPr/>
          <p:nvPr/>
        </p:nvSpPr>
        <p:spPr>
          <a:xfrm>
            <a:off x="1600200" y="5628977"/>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02</a:t>
            </a:r>
            <a:endParaRPr lang="en-US" sz="1500" dirty="0"/>
          </a:p>
        </p:txBody>
      </p:sp>
      <p:sp>
        <p:nvSpPr>
          <p:cNvPr id="16" name="Text 13"/>
          <p:cNvSpPr/>
          <p:nvPr/>
        </p:nvSpPr>
        <p:spPr>
          <a:xfrm>
            <a:off x="2228850" y="5628977"/>
            <a:ext cx="7327404" cy="860822"/>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Multi-item 5-point Likert scales </a:t>
            </a:r>
            <a:r>
              <a:rPr lang="en-US" sz="2400" dirty="0">
                <a:solidFill>
                  <a:srgbClr val="2B3139"/>
                </a:solidFill>
                <a:latin typeface="Arial" pitchFamily="34" charset="0"/>
                <a:ea typeface="Arial" pitchFamily="34" charset="-122"/>
                <a:cs typeface="Arial" pitchFamily="34" charset="-120"/>
              </a:rPr>
              <a:t>adapted from validated academic sources. </a:t>
            </a:r>
            <a:r>
              <a:rPr lang="en-US" sz="1680" b="1" dirty="0">
                <a:solidFill>
                  <a:srgbClr val="8A929C"/>
                </a:solidFill>
                <a:latin typeface="Arial" pitchFamily="34" charset="0"/>
                <a:ea typeface="Arial" pitchFamily="34" charset="-122"/>
                <a:cs typeface="Arial" pitchFamily="34" charset="-120"/>
              </a:rPr>
              <a:t>(Slade et al., 2015)</a:t>
            </a:r>
            <a:endParaRPr lang="en-US" sz="2400" dirty="0"/>
          </a:p>
        </p:txBody>
      </p:sp>
      <p:sp>
        <p:nvSpPr>
          <p:cNvPr id="17" name="Shape 14"/>
          <p:cNvSpPr/>
          <p:nvPr/>
        </p:nvSpPr>
        <p:spPr>
          <a:xfrm>
            <a:off x="1600200" y="8209657"/>
            <a:ext cx="7742634" cy="9525"/>
          </a:xfrm>
          <a:prstGeom prst="rect">
            <a:avLst/>
          </a:prstGeom>
          <a:solidFill>
            <a:srgbClr val="000000">
              <a:alpha val="5000"/>
            </a:srgbClr>
          </a:solidFill>
          <a:ln/>
        </p:spPr>
        <p:txBody>
          <a:bodyPr/>
          <a:lstStyle/>
          <a:p>
            <a:endParaRPr lang="en-US"/>
          </a:p>
        </p:txBody>
      </p:sp>
      <p:sp>
        <p:nvSpPr>
          <p:cNvPr id="18" name="Shape 15"/>
          <p:cNvSpPr/>
          <p:nvPr/>
        </p:nvSpPr>
        <p:spPr>
          <a:xfrm>
            <a:off x="1600200" y="6804124"/>
            <a:ext cx="419100" cy="419100"/>
          </a:xfrm>
          <a:prstGeom prst="ellipse">
            <a:avLst/>
          </a:prstGeom>
          <a:solidFill>
            <a:srgbClr val="E3F6E9"/>
          </a:solidFill>
          <a:ln/>
        </p:spPr>
        <p:txBody>
          <a:bodyPr/>
          <a:lstStyle/>
          <a:p>
            <a:endParaRPr lang="en-US"/>
          </a:p>
        </p:txBody>
      </p:sp>
      <p:sp>
        <p:nvSpPr>
          <p:cNvPr id="19" name="Text 16"/>
          <p:cNvSpPr/>
          <p:nvPr/>
        </p:nvSpPr>
        <p:spPr>
          <a:xfrm>
            <a:off x="1600200" y="6804124"/>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03</a:t>
            </a:r>
            <a:endParaRPr lang="en-US" sz="1500" dirty="0"/>
          </a:p>
        </p:txBody>
      </p:sp>
      <p:sp>
        <p:nvSpPr>
          <p:cNvPr id="20" name="Text 17"/>
          <p:cNvSpPr/>
          <p:nvPr/>
        </p:nvSpPr>
        <p:spPr>
          <a:xfrm>
            <a:off x="2228850" y="6804124"/>
            <a:ext cx="7327404" cy="1272183"/>
          </a:xfrm>
          <a:prstGeom prst="rect">
            <a:avLst/>
          </a:prstGeom>
          <a:noFill/>
          <a:ln/>
        </p:spPr>
        <p:txBody>
          <a:bodyPr wrap="square" lIns="25400" tIns="25400" rIns="25400" bIns="25400" rtlCol="0" anchor="t">
            <a:normAutofit fontScale="92500"/>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Sections: </a:t>
            </a:r>
            <a:r>
              <a:rPr lang="en-US" sz="2400" dirty="0">
                <a:solidFill>
                  <a:srgbClr val="2B3139"/>
                </a:solidFill>
                <a:latin typeface="Arial" pitchFamily="34" charset="0"/>
                <a:ea typeface="Arial" pitchFamily="34" charset="-122"/>
                <a:cs typeface="Arial" pitchFamily="34" charset="-120"/>
              </a:rPr>
              <a:t>demographics, usage frequency, ECM &amp; UTAUT2 constructs, trust/security, continuance intention.</a:t>
            </a:r>
            <a:endParaRPr lang="en-US" sz="2400" dirty="0"/>
          </a:p>
        </p:txBody>
      </p:sp>
      <p:sp>
        <p:nvSpPr>
          <p:cNvPr id="21" name="Shape 18"/>
          <p:cNvSpPr/>
          <p:nvPr/>
        </p:nvSpPr>
        <p:spPr>
          <a:xfrm>
            <a:off x="1600200" y="9384804"/>
            <a:ext cx="7742634" cy="9525"/>
          </a:xfrm>
          <a:prstGeom prst="rect">
            <a:avLst/>
          </a:prstGeom>
          <a:solidFill>
            <a:srgbClr val="000000">
              <a:alpha val="5000"/>
            </a:srgbClr>
          </a:solidFill>
          <a:ln/>
        </p:spPr>
        <p:txBody>
          <a:bodyPr/>
          <a:lstStyle/>
          <a:p>
            <a:endParaRPr lang="en-US"/>
          </a:p>
        </p:txBody>
      </p:sp>
      <p:sp>
        <p:nvSpPr>
          <p:cNvPr id="22" name="Shape 19"/>
          <p:cNvSpPr/>
          <p:nvPr/>
        </p:nvSpPr>
        <p:spPr>
          <a:xfrm>
            <a:off x="1600200" y="8390632"/>
            <a:ext cx="419100" cy="419100"/>
          </a:xfrm>
          <a:prstGeom prst="ellipse">
            <a:avLst/>
          </a:prstGeom>
          <a:solidFill>
            <a:srgbClr val="E3F6E9"/>
          </a:solidFill>
          <a:ln/>
        </p:spPr>
        <p:txBody>
          <a:bodyPr/>
          <a:lstStyle/>
          <a:p>
            <a:endParaRPr lang="en-US"/>
          </a:p>
        </p:txBody>
      </p:sp>
      <p:sp>
        <p:nvSpPr>
          <p:cNvPr id="23" name="Text 20"/>
          <p:cNvSpPr/>
          <p:nvPr/>
        </p:nvSpPr>
        <p:spPr>
          <a:xfrm>
            <a:off x="1600200" y="8390632"/>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04</a:t>
            </a:r>
            <a:endParaRPr lang="en-US" sz="1500" dirty="0"/>
          </a:p>
        </p:txBody>
      </p:sp>
      <p:sp>
        <p:nvSpPr>
          <p:cNvPr id="24" name="Text 21"/>
          <p:cNvSpPr/>
          <p:nvPr/>
        </p:nvSpPr>
        <p:spPr>
          <a:xfrm>
            <a:off x="2228850" y="8390632"/>
            <a:ext cx="7327404" cy="860822"/>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Pilot testing </a:t>
            </a:r>
            <a:r>
              <a:rPr lang="en-US" sz="2400" dirty="0">
                <a:solidFill>
                  <a:srgbClr val="2B3139"/>
                </a:solidFill>
                <a:latin typeface="Arial" pitchFamily="34" charset="0"/>
                <a:ea typeface="Arial" pitchFamily="34" charset="-122"/>
                <a:cs typeface="Arial" pitchFamily="34" charset="-120"/>
              </a:rPr>
              <a:t>— clarity, reliability, ambiguity, time-to-complete.</a:t>
            </a:r>
            <a:endParaRPr lang="en-US" sz="2400" dirty="0"/>
          </a:p>
        </p:txBody>
      </p:sp>
      <p:sp>
        <p:nvSpPr>
          <p:cNvPr id="25" name="Shape 22"/>
          <p:cNvSpPr/>
          <p:nvPr/>
        </p:nvSpPr>
        <p:spPr>
          <a:xfrm>
            <a:off x="1600200" y="9565779"/>
            <a:ext cx="419100" cy="419100"/>
          </a:xfrm>
          <a:prstGeom prst="ellipse">
            <a:avLst/>
          </a:prstGeom>
          <a:solidFill>
            <a:srgbClr val="E3F6E9"/>
          </a:solidFill>
          <a:ln/>
        </p:spPr>
        <p:txBody>
          <a:bodyPr/>
          <a:lstStyle/>
          <a:p>
            <a:endParaRPr lang="en-US"/>
          </a:p>
        </p:txBody>
      </p:sp>
      <p:sp>
        <p:nvSpPr>
          <p:cNvPr id="26" name="Text 23"/>
          <p:cNvSpPr/>
          <p:nvPr/>
        </p:nvSpPr>
        <p:spPr>
          <a:xfrm>
            <a:off x="1600200" y="9565779"/>
            <a:ext cx="495300" cy="457200"/>
          </a:xfrm>
          <a:prstGeom prst="rect">
            <a:avLst/>
          </a:prstGeom>
          <a:noFill/>
          <a:ln/>
        </p:spPr>
        <p:txBody>
          <a:bodyPr wrap="square" lIns="25400" tIns="25400" rIns="25400" bIns="25400" rtlCol="0" anchor="t">
            <a:normAutofit/>
          </a:bodyPr>
          <a:lstStyle/>
          <a:p>
            <a:pPr marL="0" indent="0" algn="l">
              <a:lnSpc>
                <a:spcPct val="140000"/>
              </a:lnSpc>
              <a:buNone/>
            </a:pPr>
            <a:r>
              <a:rPr lang="en-US" sz="1500" b="1" dirty="0">
                <a:solidFill>
                  <a:srgbClr val="127A38"/>
                </a:solidFill>
                <a:latin typeface="Arial" pitchFamily="34" charset="0"/>
                <a:ea typeface="Arial" pitchFamily="34" charset="-122"/>
                <a:cs typeface="Arial" pitchFamily="34" charset="-120"/>
              </a:rPr>
              <a:t>05</a:t>
            </a:r>
            <a:endParaRPr lang="en-US" sz="1500" dirty="0"/>
          </a:p>
        </p:txBody>
      </p:sp>
      <p:sp>
        <p:nvSpPr>
          <p:cNvPr id="27" name="Text 24"/>
          <p:cNvSpPr/>
          <p:nvPr/>
        </p:nvSpPr>
        <p:spPr>
          <a:xfrm>
            <a:off x="2228850" y="9565779"/>
            <a:ext cx="7327404" cy="449461"/>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400" b="1" dirty="0">
                <a:solidFill>
                  <a:srgbClr val="111418"/>
                </a:solidFill>
                <a:latin typeface="Arial" pitchFamily="34" charset="0"/>
                <a:ea typeface="Arial" pitchFamily="34" charset="-122"/>
                <a:cs typeface="Arial" pitchFamily="34" charset="-120"/>
              </a:rPr>
              <a:t>No identifiable tax data: </a:t>
            </a:r>
            <a:r>
              <a:rPr lang="en-US" sz="2400" dirty="0">
                <a:solidFill>
                  <a:srgbClr val="2B3139"/>
                </a:solidFill>
                <a:latin typeface="Arial" pitchFamily="34" charset="0"/>
                <a:ea typeface="Arial" pitchFamily="34" charset="-122"/>
                <a:cs typeface="Arial" pitchFamily="34" charset="-120"/>
              </a:rPr>
              <a:t>no TINs, no names.</a:t>
            </a:r>
            <a:endParaRPr lang="en-US" sz="2400" dirty="0"/>
          </a:p>
        </p:txBody>
      </p:sp>
      <p:sp>
        <p:nvSpPr>
          <p:cNvPr id="28" name="Shape 25"/>
          <p:cNvSpPr/>
          <p:nvPr/>
        </p:nvSpPr>
        <p:spPr>
          <a:xfrm>
            <a:off x="10219134" y="3863280"/>
            <a:ext cx="6925717" cy="3501330"/>
          </a:xfrm>
          <a:prstGeom prst="roundRect">
            <a:avLst>
              <a:gd name="adj" fmla="val 5985"/>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29" name="Text 26"/>
          <p:cNvSpPr/>
          <p:nvPr/>
        </p:nvSpPr>
        <p:spPr>
          <a:xfrm>
            <a:off x="10600134" y="4296668"/>
            <a:ext cx="3909277"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198" dirty="0">
                <a:solidFill>
                  <a:srgbClr val="0E9F43"/>
                </a:solidFill>
                <a:latin typeface="Arial" pitchFamily="34" charset="0"/>
                <a:ea typeface="Arial" pitchFamily="34" charset="-122"/>
                <a:cs typeface="Arial" pitchFamily="34" charset="-120"/>
              </a:rPr>
              <a:t>SAMPLE ITEM · SATISFACTION</a:t>
            </a:r>
            <a:endParaRPr lang="en-US" sz="1650" dirty="0"/>
          </a:p>
        </p:txBody>
      </p:sp>
      <p:sp>
        <p:nvSpPr>
          <p:cNvPr id="30" name="Shape 27"/>
          <p:cNvSpPr/>
          <p:nvPr/>
        </p:nvSpPr>
        <p:spPr>
          <a:xfrm>
            <a:off x="15865376" y="4244280"/>
            <a:ext cx="898475" cy="352425"/>
          </a:xfrm>
          <a:prstGeom prst="roundRect">
            <a:avLst>
              <a:gd name="adj" fmla="val 50000"/>
            </a:avLst>
          </a:prstGeom>
          <a:solidFill>
            <a:srgbClr val="E3F6E9"/>
          </a:solidFill>
          <a:ln/>
        </p:spPr>
        <p:txBody>
          <a:bodyPr/>
          <a:lstStyle/>
          <a:p>
            <a:endParaRPr lang="en-US"/>
          </a:p>
        </p:txBody>
      </p:sp>
      <p:sp>
        <p:nvSpPr>
          <p:cNvPr id="31" name="Text 28"/>
          <p:cNvSpPr/>
          <p:nvPr/>
        </p:nvSpPr>
        <p:spPr>
          <a:xfrm>
            <a:off x="15998726" y="4320480"/>
            <a:ext cx="707975" cy="238125"/>
          </a:xfrm>
          <a:prstGeom prst="rect">
            <a:avLst/>
          </a:prstGeom>
          <a:noFill/>
          <a:ln/>
        </p:spPr>
        <p:txBody>
          <a:bodyPr wrap="square" lIns="25400" tIns="25400" rIns="25400" bIns="25400" rtlCol="0" anchor="ctr">
            <a:normAutofit lnSpcReduction="10000"/>
          </a:bodyPr>
          <a:lstStyle/>
          <a:p>
            <a:pPr marL="0" indent="0" algn="l">
              <a:buNone/>
            </a:pPr>
            <a:r>
              <a:rPr lang="en-US" sz="1350" b="1" dirty="0">
                <a:solidFill>
                  <a:srgbClr val="127A38"/>
                </a:solidFill>
                <a:latin typeface="Arial" pitchFamily="34" charset="0"/>
                <a:ea typeface="Arial" pitchFamily="34" charset="-122"/>
                <a:cs typeface="Arial" pitchFamily="34" charset="-120"/>
              </a:rPr>
              <a:t>SAT-02</a:t>
            </a:r>
            <a:endParaRPr lang="en-US" sz="1350" dirty="0"/>
          </a:p>
        </p:txBody>
      </p:sp>
      <p:sp>
        <p:nvSpPr>
          <p:cNvPr id="32" name="Text 29"/>
          <p:cNvSpPr/>
          <p:nvPr/>
        </p:nvSpPr>
        <p:spPr>
          <a:xfrm>
            <a:off x="10600134" y="4844355"/>
            <a:ext cx="6348628" cy="75813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100" b="1" dirty="0">
                <a:solidFill>
                  <a:srgbClr val="111418"/>
                </a:solidFill>
                <a:latin typeface="Arial" pitchFamily="34" charset="0"/>
                <a:ea typeface="Arial" pitchFamily="34" charset="-122"/>
                <a:cs typeface="Arial" pitchFamily="34" charset="-120"/>
              </a:rPr>
              <a:t>"Overall, my experience using the Padna App has been satisfying."</a:t>
            </a:r>
            <a:endParaRPr lang="en-US" sz="2100" dirty="0"/>
          </a:p>
        </p:txBody>
      </p:sp>
      <p:sp>
        <p:nvSpPr>
          <p:cNvPr id="33" name="Shape 30"/>
          <p:cNvSpPr/>
          <p:nvPr/>
        </p:nvSpPr>
        <p:spPr>
          <a:xfrm>
            <a:off x="10600134" y="5869186"/>
            <a:ext cx="1156543" cy="1114425"/>
          </a:xfrm>
          <a:prstGeom prst="roundRect">
            <a:avLst>
              <a:gd name="adj" fmla="val 11966"/>
            </a:avLst>
          </a:prstGeom>
          <a:solidFill>
            <a:srgbClr val="F7F8FA"/>
          </a:solidFill>
          <a:ln/>
        </p:spPr>
        <p:txBody>
          <a:bodyPr/>
          <a:lstStyle/>
          <a:p>
            <a:endParaRPr lang="en-US"/>
          </a:p>
        </p:txBody>
      </p:sp>
      <p:sp>
        <p:nvSpPr>
          <p:cNvPr id="34" name="Text 31"/>
          <p:cNvSpPr/>
          <p:nvPr/>
        </p:nvSpPr>
        <p:spPr>
          <a:xfrm>
            <a:off x="10638234" y="6021586"/>
            <a:ext cx="1080343" cy="428625"/>
          </a:xfrm>
          <a:prstGeom prst="rect">
            <a:avLst/>
          </a:prstGeom>
          <a:noFill/>
          <a:ln/>
        </p:spPr>
        <p:txBody>
          <a:bodyPr wrap="square" lIns="25400" tIns="25400" rIns="25400" bIns="25400" rtlCol="0" anchor="t">
            <a:normAutofit/>
          </a:bodyPr>
          <a:lstStyle/>
          <a:p>
            <a:pPr marL="0" indent="0" algn="ctr">
              <a:buNone/>
            </a:pPr>
            <a:r>
              <a:rPr lang="en-US" sz="2250" b="1" dirty="0">
                <a:solidFill>
                  <a:srgbClr val="111418"/>
                </a:solidFill>
                <a:latin typeface="Arial" pitchFamily="34" charset="0"/>
                <a:ea typeface="Arial" pitchFamily="34" charset="-122"/>
                <a:cs typeface="Arial" pitchFamily="34" charset="-120"/>
              </a:rPr>
              <a:t>1</a:t>
            </a:r>
            <a:endParaRPr lang="en-US" sz="2250" dirty="0"/>
          </a:p>
        </p:txBody>
      </p:sp>
      <p:sp>
        <p:nvSpPr>
          <p:cNvPr id="35" name="Text 32"/>
          <p:cNvSpPr/>
          <p:nvPr/>
        </p:nvSpPr>
        <p:spPr>
          <a:xfrm>
            <a:off x="10638234" y="6450211"/>
            <a:ext cx="1080343" cy="419100"/>
          </a:xfrm>
          <a:prstGeom prst="rect">
            <a:avLst/>
          </a:prstGeom>
          <a:noFill/>
          <a:ln/>
        </p:spPr>
        <p:txBody>
          <a:bodyPr wrap="square" lIns="25400" tIns="25400" rIns="25400" bIns="25400" rtlCol="0" anchor="t">
            <a:normAutofit/>
          </a:bodyPr>
          <a:lstStyle/>
          <a:p>
            <a:pPr marL="0" indent="0" algn="ctr">
              <a:buNone/>
            </a:pPr>
            <a:r>
              <a:rPr lang="en-US" sz="1200" b="1" dirty="0">
                <a:solidFill>
                  <a:srgbClr val="8A929C"/>
                </a:solidFill>
                <a:latin typeface="Arial" pitchFamily="34" charset="0"/>
                <a:ea typeface="Arial" pitchFamily="34" charset="-122"/>
                <a:cs typeface="Arial" pitchFamily="34" charset="-120"/>
              </a:rPr>
              <a:t>Strongly disagree</a:t>
            </a:r>
            <a:endParaRPr lang="en-US" sz="1200" dirty="0"/>
          </a:p>
        </p:txBody>
      </p:sp>
      <p:sp>
        <p:nvSpPr>
          <p:cNvPr id="36" name="Shape 33"/>
          <p:cNvSpPr/>
          <p:nvPr/>
        </p:nvSpPr>
        <p:spPr>
          <a:xfrm>
            <a:off x="11851928" y="5869186"/>
            <a:ext cx="1156543" cy="1114425"/>
          </a:xfrm>
          <a:prstGeom prst="roundRect">
            <a:avLst>
              <a:gd name="adj" fmla="val 11966"/>
            </a:avLst>
          </a:prstGeom>
          <a:solidFill>
            <a:srgbClr val="F7F8FA"/>
          </a:solidFill>
          <a:ln/>
        </p:spPr>
        <p:txBody>
          <a:bodyPr/>
          <a:lstStyle/>
          <a:p>
            <a:endParaRPr lang="en-US"/>
          </a:p>
        </p:txBody>
      </p:sp>
      <p:sp>
        <p:nvSpPr>
          <p:cNvPr id="37" name="Text 34"/>
          <p:cNvSpPr/>
          <p:nvPr/>
        </p:nvSpPr>
        <p:spPr>
          <a:xfrm>
            <a:off x="11890028" y="6021586"/>
            <a:ext cx="1080343" cy="428625"/>
          </a:xfrm>
          <a:prstGeom prst="rect">
            <a:avLst/>
          </a:prstGeom>
          <a:noFill/>
          <a:ln/>
        </p:spPr>
        <p:txBody>
          <a:bodyPr wrap="square" lIns="25400" tIns="25400" rIns="25400" bIns="25400" rtlCol="0" anchor="t">
            <a:normAutofit/>
          </a:bodyPr>
          <a:lstStyle/>
          <a:p>
            <a:pPr marL="0" indent="0" algn="ctr">
              <a:buNone/>
            </a:pPr>
            <a:r>
              <a:rPr lang="en-US" sz="2250" b="1" dirty="0">
                <a:solidFill>
                  <a:srgbClr val="111418"/>
                </a:solidFill>
                <a:latin typeface="Arial" pitchFamily="34" charset="0"/>
                <a:ea typeface="Arial" pitchFamily="34" charset="-122"/>
                <a:cs typeface="Arial" pitchFamily="34" charset="-120"/>
              </a:rPr>
              <a:t>2</a:t>
            </a:r>
            <a:endParaRPr lang="en-US" sz="2250" dirty="0"/>
          </a:p>
        </p:txBody>
      </p:sp>
      <p:sp>
        <p:nvSpPr>
          <p:cNvPr id="38" name="Text 35"/>
          <p:cNvSpPr/>
          <p:nvPr/>
        </p:nvSpPr>
        <p:spPr>
          <a:xfrm>
            <a:off x="11890028" y="6450211"/>
            <a:ext cx="1080343" cy="228600"/>
          </a:xfrm>
          <a:prstGeom prst="rect">
            <a:avLst/>
          </a:prstGeom>
          <a:noFill/>
          <a:ln/>
        </p:spPr>
        <p:txBody>
          <a:bodyPr wrap="square" lIns="25400" tIns="25400" rIns="25400" bIns="25400" rtlCol="0" anchor="t">
            <a:normAutofit lnSpcReduction="10000"/>
          </a:bodyPr>
          <a:lstStyle/>
          <a:p>
            <a:pPr marL="0" indent="0" algn="ctr">
              <a:buNone/>
            </a:pPr>
            <a:r>
              <a:rPr lang="en-US" sz="1200" b="1" dirty="0">
                <a:solidFill>
                  <a:srgbClr val="8A929C"/>
                </a:solidFill>
                <a:latin typeface="Arial" pitchFamily="34" charset="0"/>
                <a:ea typeface="Arial" pitchFamily="34" charset="-122"/>
                <a:cs typeface="Arial" pitchFamily="34" charset="-120"/>
              </a:rPr>
              <a:t>Disagree</a:t>
            </a:r>
            <a:endParaRPr lang="en-US" sz="1200" dirty="0"/>
          </a:p>
        </p:txBody>
      </p:sp>
      <p:sp>
        <p:nvSpPr>
          <p:cNvPr id="39" name="Shape 36"/>
          <p:cNvSpPr/>
          <p:nvPr/>
        </p:nvSpPr>
        <p:spPr>
          <a:xfrm>
            <a:off x="13103721" y="5869186"/>
            <a:ext cx="1156543" cy="1114425"/>
          </a:xfrm>
          <a:prstGeom prst="roundRect">
            <a:avLst>
              <a:gd name="adj" fmla="val 11966"/>
            </a:avLst>
          </a:prstGeom>
          <a:solidFill>
            <a:srgbClr val="F7F8FA"/>
          </a:solidFill>
          <a:ln/>
        </p:spPr>
        <p:txBody>
          <a:bodyPr/>
          <a:lstStyle/>
          <a:p>
            <a:endParaRPr lang="en-US"/>
          </a:p>
        </p:txBody>
      </p:sp>
      <p:sp>
        <p:nvSpPr>
          <p:cNvPr id="40" name="Text 37"/>
          <p:cNvSpPr/>
          <p:nvPr/>
        </p:nvSpPr>
        <p:spPr>
          <a:xfrm>
            <a:off x="13141821" y="6021586"/>
            <a:ext cx="1080343" cy="428625"/>
          </a:xfrm>
          <a:prstGeom prst="rect">
            <a:avLst/>
          </a:prstGeom>
          <a:noFill/>
          <a:ln/>
        </p:spPr>
        <p:txBody>
          <a:bodyPr wrap="square" lIns="25400" tIns="25400" rIns="25400" bIns="25400" rtlCol="0" anchor="t">
            <a:normAutofit/>
          </a:bodyPr>
          <a:lstStyle/>
          <a:p>
            <a:pPr marL="0" indent="0" algn="ctr">
              <a:buNone/>
            </a:pPr>
            <a:r>
              <a:rPr lang="en-US" sz="2250" b="1" dirty="0">
                <a:solidFill>
                  <a:srgbClr val="111418"/>
                </a:solidFill>
                <a:latin typeface="Arial" pitchFamily="34" charset="0"/>
                <a:ea typeface="Arial" pitchFamily="34" charset="-122"/>
                <a:cs typeface="Arial" pitchFamily="34" charset="-120"/>
              </a:rPr>
              <a:t>3</a:t>
            </a:r>
            <a:endParaRPr lang="en-US" sz="2250" dirty="0"/>
          </a:p>
        </p:txBody>
      </p:sp>
      <p:sp>
        <p:nvSpPr>
          <p:cNvPr id="41" name="Text 38"/>
          <p:cNvSpPr/>
          <p:nvPr/>
        </p:nvSpPr>
        <p:spPr>
          <a:xfrm>
            <a:off x="13141821" y="6450211"/>
            <a:ext cx="1080343" cy="228600"/>
          </a:xfrm>
          <a:prstGeom prst="rect">
            <a:avLst/>
          </a:prstGeom>
          <a:noFill/>
          <a:ln/>
        </p:spPr>
        <p:txBody>
          <a:bodyPr wrap="square" lIns="25400" tIns="25400" rIns="25400" bIns="25400" rtlCol="0" anchor="t">
            <a:normAutofit lnSpcReduction="10000"/>
          </a:bodyPr>
          <a:lstStyle/>
          <a:p>
            <a:pPr marL="0" indent="0" algn="ctr">
              <a:buNone/>
            </a:pPr>
            <a:r>
              <a:rPr lang="en-US" sz="1200" b="1" dirty="0">
                <a:solidFill>
                  <a:srgbClr val="8A929C"/>
                </a:solidFill>
                <a:latin typeface="Arial" pitchFamily="34" charset="0"/>
                <a:ea typeface="Arial" pitchFamily="34" charset="-122"/>
                <a:cs typeface="Arial" pitchFamily="34" charset="-120"/>
              </a:rPr>
              <a:t>Neutral</a:t>
            </a:r>
            <a:endParaRPr lang="en-US" sz="1200" dirty="0"/>
          </a:p>
        </p:txBody>
      </p:sp>
      <p:sp>
        <p:nvSpPr>
          <p:cNvPr id="42" name="Shape 39"/>
          <p:cNvSpPr/>
          <p:nvPr/>
        </p:nvSpPr>
        <p:spPr>
          <a:xfrm>
            <a:off x="14355514" y="5869186"/>
            <a:ext cx="1156543" cy="1114425"/>
          </a:xfrm>
          <a:prstGeom prst="roundRect">
            <a:avLst>
              <a:gd name="adj" fmla="val 11966"/>
            </a:avLst>
          </a:prstGeom>
          <a:solidFill>
            <a:srgbClr val="14B24B"/>
          </a:solidFill>
          <a:ln/>
        </p:spPr>
        <p:txBody>
          <a:bodyPr/>
          <a:lstStyle/>
          <a:p>
            <a:endParaRPr lang="en-US"/>
          </a:p>
        </p:txBody>
      </p:sp>
      <p:sp>
        <p:nvSpPr>
          <p:cNvPr id="43" name="Text 40"/>
          <p:cNvSpPr/>
          <p:nvPr/>
        </p:nvSpPr>
        <p:spPr>
          <a:xfrm>
            <a:off x="14393614" y="6021586"/>
            <a:ext cx="1080343" cy="428625"/>
          </a:xfrm>
          <a:prstGeom prst="rect">
            <a:avLst/>
          </a:prstGeom>
          <a:noFill/>
          <a:ln/>
        </p:spPr>
        <p:txBody>
          <a:bodyPr wrap="square" lIns="25400" tIns="25400" rIns="25400" bIns="25400" rtlCol="0" anchor="t">
            <a:normAutofit/>
          </a:bodyPr>
          <a:lstStyle/>
          <a:p>
            <a:pPr marL="0" indent="0" algn="ctr">
              <a:buNone/>
            </a:pPr>
            <a:r>
              <a:rPr lang="en-US" sz="2250" b="1" dirty="0">
                <a:solidFill>
                  <a:srgbClr val="FFFFFF"/>
                </a:solidFill>
                <a:latin typeface="Arial" pitchFamily="34" charset="0"/>
                <a:ea typeface="Arial" pitchFamily="34" charset="-122"/>
                <a:cs typeface="Arial" pitchFamily="34" charset="-120"/>
              </a:rPr>
              <a:t>4</a:t>
            </a:r>
            <a:endParaRPr lang="en-US" sz="2250" dirty="0"/>
          </a:p>
        </p:txBody>
      </p:sp>
      <p:sp>
        <p:nvSpPr>
          <p:cNvPr id="44" name="Text 41"/>
          <p:cNvSpPr/>
          <p:nvPr/>
        </p:nvSpPr>
        <p:spPr>
          <a:xfrm>
            <a:off x="14393614" y="6450211"/>
            <a:ext cx="1080343" cy="228600"/>
          </a:xfrm>
          <a:prstGeom prst="rect">
            <a:avLst/>
          </a:prstGeom>
          <a:noFill/>
          <a:ln/>
        </p:spPr>
        <p:txBody>
          <a:bodyPr wrap="square" lIns="25400" tIns="25400" rIns="25400" bIns="25400" rtlCol="0" anchor="t">
            <a:normAutofit lnSpcReduction="10000"/>
          </a:bodyPr>
          <a:lstStyle/>
          <a:p>
            <a:pPr marL="0" indent="0" algn="ctr">
              <a:buNone/>
            </a:pPr>
            <a:r>
              <a:rPr lang="en-US" sz="1200" b="1" dirty="0">
                <a:solidFill>
                  <a:srgbClr val="FFFFFF">
                    <a:alpha val="90000"/>
                  </a:srgbClr>
                </a:solidFill>
                <a:latin typeface="Arial" pitchFamily="34" charset="0"/>
                <a:ea typeface="Arial" pitchFamily="34" charset="-122"/>
                <a:cs typeface="Arial" pitchFamily="34" charset="-120"/>
              </a:rPr>
              <a:t>Agree</a:t>
            </a:r>
            <a:endParaRPr lang="en-US" sz="1200" dirty="0"/>
          </a:p>
        </p:txBody>
      </p:sp>
      <p:sp>
        <p:nvSpPr>
          <p:cNvPr id="45" name="Shape 42"/>
          <p:cNvSpPr/>
          <p:nvPr/>
        </p:nvSpPr>
        <p:spPr>
          <a:xfrm>
            <a:off x="15607308" y="5869186"/>
            <a:ext cx="1156543" cy="1114425"/>
          </a:xfrm>
          <a:prstGeom prst="roundRect">
            <a:avLst>
              <a:gd name="adj" fmla="val 11966"/>
            </a:avLst>
          </a:prstGeom>
          <a:solidFill>
            <a:srgbClr val="F7F8FA"/>
          </a:solidFill>
          <a:ln/>
        </p:spPr>
        <p:txBody>
          <a:bodyPr/>
          <a:lstStyle/>
          <a:p>
            <a:endParaRPr lang="en-US"/>
          </a:p>
        </p:txBody>
      </p:sp>
      <p:sp>
        <p:nvSpPr>
          <p:cNvPr id="46" name="Text 43"/>
          <p:cNvSpPr/>
          <p:nvPr/>
        </p:nvSpPr>
        <p:spPr>
          <a:xfrm>
            <a:off x="15645408" y="6021586"/>
            <a:ext cx="1080343" cy="428625"/>
          </a:xfrm>
          <a:prstGeom prst="rect">
            <a:avLst/>
          </a:prstGeom>
          <a:noFill/>
          <a:ln/>
        </p:spPr>
        <p:txBody>
          <a:bodyPr wrap="square" lIns="25400" tIns="25400" rIns="25400" bIns="25400" rtlCol="0" anchor="t">
            <a:normAutofit/>
          </a:bodyPr>
          <a:lstStyle/>
          <a:p>
            <a:pPr marL="0" indent="0" algn="ctr">
              <a:buNone/>
            </a:pPr>
            <a:r>
              <a:rPr lang="en-US" sz="2250" b="1" dirty="0">
                <a:solidFill>
                  <a:srgbClr val="111418"/>
                </a:solidFill>
                <a:latin typeface="Arial" pitchFamily="34" charset="0"/>
                <a:ea typeface="Arial" pitchFamily="34" charset="-122"/>
                <a:cs typeface="Arial" pitchFamily="34" charset="-120"/>
              </a:rPr>
              <a:t>5</a:t>
            </a:r>
            <a:endParaRPr lang="en-US" sz="2250" dirty="0"/>
          </a:p>
        </p:txBody>
      </p:sp>
      <p:sp>
        <p:nvSpPr>
          <p:cNvPr id="47" name="Text 44"/>
          <p:cNvSpPr/>
          <p:nvPr/>
        </p:nvSpPr>
        <p:spPr>
          <a:xfrm>
            <a:off x="15645408" y="6450211"/>
            <a:ext cx="1080343" cy="419100"/>
          </a:xfrm>
          <a:prstGeom prst="rect">
            <a:avLst/>
          </a:prstGeom>
          <a:noFill/>
          <a:ln/>
        </p:spPr>
        <p:txBody>
          <a:bodyPr wrap="square" lIns="25400" tIns="25400" rIns="25400" bIns="25400" rtlCol="0" anchor="t">
            <a:normAutofit/>
          </a:bodyPr>
          <a:lstStyle/>
          <a:p>
            <a:pPr marL="0" indent="0" algn="ctr">
              <a:buNone/>
            </a:pPr>
            <a:r>
              <a:rPr lang="en-US" sz="1200" b="1" dirty="0">
                <a:solidFill>
                  <a:srgbClr val="8A929C"/>
                </a:solidFill>
                <a:latin typeface="Arial" pitchFamily="34" charset="0"/>
                <a:ea typeface="Arial" pitchFamily="34" charset="-122"/>
                <a:cs typeface="Arial" pitchFamily="34" charset="-120"/>
              </a:rPr>
              <a:t>Strongly agree</a:t>
            </a:r>
            <a:endParaRPr lang="en-US" sz="1200" dirty="0"/>
          </a:p>
        </p:txBody>
      </p:sp>
      <p:sp>
        <p:nvSpPr>
          <p:cNvPr id="48" name="Text 45"/>
          <p:cNvSpPr/>
          <p:nvPr/>
        </p:nvSpPr>
        <p:spPr>
          <a:xfrm>
            <a:off x="10390584" y="7574161"/>
            <a:ext cx="6790588" cy="476250"/>
          </a:xfrm>
          <a:prstGeom prst="rect">
            <a:avLst/>
          </a:prstGeom>
          <a:noFill/>
          <a:ln/>
        </p:spPr>
        <p:txBody>
          <a:bodyPr wrap="square" lIns="25400" tIns="25400" rIns="25400" bIns="25400" rtlCol="0" anchor="t">
            <a:normAutofit/>
          </a:bodyPr>
          <a:lstStyle/>
          <a:p>
            <a:pPr marL="0" indent="0" algn="l">
              <a:buNone/>
            </a:pPr>
            <a:r>
              <a:rPr lang="en-US" sz="1500" i="1" dirty="0">
                <a:solidFill>
                  <a:srgbClr val="8A929C"/>
                </a:solidFill>
                <a:latin typeface="Arial" pitchFamily="34" charset="0"/>
                <a:ea typeface="Arial" pitchFamily="34" charset="-122"/>
                <a:cs typeface="Arial" pitchFamily="34" charset="-120"/>
              </a:rPr>
              <a:t>Illustrative — items are adapted from validated sources and will be pilot-tested.</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12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DATA QUALITY &amp; ETHICAL SAFEGUARDS</a:t>
            </a:r>
            <a:endParaRPr lang="en-US" sz="1800" dirty="0"/>
          </a:p>
        </p:txBody>
      </p:sp>
      <p:sp>
        <p:nvSpPr>
          <p:cNvPr id="7" name="Text 4"/>
          <p:cNvSpPr/>
          <p:nvPr/>
        </p:nvSpPr>
        <p:spPr>
          <a:xfrm>
            <a:off x="1143000" y="1533525"/>
            <a:ext cx="15206662" cy="89817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450" b="1" kern="0" spc="-97" dirty="0">
                <a:solidFill>
                  <a:srgbClr val="111418"/>
                </a:solidFill>
                <a:latin typeface="Arial" pitchFamily="34" charset="0"/>
                <a:ea typeface="Arial" pitchFamily="34" charset="-122"/>
                <a:cs typeface="Arial" pitchFamily="34" charset="-120"/>
              </a:rPr>
              <a:t>Guardrails and Standard</a:t>
            </a:r>
            <a:endParaRPr lang="en-US" sz="6450" dirty="0"/>
          </a:p>
        </p:txBody>
      </p:sp>
      <p:sp>
        <p:nvSpPr>
          <p:cNvPr id="8" name="Shape 5"/>
          <p:cNvSpPr/>
          <p:nvPr/>
        </p:nvSpPr>
        <p:spPr>
          <a:xfrm>
            <a:off x="1143000" y="3079403"/>
            <a:ext cx="5105400" cy="4654748"/>
          </a:xfrm>
          <a:prstGeom prst="roundRect">
            <a:avLst>
              <a:gd name="adj" fmla="val 4502"/>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9" name="Shape 6"/>
          <p:cNvSpPr/>
          <p:nvPr/>
        </p:nvSpPr>
        <p:spPr>
          <a:xfrm>
            <a:off x="1600200" y="3498503"/>
            <a:ext cx="609600" cy="609600"/>
          </a:xfrm>
          <a:prstGeom prst="roundRect">
            <a:avLst>
              <a:gd name="adj" fmla="val 28125"/>
            </a:avLst>
          </a:prstGeom>
          <a:solidFill>
            <a:srgbClr val="E3F6E9"/>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1752600" y="3650903"/>
            <a:ext cx="304800" cy="304800"/>
          </a:xfrm>
          <a:prstGeom prst="rect">
            <a:avLst/>
          </a:prstGeom>
        </p:spPr>
      </p:pic>
      <p:sp>
        <p:nvSpPr>
          <p:cNvPr id="11" name="Text 7"/>
          <p:cNvSpPr/>
          <p:nvPr/>
        </p:nvSpPr>
        <p:spPr>
          <a:xfrm>
            <a:off x="1600200" y="4317653"/>
            <a:ext cx="4316730"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DATA INTEGRITY</a:t>
            </a:r>
            <a:endParaRPr lang="en-US" sz="1500" dirty="0"/>
          </a:p>
        </p:txBody>
      </p:sp>
      <p:sp>
        <p:nvSpPr>
          <p:cNvPr id="12" name="Text 8"/>
          <p:cNvSpPr/>
          <p:nvPr/>
        </p:nvSpPr>
        <p:spPr>
          <a:xfrm>
            <a:off x="1600200" y="4641503"/>
            <a:ext cx="4316730" cy="395288"/>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250" b="1" kern="0" spc="-11" dirty="0">
                <a:solidFill>
                  <a:srgbClr val="111418"/>
                </a:solidFill>
                <a:latin typeface="Arial" pitchFamily="34" charset="0"/>
                <a:ea typeface="Arial" pitchFamily="34" charset="-122"/>
                <a:cs typeface="Arial" pitchFamily="34" charset="-120"/>
              </a:rPr>
              <a:t>Only valid responses.</a:t>
            </a:r>
            <a:endParaRPr lang="en-US" sz="2250" dirty="0"/>
          </a:p>
        </p:txBody>
      </p:sp>
      <p:sp>
        <p:nvSpPr>
          <p:cNvPr id="13" name="Text 9"/>
          <p:cNvSpPr/>
          <p:nvPr/>
        </p:nvSpPr>
        <p:spPr>
          <a:xfrm>
            <a:off x="1600200" y="5303490"/>
            <a:ext cx="4316730" cy="1744861"/>
          </a:xfrm>
          <a:prstGeom prst="rect">
            <a:avLst/>
          </a:prstGeom>
          <a:noFill/>
          <a:ln/>
        </p:spPr>
        <p:txBody>
          <a:bodyPr wrap="square" lIns="25400" tIns="25400" rIns="25400" bIns="25400" rtlCol="0" anchor="t">
            <a:normAutofit fontScale="92500" lnSpcReduction="10000"/>
          </a:bodyPr>
          <a:lstStyle/>
          <a:p>
            <a:pPr marL="0" indent="0" algn="l">
              <a:lnSpc>
                <a:spcPct val="140000"/>
              </a:lnSpc>
              <a:buNone/>
            </a:pPr>
            <a:r>
              <a:rPr lang="en-US" sz="2400" dirty="0">
                <a:solidFill>
                  <a:srgbClr val="2B3139"/>
                </a:solidFill>
                <a:latin typeface="Arial" pitchFamily="34" charset="0"/>
                <a:ea typeface="Arial" pitchFamily="34" charset="-122"/>
                <a:cs typeface="Arial" pitchFamily="34" charset="-120"/>
              </a:rPr>
              <a:t>Attention checks, eligibility screening, removal of incomplete or inconsistent responses. </a:t>
            </a:r>
            <a:r>
              <a:rPr lang="en-US" sz="1680" b="1" dirty="0">
                <a:solidFill>
                  <a:srgbClr val="8A929C"/>
                </a:solidFill>
                <a:latin typeface="Arial" pitchFamily="34" charset="0"/>
                <a:ea typeface="Arial" pitchFamily="34" charset="-122"/>
                <a:cs typeface="Arial" pitchFamily="34" charset="-120"/>
              </a:rPr>
              <a:t>(Podsakoff et al., 2003)</a:t>
            </a:r>
            <a:endParaRPr lang="en-US" sz="2400" dirty="0"/>
          </a:p>
        </p:txBody>
      </p:sp>
      <p:sp>
        <p:nvSpPr>
          <p:cNvPr id="14" name="Shape 10"/>
          <p:cNvSpPr/>
          <p:nvPr/>
        </p:nvSpPr>
        <p:spPr>
          <a:xfrm>
            <a:off x="6591300" y="3079403"/>
            <a:ext cx="5105400" cy="4654748"/>
          </a:xfrm>
          <a:prstGeom prst="roundRect">
            <a:avLst>
              <a:gd name="adj" fmla="val 4502"/>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15" name="Shape 11"/>
          <p:cNvSpPr/>
          <p:nvPr/>
        </p:nvSpPr>
        <p:spPr>
          <a:xfrm>
            <a:off x="7048500" y="3498503"/>
            <a:ext cx="609600" cy="609600"/>
          </a:xfrm>
          <a:prstGeom prst="roundRect">
            <a:avLst>
              <a:gd name="adj" fmla="val 28125"/>
            </a:avLst>
          </a:prstGeom>
          <a:solidFill>
            <a:srgbClr val="FDE3EA"/>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7200900" y="3650903"/>
            <a:ext cx="304800" cy="304800"/>
          </a:xfrm>
          <a:prstGeom prst="rect">
            <a:avLst/>
          </a:prstGeom>
        </p:spPr>
      </p:pic>
      <p:sp>
        <p:nvSpPr>
          <p:cNvPr id="17" name="Text 12"/>
          <p:cNvSpPr/>
          <p:nvPr/>
        </p:nvSpPr>
        <p:spPr>
          <a:xfrm>
            <a:off x="7048500" y="4317653"/>
            <a:ext cx="4316730"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D83A5E"/>
                </a:solidFill>
                <a:latin typeface="Arial" pitchFamily="34" charset="0"/>
                <a:ea typeface="Arial" pitchFamily="34" charset="-122"/>
                <a:cs typeface="Arial" pitchFamily="34" charset="-120"/>
              </a:rPr>
              <a:t>ETHICS</a:t>
            </a:r>
            <a:endParaRPr lang="en-US" sz="1500" dirty="0"/>
          </a:p>
        </p:txBody>
      </p:sp>
      <p:sp>
        <p:nvSpPr>
          <p:cNvPr id="18" name="Text 13"/>
          <p:cNvSpPr/>
          <p:nvPr/>
        </p:nvSpPr>
        <p:spPr>
          <a:xfrm>
            <a:off x="7048500" y="4641503"/>
            <a:ext cx="4316730" cy="395288"/>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250" b="1" kern="0" spc="-11" dirty="0">
                <a:solidFill>
                  <a:srgbClr val="111418"/>
                </a:solidFill>
                <a:latin typeface="Arial" pitchFamily="34" charset="0"/>
                <a:ea typeface="Arial" pitchFamily="34" charset="-122"/>
                <a:cs typeface="Arial" pitchFamily="34" charset="-120"/>
              </a:rPr>
              <a:t>Informed &amp; voluntary.</a:t>
            </a:r>
            <a:endParaRPr lang="en-US" sz="2250" dirty="0"/>
          </a:p>
        </p:txBody>
      </p:sp>
      <p:sp>
        <p:nvSpPr>
          <p:cNvPr id="19" name="Text 14"/>
          <p:cNvSpPr/>
          <p:nvPr/>
        </p:nvSpPr>
        <p:spPr>
          <a:xfrm>
            <a:off x="7048500" y="5303490"/>
            <a:ext cx="4316730" cy="174486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400" dirty="0">
                <a:solidFill>
                  <a:srgbClr val="2B3139"/>
                </a:solidFill>
                <a:latin typeface="Arial" pitchFamily="34" charset="0"/>
                <a:ea typeface="Arial" pitchFamily="34" charset="-122"/>
                <a:cs typeface="Arial" pitchFamily="34" charset="-120"/>
              </a:rPr>
              <a:t>Digital informed consent, voluntary participation, and the right to withdraw before submission.</a:t>
            </a:r>
            <a:endParaRPr lang="en-US" sz="2400" dirty="0"/>
          </a:p>
        </p:txBody>
      </p:sp>
      <p:sp>
        <p:nvSpPr>
          <p:cNvPr id="20" name="Shape 15"/>
          <p:cNvSpPr/>
          <p:nvPr/>
        </p:nvSpPr>
        <p:spPr>
          <a:xfrm>
            <a:off x="12039600" y="3079403"/>
            <a:ext cx="5105400" cy="4654748"/>
          </a:xfrm>
          <a:prstGeom prst="roundRect">
            <a:avLst>
              <a:gd name="adj" fmla="val 4502"/>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21" name="Shape 16"/>
          <p:cNvSpPr/>
          <p:nvPr/>
        </p:nvSpPr>
        <p:spPr>
          <a:xfrm>
            <a:off x="12496800" y="3498503"/>
            <a:ext cx="609600" cy="609600"/>
          </a:xfrm>
          <a:prstGeom prst="roundRect">
            <a:avLst>
              <a:gd name="adj" fmla="val 28125"/>
            </a:avLst>
          </a:prstGeom>
          <a:solidFill>
            <a:srgbClr val="FEE8DE"/>
          </a:solidFill>
          <a:ln/>
        </p:spPr>
        <p:txBody>
          <a:bodyPr/>
          <a:lstStyle/>
          <a:p>
            <a:endParaRPr lang="en-US"/>
          </a:p>
        </p:txBody>
      </p:sp>
      <p:pic>
        <p:nvPicPr>
          <p:cNvPr id="22" name="Image 3" descr="preencoded.png"/>
          <p:cNvPicPr>
            <a:picLocks noChangeAspect="1"/>
          </p:cNvPicPr>
          <p:nvPr/>
        </p:nvPicPr>
        <p:blipFill>
          <a:blip r:embed="rId6"/>
          <a:stretch>
            <a:fillRect/>
          </a:stretch>
        </p:blipFill>
        <p:spPr>
          <a:xfrm>
            <a:off x="12649200" y="3650903"/>
            <a:ext cx="304800" cy="304800"/>
          </a:xfrm>
          <a:prstGeom prst="rect">
            <a:avLst/>
          </a:prstGeom>
        </p:spPr>
      </p:pic>
      <p:sp>
        <p:nvSpPr>
          <p:cNvPr id="23" name="Text 17"/>
          <p:cNvSpPr/>
          <p:nvPr/>
        </p:nvSpPr>
        <p:spPr>
          <a:xfrm>
            <a:off x="12496800" y="4317653"/>
            <a:ext cx="4316730"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F06A3B"/>
                </a:solidFill>
                <a:latin typeface="Arial" pitchFamily="34" charset="0"/>
                <a:ea typeface="Arial" pitchFamily="34" charset="-122"/>
                <a:cs typeface="Arial" pitchFamily="34" charset="-120"/>
              </a:rPr>
              <a:t>PRIVACY</a:t>
            </a:r>
            <a:endParaRPr lang="en-US" sz="1500" dirty="0"/>
          </a:p>
        </p:txBody>
      </p:sp>
      <p:sp>
        <p:nvSpPr>
          <p:cNvPr id="24" name="Text 18"/>
          <p:cNvSpPr/>
          <p:nvPr/>
        </p:nvSpPr>
        <p:spPr>
          <a:xfrm>
            <a:off x="12496800" y="4641503"/>
            <a:ext cx="4316730" cy="395288"/>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250" b="1" kern="0" spc="-11" dirty="0">
                <a:solidFill>
                  <a:srgbClr val="111418"/>
                </a:solidFill>
                <a:latin typeface="Arial" pitchFamily="34" charset="0"/>
                <a:ea typeface="Arial" pitchFamily="34" charset="-122"/>
                <a:cs typeface="Arial" pitchFamily="34" charset="-120"/>
              </a:rPr>
              <a:t>Anonymous by design.</a:t>
            </a:r>
            <a:endParaRPr lang="en-US" sz="2250" dirty="0"/>
          </a:p>
        </p:txBody>
      </p:sp>
      <p:sp>
        <p:nvSpPr>
          <p:cNvPr id="25" name="Text 19"/>
          <p:cNvSpPr/>
          <p:nvPr/>
        </p:nvSpPr>
        <p:spPr>
          <a:xfrm>
            <a:off x="12496800" y="5303490"/>
            <a:ext cx="4316730" cy="1318171"/>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2400" dirty="0">
                <a:solidFill>
                  <a:srgbClr val="2B3139"/>
                </a:solidFill>
                <a:latin typeface="Arial" pitchFamily="34" charset="0"/>
                <a:ea typeface="Arial" pitchFamily="34" charset="-122"/>
                <a:cs typeface="Arial" pitchFamily="34" charset="-120"/>
              </a:rPr>
              <a:t>No identifiable tax data; secure, encrypted storage of anonymised responses.</a:t>
            </a:r>
            <a:endParaRPr lang="en-US" sz="2400" dirty="0"/>
          </a:p>
        </p:txBody>
      </p:sp>
      <p:sp>
        <p:nvSpPr>
          <p:cNvPr id="26" name="Shape 20"/>
          <p:cNvSpPr/>
          <p:nvPr/>
        </p:nvSpPr>
        <p:spPr>
          <a:xfrm>
            <a:off x="1143000" y="8305651"/>
            <a:ext cx="16002000" cy="723900"/>
          </a:xfrm>
          <a:prstGeom prst="roundRect">
            <a:avLst>
              <a:gd name="adj" fmla="val 23684"/>
            </a:avLst>
          </a:prstGeom>
          <a:solidFill>
            <a:srgbClr val="FFFFFF"/>
          </a:solidFill>
          <a:ln/>
          <a:effectLst>
            <a:outerShdw blurRad="19050" dist="9525" dir="5400000" algn="bl" rotWithShape="0">
              <a:srgbClr val="0B3D1E">
                <a:alpha val="4000"/>
              </a:srgbClr>
            </a:outerShdw>
          </a:effectLst>
        </p:spPr>
        <p:txBody>
          <a:bodyPr/>
          <a:lstStyle/>
          <a:p>
            <a:endParaRPr lang="en-US"/>
          </a:p>
        </p:txBody>
      </p:sp>
      <p:sp>
        <p:nvSpPr>
          <p:cNvPr id="27" name="Text 21"/>
          <p:cNvSpPr/>
          <p:nvPr/>
        </p:nvSpPr>
        <p:spPr>
          <a:xfrm>
            <a:off x="1447800" y="8543776"/>
            <a:ext cx="1949202" cy="285750"/>
          </a:xfrm>
          <a:prstGeom prst="rect">
            <a:avLst/>
          </a:prstGeom>
          <a:noFill/>
          <a:ln/>
        </p:spPr>
        <p:txBody>
          <a:bodyPr wrap="square" lIns="25400" tIns="25400" rIns="25400" bIns="25400" rtlCol="0" anchor="t">
            <a:normAutofit fontScale="92500"/>
          </a:bodyPr>
          <a:lstStyle/>
          <a:p>
            <a:pPr marL="0" indent="0" algn="l">
              <a:buNone/>
            </a:pPr>
            <a:r>
              <a:rPr lang="en-US" sz="1650" b="1" kern="0" spc="198" dirty="0">
                <a:solidFill>
                  <a:srgbClr val="111418"/>
                </a:solidFill>
                <a:latin typeface="Arial" pitchFamily="34" charset="0"/>
                <a:ea typeface="Arial" pitchFamily="34" charset="-122"/>
                <a:cs typeface="Arial" pitchFamily="34" charset="-120"/>
              </a:rPr>
              <a:t>BIAS CONTROL</a:t>
            </a:r>
            <a:endParaRPr lang="en-US" sz="1650" dirty="0"/>
          </a:p>
        </p:txBody>
      </p:sp>
      <p:sp>
        <p:nvSpPr>
          <p:cNvPr id="28" name="Shape 22"/>
          <p:cNvSpPr/>
          <p:nvPr/>
        </p:nvSpPr>
        <p:spPr>
          <a:xfrm>
            <a:off x="3511302" y="8534251"/>
            <a:ext cx="9525" cy="266700"/>
          </a:xfrm>
          <a:prstGeom prst="rect">
            <a:avLst/>
          </a:prstGeom>
          <a:solidFill>
            <a:srgbClr val="D9DDE2"/>
          </a:solidFill>
          <a:ln/>
        </p:spPr>
        <p:txBody>
          <a:bodyPr/>
          <a:lstStyle/>
          <a:p>
            <a:endParaRPr lang="en-US"/>
          </a:p>
        </p:txBody>
      </p:sp>
      <p:sp>
        <p:nvSpPr>
          <p:cNvPr id="29" name="Text 23"/>
          <p:cNvSpPr/>
          <p:nvPr/>
        </p:nvSpPr>
        <p:spPr>
          <a:xfrm>
            <a:off x="3711327" y="8534251"/>
            <a:ext cx="11453437"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5C6570"/>
                </a:solidFill>
                <a:latin typeface="Arial" pitchFamily="34" charset="0"/>
                <a:ea typeface="Arial" pitchFamily="34" charset="-122"/>
                <a:cs typeface="Arial" pitchFamily="34" charset="-120"/>
              </a:rPr>
              <a:t>Common-method bias is mitigated through item ordering, scale variation and full collinearity checks. </a:t>
            </a:r>
            <a:r>
              <a:rPr lang="en-US" sz="1260" b="1" dirty="0">
                <a:solidFill>
                  <a:srgbClr val="8A929C"/>
                </a:solidFill>
                <a:latin typeface="Arial" pitchFamily="34" charset="0"/>
                <a:ea typeface="Arial" pitchFamily="34" charset="-122"/>
                <a:cs typeface="Arial" pitchFamily="34" charset="-120"/>
              </a:rPr>
              <a:t>(Kock, 2015)</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13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DATA ANALYSIS PROCEDURE</a:t>
            </a:r>
            <a:endParaRPr lang="en-US" sz="1800" dirty="0"/>
          </a:p>
        </p:txBody>
      </p:sp>
      <p:sp>
        <p:nvSpPr>
          <p:cNvPr id="7" name="Text 4"/>
          <p:cNvSpPr/>
          <p:nvPr/>
        </p:nvSpPr>
        <p:spPr>
          <a:xfrm>
            <a:off x="1143000" y="1533525"/>
            <a:ext cx="15206662" cy="89817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450" b="1" kern="0" spc="-97" dirty="0">
                <a:solidFill>
                  <a:srgbClr val="111418"/>
                </a:solidFill>
                <a:latin typeface="Arial" pitchFamily="34" charset="0"/>
                <a:ea typeface="Arial" pitchFamily="34" charset="-122"/>
                <a:cs typeface="Arial" pitchFamily="34" charset="-120"/>
              </a:rPr>
              <a:t>PLS-SEM in SmartPLS 4.</a:t>
            </a:r>
            <a:endParaRPr lang="en-US" sz="6450" dirty="0"/>
          </a:p>
        </p:txBody>
      </p:sp>
      <p:sp>
        <p:nvSpPr>
          <p:cNvPr id="8" name="Shape 5"/>
          <p:cNvSpPr/>
          <p:nvPr/>
        </p:nvSpPr>
        <p:spPr>
          <a:xfrm>
            <a:off x="1143000" y="2869853"/>
            <a:ext cx="4776936" cy="5425083"/>
          </a:xfrm>
          <a:prstGeom prst="roundRect">
            <a:avLst>
              <a:gd name="adj" fmla="val 4387"/>
            </a:avLst>
          </a:prstGeom>
          <a:solidFill>
            <a:srgbClr val="0A0E12"/>
          </a:solidFill>
          <a:ln/>
          <a:effectLst>
            <a:outerShdw blurRad="19050" dist="9525" dir="5400000" algn="bl" rotWithShape="0">
              <a:srgbClr val="0B3D1E">
                <a:alpha val="4000"/>
              </a:srgbClr>
            </a:outerShdw>
          </a:effectLst>
        </p:spPr>
        <p:txBody>
          <a:bodyPr/>
          <a:lstStyle/>
          <a:p>
            <a:endParaRPr lang="en-US"/>
          </a:p>
        </p:txBody>
      </p:sp>
      <p:sp>
        <p:nvSpPr>
          <p:cNvPr id="9" name="Text 6"/>
          <p:cNvSpPr/>
          <p:nvPr/>
        </p:nvSpPr>
        <p:spPr>
          <a:xfrm>
            <a:off x="1600200" y="3288953"/>
            <a:ext cx="3978412"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4DC97A"/>
                </a:solidFill>
                <a:latin typeface="Arial" pitchFamily="34" charset="0"/>
                <a:ea typeface="Arial" pitchFamily="34" charset="-122"/>
                <a:cs typeface="Arial" pitchFamily="34" charset="-120"/>
              </a:rPr>
              <a:t>PRIMARY TOOL</a:t>
            </a:r>
            <a:endParaRPr lang="en-US" sz="1500" dirty="0"/>
          </a:p>
        </p:txBody>
      </p:sp>
      <p:sp>
        <p:nvSpPr>
          <p:cNvPr id="10" name="Text 7"/>
          <p:cNvSpPr/>
          <p:nvPr/>
        </p:nvSpPr>
        <p:spPr>
          <a:xfrm>
            <a:off x="1600200" y="3612803"/>
            <a:ext cx="3978412" cy="1377255"/>
          </a:xfrm>
          <a:prstGeom prst="rect">
            <a:avLst/>
          </a:prstGeom>
          <a:noFill/>
          <a:ln/>
        </p:spPr>
        <p:txBody>
          <a:bodyPr wrap="square" lIns="25400" tIns="25400" rIns="25400" bIns="25400" rtlCol="0" anchor="t">
            <a:normAutofit/>
          </a:bodyPr>
          <a:lstStyle/>
          <a:p>
            <a:pPr marL="0" indent="0" algn="l">
              <a:lnSpc>
                <a:spcPct val="95000"/>
              </a:lnSpc>
              <a:buNone/>
            </a:pPr>
            <a:r>
              <a:rPr lang="en-US" sz="5550" b="1" kern="0" spc="-111" dirty="0">
                <a:solidFill>
                  <a:srgbClr val="FFFFFF"/>
                </a:solidFill>
                <a:latin typeface="Arial" pitchFamily="34" charset="0"/>
                <a:ea typeface="Arial" pitchFamily="34" charset="-122"/>
                <a:cs typeface="Arial" pitchFamily="34" charset="-120"/>
              </a:rPr>
              <a:t>SmartPLS </a:t>
            </a:r>
            <a:r>
              <a:rPr lang="en-US" sz="5550" b="1" kern="0" spc="-111" dirty="0">
                <a:solidFill>
                  <a:srgbClr val="4DC97A"/>
                </a:solidFill>
                <a:latin typeface="Arial" pitchFamily="34" charset="0"/>
                <a:ea typeface="Arial" pitchFamily="34" charset="-122"/>
                <a:cs typeface="Arial" pitchFamily="34" charset="-120"/>
              </a:rPr>
              <a:t>4</a:t>
            </a:r>
            <a:endParaRPr lang="en-US" sz="5550" dirty="0"/>
          </a:p>
        </p:txBody>
      </p:sp>
      <p:sp>
        <p:nvSpPr>
          <p:cNvPr id="11" name="Text 8"/>
          <p:cNvSpPr/>
          <p:nvPr/>
        </p:nvSpPr>
        <p:spPr>
          <a:xfrm>
            <a:off x="1600200" y="5123408"/>
            <a:ext cx="3978412" cy="1638002"/>
          </a:xfrm>
          <a:prstGeom prst="rect">
            <a:avLst/>
          </a:prstGeom>
          <a:noFill/>
          <a:ln/>
        </p:spPr>
        <p:txBody>
          <a:bodyPr wrap="square" lIns="25400" tIns="25400" rIns="25400" bIns="25400" rtlCol="0" anchor="t">
            <a:normAutofit/>
          </a:bodyPr>
          <a:lstStyle/>
          <a:p>
            <a:pPr marL="0" indent="0" algn="l">
              <a:lnSpc>
                <a:spcPct val="140000"/>
              </a:lnSpc>
              <a:buNone/>
            </a:pPr>
            <a:r>
              <a:rPr lang="en-US" sz="1800" dirty="0">
                <a:solidFill>
                  <a:srgbClr val="FFFFFF">
                    <a:alpha val="78000"/>
                  </a:srgbClr>
                </a:solidFill>
                <a:latin typeface="Arial" pitchFamily="34" charset="0"/>
                <a:ea typeface="Arial" pitchFamily="34" charset="-122"/>
                <a:cs typeface="Arial" pitchFamily="34" charset="-120"/>
              </a:rPr>
              <a:t>Variance-based structural equation modelling — suitable for predictive, model-extension research with multiple latent constructs. </a:t>
            </a:r>
            <a:r>
              <a:rPr lang="en-US" sz="1260" b="1" dirty="0">
                <a:solidFill>
                  <a:srgbClr val="4DC97A"/>
                </a:solidFill>
                <a:latin typeface="Arial" pitchFamily="34" charset="0"/>
                <a:ea typeface="Arial" pitchFamily="34" charset="-122"/>
                <a:cs typeface="Arial" pitchFamily="34" charset="-120"/>
              </a:rPr>
              <a:t>(Cheah, 2024)</a:t>
            </a:r>
            <a:endParaRPr lang="en-US" sz="1800" dirty="0"/>
          </a:p>
        </p:txBody>
      </p:sp>
      <p:sp>
        <p:nvSpPr>
          <p:cNvPr id="12" name="Shape 9"/>
          <p:cNvSpPr/>
          <p:nvPr/>
        </p:nvSpPr>
        <p:spPr>
          <a:xfrm>
            <a:off x="1600200" y="7218611"/>
            <a:ext cx="3862536" cy="9525"/>
          </a:xfrm>
          <a:prstGeom prst="rect">
            <a:avLst/>
          </a:prstGeom>
          <a:solidFill>
            <a:srgbClr val="FFFFFF">
              <a:alpha val="15000"/>
            </a:srgbClr>
          </a:solidFill>
          <a:ln/>
        </p:spPr>
        <p:txBody>
          <a:bodyPr/>
          <a:lstStyle/>
          <a:p>
            <a:endParaRPr lang="en-US"/>
          </a:p>
        </p:txBody>
      </p:sp>
      <p:sp>
        <p:nvSpPr>
          <p:cNvPr id="13" name="Text 10"/>
          <p:cNvSpPr/>
          <p:nvPr/>
        </p:nvSpPr>
        <p:spPr>
          <a:xfrm>
            <a:off x="1600200" y="7437686"/>
            <a:ext cx="3978412" cy="476250"/>
          </a:xfrm>
          <a:prstGeom prst="rect">
            <a:avLst/>
          </a:prstGeom>
          <a:noFill/>
          <a:ln/>
        </p:spPr>
        <p:txBody>
          <a:bodyPr wrap="square" lIns="25400" tIns="25400" rIns="25400" bIns="25400" rtlCol="0" anchor="t">
            <a:normAutofit/>
          </a:bodyPr>
          <a:lstStyle/>
          <a:p>
            <a:pPr marL="0" indent="0" algn="l">
              <a:buNone/>
            </a:pPr>
            <a:r>
              <a:rPr lang="en-US" sz="1500" dirty="0">
                <a:solidFill>
                  <a:srgbClr val="FFFFFF">
                    <a:alpha val="60000"/>
                  </a:srgbClr>
                </a:solidFill>
                <a:latin typeface="Arial" pitchFamily="34" charset="0"/>
                <a:ea typeface="Arial" pitchFamily="34" charset="-122"/>
                <a:cs typeface="Arial" pitchFamily="34" charset="-120"/>
              </a:rPr>
              <a:t>Reported following PLS-SEM guidelines. </a:t>
            </a:r>
            <a:r>
              <a:rPr lang="en-US" sz="1050" b="1" dirty="0">
                <a:solidFill>
                  <a:srgbClr val="FFFFFF">
                    <a:alpha val="50000"/>
                  </a:srgbClr>
                </a:solidFill>
                <a:latin typeface="Arial" pitchFamily="34" charset="0"/>
                <a:ea typeface="Arial" pitchFamily="34" charset="-122"/>
                <a:cs typeface="Arial" pitchFamily="34" charset="-120"/>
              </a:rPr>
              <a:t>(Hair et al., 2019)</a:t>
            </a:r>
            <a:endParaRPr lang="en-US" sz="1500" dirty="0"/>
          </a:p>
        </p:txBody>
      </p:sp>
      <p:sp>
        <p:nvSpPr>
          <p:cNvPr id="14" name="Shape 11"/>
          <p:cNvSpPr/>
          <p:nvPr/>
        </p:nvSpPr>
        <p:spPr>
          <a:xfrm>
            <a:off x="6224736" y="2869853"/>
            <a:ext cx="5307657" cy="5425083"/>
          </a:xfrm>
          <a:prstGeom prst="roundRect">
            <a:avLst>
              <a:gd name="adj" fmla="val 3948"/>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15" name="Shape 12"/>
          <p:cNvSpPr/>
          <p:nvPr/>
        </p:nvSpPr>
        <p:spPr>
          <a:xfrm>
            <a:off x="6681936" y="3288953"/>
            <a:ext cx="860078" cy="352425"/>
          </a:xfrm>
          <a:prstGeom prst="roundRect">
            <a:avLst>
              <a:gd name="adj" fmla="val 50000"/>
            </a:avLst>
          </a:prstGeom>
          <a:solidFill>
            <a:srgbClr val="E3F6E9"/>
          </a:solidFill>
          <a:ln/>
        </p:spPr>
        <p:txBody>
          <a:bodyPr/>
          <a:lstStyle/>
          <a:p>
            <a:endParaRPr lang="en-US"/>
          </a:p>
        </p:txBody>
      </p:sp>
      <p:sp>
        <p:nvSpPr>
          <p:cNvPr id="16" name="Text 13"/>
          <p:cNvSpPr/>
          <p:nvPr/>
        </p:nvSpPr>
        <p:spPr>
          <a:xfrm>
            <a:off x="6834336" y="3365153"/>
            <a:ext cx="631478" cy="238125"/>
          </a:xfrm>
          <a:prstGeom prst="rect">
            <a:avLst/>
          </a:prstGeom>
          <a:noFill/>
          <a:ln/>
        </p:spPr>
        <p:txBody>
          <a:bodyPr wrap="square" lIns="25400" tIns="25400" rIns="25400" bIns="25400" rtlCol="0" anchor="ctr">
            <a:normAutofit fontScale="92500"/>
          </a:bodyPr>
          <a:lstStyle/>
          <a:p>
            <a:pPr marL="0" indent="0" algn="l">
              <a:buNone/>
            </a:pPr>
            <a:r>
              <a:rPr lang="en-US" sz="1350" b="1" dirty="0">
                <a:solidFill>
                  <a:srgbClr val="127A38"/>
                </a:solidFill>
                <a:latin typeface="Arial" pitchFamily="34" charset="0"/>
                <a:ea typeface="Arial" pitchFamily="34" charset="-122"/>
                <a:cs typeface="Arial" pitchFamily="34" charset="-120"/>
              </a:rPr>
              <a:t>STEP 1</a:t>
            </a:r>
            <a:endParaRPr lang="en-US" sz="1350" dirty="0"/>
          </a:p>
        </p:txBody>
      </p:sp>
      <p:sp>
        <p:nvSpPr>
          <p:cNvPr id="17" name="Text 14"/>
          <p:cNvSpPr/>
          <p:nvPr/>
        </p:nvSpPr>
        <p:spPr>
          <a:xfrm>
            <a:off x="6681936" y="3793778"/>
            <a:ext cx="4525055" cy="395288"/>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250" b="1" kern="0" spc="-11" dirty="0">
                <a:solidFill>
                  <a:srgbClr val="111418"/>
                </a:solidFill>
                <a:latin typeface="Arial" pitchFamily="34" charset="0"/>
                <a:ea typeface="Arial" pitchFamily="34" charset="-122"/>
                <a:cs typeface="Arial" pitchFamily="34" charset="-120"/>
              </a:rPr>
              <a:t>Measurement model</a:t>
            </a:r>
            <a:endParaRPr lang="en-US" sz="2250" dirty="0"/>
          </a:p>
        </p:txBody>
      </p:sp>
      <p:sp>
        <p:nvSpPr>
          <p:cNvPr id="18" name="Text 15"/>
          <p:cNvSpPr/>
          <p:nvPr/>
        </p:nvSpPr>
        <p:spPr>
          <a:xfrm>
            <a:off x="6678126" y="4284315"/>
            <a:ext cx="4522579" cy="464790"/>
          </a:xfrm>
          <a:prstGeom prst="rect">
            <a:avLst/>
          </a:prstGeom>
          <a:noFill/>
          <a:ln/>
        </p:spPr>
        <p:txBody>
          <a:bodyPr wrap="square" lIns="25400" tIns="25400" rIns="25400" bIns="25400" rtlCol="0" anchor="t">
            <a:normAutofit fontScale="92500" lnSpcReduction="10000"/>
          </a:bodyPr>
          <a:lstStyle/>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Outer loadings</a:t>
            </a:r>
            <a:endParaRPr lang="en-US" sz="2400" dirty="0"/>
          </a:p>
        </p:txBody>
      </p:sp>
      <p:sp>
        <p:nvSpPr>
          <p:cNvPr id="19" name="Text 16"/>
          <p:cNvSpPr/>
          <p:nvPr/>
        </p:nvSpPr>
        <p:spPr>
          <a:xfrm>
            <a:off x="6678126" y="4711005"/>
            <a:ext cx="4522579" cy="464790"/>
          </a:xfrm>
          <a:prstGeom prst="rect">
            <a:avLst/>
          </a:prstGeom>
          <a:noFill/>
          <a:ln/>
        </p:spPr>
        <p:txBody>
          <a:bodyPr wrap="square" lIns="25400" tIns="25400" rIns="25400" bIns="25400" rtlCol="0" anchor="t">
            <a:normAutofit fontScale="92500" lnSpcReduction="10000"/>
          </a:bodyPr>
          <a:lstStyle/>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Cronbach's α</a:t>
            </a:r>
            <a:endParaRPr lang="en-US" sz="2400" dirty="0"/>
          </a:p>
        </p:txBody>
      </p:sp>
      <p:sp>
        <p:nvSpPr>
          <p:cNvPr id="20" name="Text 17"/>
          <p:cNvSpPr/>
          <p:nvPr/>
        </p:nvSpPr>
        <p:spPr>
          <a:xfrm>
            <a:off x="6678126" y="5137696"/>
            <a:ext cx="4522579" cy="464790"/>
          </a:xfrm>
          <a:prstGeom prst="rect">
            <a:avLst/>
          </a:prstGeom>
          <a:noFill/>
          <a:ln/>
        </p:spPr>
        <p:txBody>
          <a:bodyPr wrap="square" lIns="25400" tIns="25400" rIns="25400" bIns="25400" rtlCol="0" anchor="t">
            <a:normAutofit fontScale="92500" lnSpcReduction="10000"/>
          </a:bodyPr>
          <a:lstStyle/>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Composite reliability</a:t>
            </a:r>
            <a:endParaRPr lang="en-US" sz="2400" dirty="0"/>
          </a:p>
        </p:txBody>
      </p:sp>
      <p:sp>
        <p:nvSpPr>
          <p:cNvPr id="21" name="Text 18"/>
          <p:cNvSpPr/>
          <p:nvPr/>
        </p:nvSpPr>
        <p:spPr>
          <a:xfrm>
            <a:off x="6678126" y="5564386"/>
            <a:ext cx="4522579" cy="464790"/>
          </a:xfrm>
          <a:prstGeom prst="rect">
            <a:avLst/>
          </a:prstGeom>
          <a:noFill/>
          <a:ln/>
        </p:spPr>
        <p:txBody>
          <a:bodyPr wrap="square" lIns="25400" tIns="25400" rIns="25400" bIns="25400" rtlCol="0" anchor="t">
            <a:normAutofit fontScale="92500" lnSpcReduction="10000"/>
          </a:bodyPr>
          <a:lstStyle/>
          <a:p>
            <a:pPr marL="213360" indent="-213360" algn="l">
              <a:lnSpc>
                <a:spcPct val="140000"/>
              </a:lnSpc>
              <a:buSzPct val="100000"/>
              <a:buChar char="•"/>
            </a:pPr>
            <a:r>
              <a:rPr lang="en-US" sz="2400" dirty="0">
                <a:solidFill>
                  <a:srgbClr val="2B3139"/>
                </a:solidFill>
                <a:latin typeface="Arial" pitchFamily="34" charset="0"/>
                <a:ea typeface="Arial" pitchFamily="34" charset="-122"/>
                <a:cs typeface="Arial" pitchFamily="34" charset="-120"/>
              </a:rPr>
              <a:t>AVE </a:t>
            </a:r>
            <a:r>
              <a:rPr lang="en-US" sz="1680" b="1" dirty="0">
                <a:solidFill>
                  <a:srgbClr val="8A929C"/>
                </a:solidFill>
                <a:latin typeface="Arial" pitchFamily="34" charset="0"/>
                <a:ea typeface="Arial" pitchFamily="34" charset="-122"/>
                <a:cs typeface="Arial" pitchFamily="34" charset="-120"/>
              </a:rPr>
              <a:t>(Fornell &amp; Larcker, 1981)</a:t>
            </a:r>
            <a:endParaRPr lang="en-US" sz="2400" dirty="0"/>
          </a:p>
        </p:txBody>
      </p:sp>
      <p:sp>
        <p:nvSpPr>
          <p:cNvPr id="22" name="Text 19"/>
          <p:cNvSpPr/>
          <p:nvPr/>
        </p:nvSpPr>
        <p:spPr>
          <a:xfrm>
            <a:off x="6678126" y="5991076"/>
            <a:ext cx="4522579" cy="464790"/>
          </a:xfrm>
          <a:prstGeom prst="rect">
            <a:avLst/>
          </a:prstGeom>
          <a:noFill/>
          <a:ln/>
        </p:spPr>
        <p:txBody>
          <a:bodyPr wrap="square" lIns="25400" tIns="25400" rIns="25400" bIns="25400" rtlCol="0" anchor="t">
            <a:normAutofit fontScale="92500" lnSpcReduction="10000"/>
          </a:bodyPr>
          <a:lstStyle/>
          <a:p>
            <a:pPr marL="213360" indent="-213360" algn="l">
              <a:lnSpc>
                <a:spcPct val="140000"/>
              </a:lnSpc>
              <a:buSzPct val="100000"/>
              <a:buChar char="•"/>
            </a:pPr>
            <a:r>
              <a:rPr lang="en-US" sz="2400" dirty="0">
                <a:solidFill>
                  <a:srgbClr val="2B3139"/>
                </a:solidFill>
                <a:latin typeface="Arial" pitchFamily="34" charset="0"/>
                <a:ea typeface="Arial" pitchFamily="34" charset="-122"/>
                <a:cs typeface="Arial" pitchFamily="34" charset="-120"/>
              </a:rPr>
              <a:t>HTMT ratio </a:t>
            </a:r>
            <a:r>
              <a:rPr lang="en-US" sz="1680" b="1" dirty="0">
                <a:solidFill>
                  <a:srgbClr val="8A929C"/>
                </a:solidFill>
                <a:latin typeface="Arial" pitchFamily="34" charset="0"/>
                <a:ea typeface="Arial" pitchFamily="34" charset="-122"/>
                <a:cs typeface="Arial" pitchFamily="34" charset="-120"/>
              </a:rPr>
              <a:t>(Henseler et al., 2015)</a:t>
            </a:r>
            <a:endParaRPr lang="en-US" sz="2400" dirty="0"/>
          </a:p>
        </p:txBody>
      </p:sp>
      <p:sp>
        <p:nvSpPr>
          <p:cNvPr id="23" name="Shape 20"/>
          <p:cNvSpPr/>
          <p:nvPr/>
        </p:nvSpPr>
        <p:spPr>
          <a:xfrm>
            <a:off x="11837194" y="2869853"/>
            <a:ext cx="5307657" cy="5425083"/>
          </a:xfrm>
          <a:prstGeom prst="roundRect">
            <a:avLst>
              <a:gd name="adj" fmla="val 3948"/>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24" name="Shape 21"/>
          <p:cNvSpPr/>
          <p:nvPr/>
        </p:nvSpPr>
        <p:spPr>
          <a:xfrm>
            <a:off x="12294394" y="3288953"/>
            <a:ext cx="894159" cy="352425"/>
          </a:xfrm>
          <a:prstGeom prst="roundRect">
            <a:avLst>
              <a:gd name="adj" fmla="val 50000"/>
            </a:avLst>
          </a:prstGeom>
          <a:solidFill>
            <a:srgbClr val="FDE3EA"/>
          </a:solidFill>
          <a:ln/>
        </p:spPr>
        <p:txBody>
          <a:bodyPr/>
          <a:lstStyle/>
          <a:p>
            <a:endParaRPr lang="en-US"/>
          </a:p>
        </p:txBody>
      </p:sp>
      <p:sp>
        <p:nvSpPr>
          <p:cNvPr id="25" name="Text 22"/>
          <p:cNvSpPr/>
          <p:nvPr/>
        </p:nvSpPr>
        <p:spPr>
          <a:xfrm>
            <a:off x="12446794" y="3365153"/>
            <a:ext cx="665559" cy="238125"/>
          </a:xfrm>
          <a:prstGeom prst="rect">
            <a:avLst/>
          </a:prstGeom>
          <a:noFill/>
          <a:ln/>
        </p:spPr>
        <p:txBody>
          <a:bodyPr wrap="square" lIns="25400" tIns="25400" rIns="25400" bIns="25400" rtlCol="0" anchor="ctr">
            <a:normAutofit lnSpcReduction="10000"/>
          </a:bodyPr>
          <a:lstStyle/>
          <a:p>
            <a:pPr marL="0" indent="0" algn="l">
              <a:buNone/>
            </a:pPr>
            <a:r>
              <a:rPr lang="en-US" sz="1350" b="1" dirty="0">
                <a:solidFill>
                  <a:srgbClr val="D83A5E"/>
                </a:solidFill>
                <a:latin typeface="Arial" pitchFamily="34" charset="0"/>
                <a:ea typeface="Arial" pitchFamily="34" charset="-122"/>
                <a:cs typeface="Arial" pitchFamily="34" charset="-120"/>
              </a:rPr>
              <a:t>STEP 2</a:t>
            </a:r>
            <a:endParaRPr lang="en-US" sz="1350" dirty="0"/>
          </a:p>
        </p:txBody>
      </p:sp>
      <p:sp>
        <p:nvSpPr>
          <p:cNvPr id="26" name="Text 23"/>
          <p:cNvSpPr/>
          <p:nvPr/>
        </p:nvSpPr>
        <p:spPr>
          <a:xfrm>
            <a:off x="12294394" y="3793778"/>
            <a:ext cx="4525055" cy="395288"/>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2250" b="1" kern="0" spc="-11" dirty="0">
                <a:solidFill>
                  <a:srgbClr val="111418"/>
                </a:solidFill>
                <a:latin typeface="Arial" pitchFamily="34" charset="0"/>
                <a:ea typeface="Arial" pitchFamily="34" charset="-122"/>
                <a:cs typeface="Arial" pitchFamily="34" charset="-120"/>
              </a:rPr>
              <a:t>Structural model</a:t>
            </a:r>
            <a:endParaRPr lang="en-US" sz="2250" dirty="0"/>
          </a:p>
        </p:txBody>
      </p:sp>
      <p:sp>
        <p:nvSpPr>
          <p:cNvPr id="27" name="Text 24"/>
          <p:cNvSpPr/>
          <p:nvPr/>
        </p:nvSpPr>
        <p:spPr>
          <a:xfrm>
            <a:off x="12290584" y="4284315"/>
            <a:ext cx="4473267" cy="2171551"/>
          </a:xfrm>
          <a:prstGeom prst="rect">
            <a:avLst/>
          </a:prstGeom>
          <a:noFill/>
          <a:ln/>
        </p:spPr>
        <p:txBody>
          <a:bodyPr wrap="square" lIns="25400" tIns="25400" rIns="25400" bIns="25400" rtlCol="0" anchor="t">
            <a:normAutofit fontScale="92500" lnSpcReduction="20000"/>
          </a:bodyPr>
          <a:lstStyle/>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VIF / collinearity</a:t>
            </a:r>
            <a:endParaRPr lang="en-US" sz="2400" dirty="0"/>
          </a:p>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Bootstrapping</a:t>
            </a:r>
            <a:endParaRPr lang="en-US" sz="2400" dirty="0"/>
          </a:p>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Path coefficients &amp; p-values</a:t>
            </a:r>
            <a:endParaRPr lang="en-US" sz="2400" dirty="0"/>
          </a:p>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R²</a:t>
            </a:r>
            <a:endParaRPr lang="en-US" sz="2400" dirty="0"/>
          </a:p>
          <a:p>
            <a:pPr marL="213360" indent="-213360" algn="l">
              <a:lnSpc>
                <a:spcPct val="140000"/>
              </a:lnSpc>
              <a:buSzPct val="100000"/>
              <a:buChar char="•"/>
              <a:tabLst>
                <a:tab pos="213360" algn="l"/>
              </a:tabLst>
            </a:pPr>
            <a:r>
              <a:rPr lang="en-US" sz="2400" dirty="0">
                <a:solidFill>
                  <a:srgbClr val="2B3139"/>
                </a:solidFill>
                <a:latin typeface="Arial" pitchFamily="34" charset="0"/>
                <a:ea typeface="Arial" pitchFamily="34" charset="-122"/>
                <a:cs typeface="Arial" pitchFamily="34" charset="-120"/>
              </a:rPr>
              <a:t>Effect sizes (f²)</a:t>
            </a:r>
            <a:endParaRPr lang="en-US" sz="2400" dirty="0"/>
          </a:p>
        </p:txBody>
      </p:sp>
      <p:sp>
        <p:nvSpPr>
          <p:cNvPr id="28" name="Shape 25"/>
          <p:cNvSpPr/>
          <p:nvPr/>
        </p:nvSpPr>
        <p:spPr>
          <a:xfrm>
            <a:off x="1143000" y="8675936"/>
            <a:ext cx="16002000" cy="1047750"/>
          </a:xfrm>
          <a:prstGeom prst="roundRect">
            <a:avLst>
              <a:gd name="adj" fmla="val 20000"/>
            </a:avLst>
          </a:prstGeom>
          <a:solidFill>
            <a:srgbClr val="F2FBF5"/>
          </a:solidFill>
          <a:ln w="19050">
            <a:solidFill>
              <a:srgbClr val="14B24B"/>
            </a:solidFill>
            <a:prstDash val="solid"/>
          </a:ln>
        </p:spPr>
        <p:txBody>
          <a:bodyPr/>
          <a:lstStyle/>
          <a:p>
            <a:endParaRPr lang="en-US"/>
          </a:p>
        </p:txBody>
      </p:sp>
      <p:sp>
        <p:nvSpPr>
          <p:cNvPr id="29" name="Shape 26"/>
          <p:cNvSpPr/>
          <p:nvPr/>
        </p:nvSpPr>
        <p:spPr>
          <a:xfrm>
            <a:off x="1504950" y="8961686"/>
            <a:ext cx="1142702" cy="476250"/>
          </a:xfrm>
          <a:prstGeom prst="roundRect">
            <a:avLst>
              <a:gd name="adj" fmla="val 50000"/>
            </a:avLst>
          </a:prstGeom>
          <a:solidFill>
            <a:srgbClr val="14B24B"/>
          </a:solidFill>
          <a:ln/>
        </p:spPr>
        <p:txBody>
          <a:bodyPr/>
          <a:lstStyle/>
          <a:p>
            <a:endParaRPr lang="en-US"/>
          </a:p>
        </p:txBody>
      </p:sp>
      <p:sp>
        <p:nvSpPr>
          <p:cNvPr id="30" name="Text 27"/>
          <p:cNvSpPr/>
          <p:nvPr/>
        </p:nvSpPr>
        <p:spPr>
          <a:xfrm>
            <a:off x="1714500" y="9075986"/>
            <a:ext cx="799802" cy="285750"/>
          </a:xfrm>
          <a:prstGeom prst="rect">
            <a:avLst/>
          </a:prstGeom>
          <a:noFill/>
          <a:ln/>
        </p:spPr>
        <p:txBody>
          <a:bodyPr wrap="square" lIns="25400" tIns="25400" rIns="25400" bIns="25400" rtlCol="0" anchor="ctr">
            <a:normAutofit lnSpcReduction="10000"/>
          </a:bodyPr>
          <a:lstStyle/>
          <a:p>
            <a:pPr marL="0" indent="0" algn="l">
              <a:buNone/>
            </a:pPr>
            <a:r>
              <a:rPr lang="en-US" sz="1650" b="1" dirty="0">
                <a:solidFill>
                  <a:srgbClr val="FFFFFF"/>
                </a:solidFill>
                <a:latin typeface="Arial" pitchFamily="34" charset="0"/>
                <a:ea typeface="Arial" pitchFamily="34" charset="-122"/>
                <a:cs typeface="Arial" pitchFamily="34" charset="-120"/>
              </a:rPr>
              <a:t>STEP 3</a:t>
            </a:r>
            <a:endParaRPr lang="en-US" sz="1650" dirty="0"/>
          </a:p>
        </p:txBody>
      </p:sp>
      <p:sp>
        <p:nvSpPr>
          <p:cNvPr id="31" name="Text 28"/>
          <p:cNvSpPr/>
          <p:nvPr/>
        </p:nvSpPr>
        <p:spPr>
          <a:xfrm>
            <a:off x="2857202" y="9006929"/>
            <a:ext cx="13143646"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b="1" dirty="0">
                <a:solidFill>
                  <a:srgbClr val="111418"/>
                </a:solidFill>
                <a:latin typeface="Arial" pitchFamily="34" charset="0"/>
                <a:ea typeface="Arial" pitchFamily="34" charset="-122"/>
                <a:cs typeface="Arial" pitchFamily="34" charset="-120"/>
              </a:rPr>
              <a:t>Interpretation: identify which barriers or drivers most strongly explain </a:t>
            </a:r>
            <a:r>
              <a:rPr lang="en-US" sz="2250" b="1" dirty="0">
                <a:solidFill>
                  <a:srgbClr val="127A38"/>
                </a:solidFill>
                <a:latin typeface="Arial" pitchFamily="34" charset="0"/>
                <a:ea typeface="Arial" pitchFamily="34" charset="-122"/>
                <a:cs typeface="Arial" pitchFamily="34" charset="-120"/>
              </a:rPr>
              <a:t>limited continued use</a:t>
            </a:r>
            <a:r>
              <a:rPr lang="en-US" sz="2250" b="1" dirty="0">
                <a:solidFill>
                  <a:srgbClr val="111418"/>
                </a:solidFill>
                <a:latin typeface="Arial" pitchFamily="34" charset="0"/>
                <a:ea typeface="Arial" pitchFamily="34" charset="-122"/>
                <a:cs typeface="Arial" pitchFamily="34" charset="-120"/>
              </a:rPr>
              <a:t>.</a:t>
            </a:r>
            <a:endParaRPr lang="en-US" sz="2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14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METHOD LIMITATIONS &amp; MITIGATION</a:t>
            </a:r>
            <a:endParaRPr lang="en-US" sz="1800" dirty="0"/>
          </a:p>
        </p:txBody>
      </p:sp>
      <p:sp>
        <p:nvSpPr>
          <p:cNvPr id="7" name="Text 4"/>
          <p:cNvSpPr/>
          <p:nvPr/>
        </p:nvSpPr>
        <p:spPr>
          <a:xfrm>
            <a:off x="1143000" y="1533525"/>
            <a:ext cx="15206662" cy="89817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6450" b="1" kern="0" spc="-97" dirty="0">
                <a:solidFill>
                  <a:srgbClr val="111418"/>
                </a:solidFill>
                <a:latin typeface="Arial" pitchFamily="34" charset="0"/>
                <a:ea typeface="Arial" pitchFamily="34" charset="-122"/>
                <a:cs typeface="Arial" pitchFamily="34" charset="-120"/>
              </a:rPr>
              <a:t>Known trade-offs, handled explicitly.</a:t>
            </a:r>
            <a:endParaRPr lang="en-US" sz="6450" dirty="0"/>
          </a:p>
        </p:txBody>
      </p:sp>
      <p:sp>
        <p:nvSpPr>
          <p:cNvPr id="8" name="Shape 5"/>
          <p:cNvSpPr/>
          <p:nvPr/>
        </p:nvSpPr>
        <p:spPr>
          <a:xfrm>
            <a:off x="1143000" y="2965103"/>
            <a:ext cx="16002000" cy="4676775"/>
          </a:xfrm>
          <a:prstGeom prst="roundRect">
            <a:avLst>
              <a:gd name="adj" fmla="val 4481"/>
            </a:avLst>
          </a:prstGeom>
          <a:solidFill>
            <a:srgbClr val="FFFFFF"/>
          </a:solidFill>
          <a:ln/>
          <a:effectLst>
            <a:outerShdw blurRad="19050" dist="9525" dir="5400000" algn="bl" rotWithShape="0">
              <a:srgbClr val="0B3D1E">
                <a:alpha val="4000"/>
              </a:srgbClr>
            </a:outerShdw>
          </a:effectLst>
        </p:spPr>
        <p:txBody>
          <a:bodyPr/>
          <a:lstStyle/>
          <a:p>
            <a:endParaRPr lang="en-US"/>
          </a:p>
        </p:txBody>
      </p:sp>
      <p:sp>
        <p:nvSpPr>
          <p:cNvPr id="9" name="Shape 6"/>
          <p:cNvSpPr/>
          <p:nvPr/>
        </p:nvSpPr>
        <p:spPr>
          <a:xfrm>
            <a:off x="1143000" y="2965103"/>
            <a:ext cx="6080671" cy="666750"/>
          </a:xfrm>
          <a:prstGeom prst="rect">
            <a:avLst/>
          </a:prstGeom>
          <a:solidFill>
            <a:srgbClr val="0A0E12"/>
          </a:solidFill>
          <a:ln/>
        </p:spPr>
        <p:txBody>
          <a:bodyPr/>
          <a:lstStyle/>
          <a:p>
            <a:endParaRPr lang="en-US"/>
          </a:p>
        </p:txBody>
      </p:sp>
      <p:sp>
        <p:nvSpPr>
          <p:cNvPr id="10" name="Text 7"/>
          <p:cNvSpPr/>
          <p:nvPr/>
        </p:nvSpPr>
        <p:spPr>
          <a:xfrm>
            <a:off x="1409700" y="3174653"/>
            <a:ext cx="5729691"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132" dirty="0">
                <a:solidFill>
                  <a:srgbClr val="FFFFFF"/>
                </a:solidFill>
                <a:latin typeface="Arial" pitchFamily="34" charset="0"/>
                <a:ea typeface="Arial" pitchFamily="34" charset="-122"/>
                <a:cs typeface="Arial" pitchFamily="34" charset="-120"/>
              </a:rPr>
              <a:t>LIMITATION</a:t>
            </a:r>
            <a:endParaRPr lang="en-US" sz="1650" dirty="0"/>
          </a:p>
        </p:txBody>
      </p:sp>
      <p:sp>
        <p:nvSpPr>
          <p:cNvPr id="11" name="Shape 8"/>
          <p:cNvSpPr/>
          <p:nvPr/>
        </p:nvSpPr>
        <p:spPr>
          <a:xfrm>
            <a:off x="7223671" y="2965103"/>
            <a:ext cx="9921329" cy="666750"/>
          </a:xfrm>
          <a:prstGeom prst="rect">
            <a:avLst/>
          </a:prstGeom>
          <a:solidFill>
            <a:srgbClr val="0A0E12"/>
          </a:solidFill>
          <a:ln/>
        </p:spPr>
        <p:txBody>
          <a:bodyPr/>
          <a:lstStyle/>
          <a:p>
            <a:endParaRPr lang="en-US"/>
          </a:p>
        </p:txBody>
      </p:sp>
      <p:sp>
        <p:nvSpPr>
          <p:cNvPr id="12" name="Text 9"/>
          <p:cNvSpPr/>
          <p:nvPr/>
        </p:nvSpPr>
        <p:spPr>
          <a:xfrm>
            <a:off x="7490371" y="3174653"/>
            <a:ext cx="9685569"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132" dirty="0">
                <a:solidFill>
                  <a:srgbClr val="FFFFFF"/>
                </a:solidFill>
                <a:latin typeface="Arial" pitchFamily="34" charset="0"/>
                <a:ea typeface="Arial" pitchFamily="34" charset="-122"/>
                <a:cs typeface="Arial" pitchFamily="34" charset="-120"/>
              </a:rPr>
              <a:t>MITIGATION</a:t>
            </a:r>
            <a:endParaRPr lang="en-US" sz="1650" dirty="0"/>
          </a:p>
        </p:txBody>
      </p:sp>
      <p:sp>
        <p:nvSpPr>
          <p:cNvPr id="13" name="Shape 10"/>
          <p:cNvSpPr/>
          <p:nvPr/>
        </p:nvSpPr>
        <p:spPr>
          <a:xfrm>
            <a:off x="1143000" y="4579590"/>
            <a:ext cx="16002000" cy="9525"/>
          </a:xfrm>
          <a:prstGeom prst="rect">
            <a:avLst/>
          </a:prstGeom>
          <a:solidFill>
            <a:srgbClr val="000000">
              <a:alpha val="5000"/>
            </a:srgbClr>
          </a:solidFill>
          <a:ln/>
        </p:spPr>
        <p:txBody>
          <a:bodyPr/>
          <a:lstStyle/>
          <a:p>
            <a:endParaRPr lang="en-US"/>
          </a:p>
        </p:txBody>
      </p:sp>
      <p:sp>
        <p:nvSpPr>
          <p:cNvPr id="14" name="Text 11"/>
          <p:cNvSpPr/>
          <p:nvPr/>
        </p:nvSpPr>
        <p:spPr>
          <a:xfrm>
            <a:off x="1409700" y="3841403"/>
            <a:ext cx="2892792" cy="333375"/>
          </a:xfrm>
          <a:prstGeom prst="rect">
            <a:avLst/>
          </a:prstGeom>
          <a:noFill/>
          <a:ln/>
        </p:spPr>
        <p:txBody>
          <a:bodyPr wrap="square" lIns="0" tIns="0" rIns="0" bIns="0" rtlCol="0" anchor="t">
            <a:normAutofit/>
          </a:bodyPr>
          <a:lstStyle/>
          <a:p>
            <a:pPr marL="0" indent="0" algn="l">
              <a:buNone/>
            </a:pPr>
            <a:r>
              <a:rPr lang="en-US" sz="1950" b="1" dirty="0">
                <a:solidFill>
                  <a:srgbClr val="111418"/>
                </a:solidFill>
                <a:latin typeface="Arial" pitchFamily="34" charset="0"/>
                <a:ea typeface="Arial" pitchFamily="34" charset="-122"/>
                <a:cs typeface="Arial" pitchFamily="34" charset="-120"/>
              </a:rPr>
              <a:t>Cross-sectional design</a:t>
            </a:r>
            <a:endParaRPr lang="en-US" sz="1950" dirty="0"/>
          </a:p>
        </p:txBody>
      </p:sp>
      <p:sp>
        <p:nvSpPr>
          <p:cNvPr id="15" name="Text 12"/>
          <p:cNvSpPr/>
          <p:nvPr/>
        </p:nvSpPr>
        <p:spPr>
          <a:xfrm>
            <a:off x="1409700" y="4174778"/>
            <a:ext cx="5713689" cy="238125"/>
          </a:xfrm>
          <a:prstGeom prst="rect">
            <a:avLst/>
          </a:prstGeom>
          <a:noFill/>
          <a:ln/>
        </p:spPr>
        <p:txBody>
          <a:bodyPr wrap="square" lIns="25400" tIns="25400" rIns="25400" bIns="25400" rtlCol="0" anchor="t">
            <a:normAutofit lnSpcReduction="10000"/>
          </a:bodyPr>
          <a:lstStyle/>
          <a:p>
            <a:pPr marL="0" indent="0" algn="l">
              <a:buNone/>
            </a:pPr>
            <a:r>
              <a:rPr lang="en-US" sz="1350" dirty="0">
                <a:solidFill>
                  <a:srgbClr val="8A929C"/>
                </a:solidFill>
                <a:latin typeface="Arial" pitchFamily="34" charset="0"/>
                <a:ea typeface="Arial" pitchFamily="34" charset="-122"/>
                <a:cs typeface="Arial" pitchFamily="34" charset="-120"/>
              </a:rPr>
              <a:t>Captures one point in time.</a:t>
            </a:r>
            <a:endParaRPr lang="en-US" sz="1350" dirty="0"/>
          </a:p>
        </p:txBody>
      </p:sp>
      <p:sp>
        <p:nvSpPr>
          <p:cNvPr id="16" name="Text 13"/>
          <p:cNvSpPr/>
          <p:nvPr/>
        </p:nvSpPr>
        <p:spPr>
          <a:xfrm>
            <a:off x="7490371" y="3841403"/>
            <a:ext cx="9685569" cy="576263"/>
          </a:xfrm>
          <a:prstGeom prst="rect">
            <a:avLst/>
          </a:prstGeom>
          <a:noFill/>
          <a:ln/>
        </p:spPr>
        <p:txBody>
          <a:bodyPr wrap="square" lIns="25400" tIns="25400" rIns="25400" bIns="25400" rtlCol="0" anchor="t">
            <a:normAutofit/>
          </a:bodyPr>
          <a:lstStyle/>
          <a:p>
            <a:pPr marL="0" indent="0" algn="l">
              <a:buNone/>
            </a:pPr>
            <a:r>
              <a:rPr lang="en-US" sz="1950" dirty="0">
                <a:solidFill>
                  <a:srgbClr val="111418"/>
                </a:solidFill>
                <a:latin typeface="Arial" pitchFamily="34" charset="0"/>
                <a:ea typeface="Arial" pitchFamily="34" charset="-122"/>
                <a:cs typeface="Arial" pitchFamily="34" charset="-120"/>
              </a:rPr>
              <a:t>Future research can track users across tax cycles to assess stability.</a:t>
            </a:r>
            <a:endParaRPr lang="en-US" sz="1950" dirty="0"/>
          </a:p>
        </p:txBody>
      </p:sp>
      <p:sp>
        <p:nvSpPr>
          <p:cNvPr id="17" name="Shape 14"/>
          <p:cNvSpPr/>
          <p:nvPr/>
        </p:nvSpPr>
        <p:spPr>
          <a:xfrm>
            <a:off x="1143000" y="5598765"/>
            <a:ext cx="16002000" cy="9525"/>
          </a:xfrm>
          <a:prstGeom prst="rect">
            <a:avLst/>
          </a:prstGeom>
          <a:solidFill>
            <a:srgbClr val="000000">
              <a:alpha val="5000"/>
            </a:srgbClr>
          </a:solidFill>
          <a:ln/>
        </p:spPr>
        <p:txBody>
          <a:bodyPr/>
          <a:lstStyle/>
          <a:p>
            <a:endParaRPr lang="en-US"/>
          </a:p>
        </p:txBody>
      </p:sp>
      <p:sp>
        <p:nvSpPr>
          <p:cNvPr id="18" name="Text 15"/>
          <p:cNvSpPr/>
          <p:nvPr/>
        </p:nvSpPr>
        <p:spPr>
          <a:xfrm>
            <a:off x="1409700" y="4798665"/>
            <a:ext cx="5729691" cy="638175"/>
          </a:xfrm>
          <a:prstGeom prst="rect">
            <a:avLst/>
          </a:prstGeom>
          <a:noFill/>
          <a:ln/>
        </p:spPr>
        <p:txBody>
          <a:bodyPr wrap="square" lIns="25400" tIns="25400" rIns="25400" bIns="25400" rtlCol="0" anchor="t">
            <a:normAutofit/>
          </a:bodyPr>
          <a:lstStyle/>
          <a:p>
            <a:pPr marL="0" indent="0" algn="l">
              <a:buNone/>
            </a:pPr>
            <a:r>
              <a:rPr lang="en-US" sz="1950" b="1" dirty="0">
                <a:solidFill>
                  <a:srgbClr val="111418"/>
                </a:solidFill>
                <a:latin typeface="Arial" pitchFamily="34" charset="0"/>
                <a:ea typeface="Arial" pitchFamily="34" charset="-122"/>
                <a:cs typeface="Arial" pitchFamily="34" charset="-120"/>
              </a:rPr>
              <a:t>Self-reporting bias</a:t>
            </a:r>
            <a:endParaRPr lang="en-US" sz="1950" dirty="0"/>
          </a:p>
        </p:txBody>
      </p:sp>
      <p:sp>
        <p:nvSpPr>
          <p:cNvPr id="19" name="Text 16"/>
          <p:cNvSpPr/>
          <p:nvPr/>
        </p:nvSpPr>
        <p:spPr>
          <a:xfrm>
            <a:off x="7490371" y="4798665"/>
            <a:ext cx="9685569" cy="638175"/>
          </a:xfrm>
          <a:prstGeom prst="rect">
            <a:avLst/>
          </a:prstGeom>
          <a:noFill/>
          <a:ln/>
        </p:spPr>
        <p:txBody>
          <a:bodyPr wrap="square" lIns="25400" tIns="25400" rIns="25400" bIns="25400" rtlCol="0" anchor="t">
            <a:normAutofit/>
          </a:bodyPr>
          <a:lstStyle/>
          <a:p>
            <a:pPr marL="0" indent="0" algn="l">
              <a:buNone/>
            </a:pPr>
            <a:r>
              <a:rPr lang="en-US" sz="1950" dirty="0">
                <a:solidFill>
                  <a:srgbClr val="111418"/>
                </a:solidFill>
                <a:latin typeface="Arial" pitchFamily="34" charset="0"/>
                <a:ea typeface="Arial" pitchFamily="34" charset="-122"/>
                <a:cs typeface="Arial" pitchFamily="34" charset="-120"/>
              </a:rPr>
              <a:t>Reduced through anonymity, neutral wording and clear instructions. </a:t>
            </a:r>
            <a:r>
              <a:rPr lang="en-US" sz="1365" b="1" dirty="0">
                <a:solidFill>
                  <a:srgbClr val="8A929C"/>
                </a:solidFill>
                <a:latin typeface="Arial" pitchFamily="34" charset="0"/>
                <a:ea typeface="Arial" pitchFamily="34" charset="-122"/>
                <a:cs typeface="Arial" pitchFamily="34" charset="-120"/>
              </a:rPr>
              <a:t>(Podsakoff et al., 2003)</a:t>
            </a:r>
            <a:endParaRPr lang="en-US" sz="1950" dirty="0"/>
          </a:p>
        </p:txBody>
      </p:sp>
      <p:sp>
        <p:nvSpPr>
          <p:cNvPr id="20" name="Shape 17"/>
          <p:cNvSpPr/>
          <p:nvPr/>
        </p:nvSpPr>
        <p:spPr>
          <a:xfrm>
            <a:off x="1143000" y="6617940"/>
            <a:ext cx="16002000" cy="9525"/>
          </a:xfrm>
          <a:prstGeom prst="rect">
            <a:avLst/>
          </a:prstGeom>
          <a:solidFill>
            <a:srgbClr val="000000">
              <a:alpha val="5000"/>
            </a:srgbClr>
          </a:solidFill>
          <a:ln/>
        </p:spPr>
        <p:txBody>
          <a:bodyPr/>
          <a:lstStyle/>
          <a:p>
            <a:endParaRPr lang="en-US"/>
          </a:p>
        </p:txBody>
      </p:sp>
      <p:sp>
        <p:nvSpPr>
          <p:cNvPr id="21" name="Text 18"/>
          <p:cNvSpPr/>
          <p:nvPr/>
        </p:nvSpPr>
        <p:spPr>
          <a:xfrm>
            <a:off x="1409700" y="5817840"/>
            <a:ext cx="5729691" cy="638175"/>
          </a:xfrm>
          <a:prstGeom prst="rect">
            <a:avLst/>
          </a:prstGeom>
          <a:noFill/>
          <a:ln/>
        </p:spPr>
        <p:txBody>
          <a:bodyPr wrap="square" lIns="25400" tIns="25400" rIns="25400" bIns="25400" rtlCol="0" anchor="t">
            <a:normAutofit/>
          </a:bodyPr>
          <a:lstStyle/>
          <a:p>
            <a:pPr marL="0" indent="0" algn="l">
              <a:buNone/>
            </a:pPr>
            <a:r>
              <a:rPr lang="en-US" sz="1950" b="1" dirty="0">
                <a:solidFill>
                  <a:srgbClr val="111418"/>
                </a:solidFill>
                <a:latin typeface="Arial" pitchFamily="34" charset="0"/>
                <a:ea typeface="Arial" pitchFamily="34" charset="-122"/>
                <a:cs typeface="Arial" pitchFamily="34" charset="-120"/>
              </a:rPr>
              <a:t>Digital-only recruitment</a:t>
            </a:r>
            <a:endParaRPr lang="en-US" sz="1950" dirty="0"/>
          </a:p>
        </p:txBody>
      </p:sp>
      <p:sp>
        <p:nvSpPr>
          <p:cNvPr id="22" name="Text 19"/>
          <p:cNvSpPr/>
          <p:nvPr/>
        </p:nvSpPr>
        <p:spPr>
          <a:xfrm>
            <a:off x="7490371" y="5817840"/>
            <a:ext cx="9685569" cy="638175"/>
          </a:xfrm>
          <a:prstGeom prst="rect">
            <a:avLst/>
          </a:prstGeom>
          <a:noFill/>
          <a:ln/>
        </p:spPr>
        <p:txBody>
          <a:bodyPr wrap="square" lIns="25400" tIns="25400" rIns="25400" bIns="25400" rtlCol="0" anchor="t">
            <a:normAutofit lnSpcReduction="10000"/>
          </a:bodyPr>
          <a:lstStyle/>
          <a:p>
            <a:pPr marL="0" indent="0" algn="l">
              <a:buNone/>
            </a:pPr>
            <a:r>
              <a:rPr lang="en-US" sz="1950" dirty="0">
                <a:solidFill>
                  <a:srgbClr val="111418"/>
                </a:solidFill>
                <a:latin typeface="Arial" pitchFamily="34" charset="0"/>
                <a:ea typeface="Arial" pitchFamily="34" charset="-122"/>
                <a:cs typeface="Arial" pitchFamily="34" charset="-120"/>
              </a:rPr>
              <a:t>Recruitment channels are diversified to reduce exclusion of users with weak internet access. </a:t>
            </a:r>
            <a:r>
              <a:rPr lang="en-US" sz="1365" b="1" dirty="0">
                <a:solidFill>
                  <a:srgbClr val="8A929C"/>
                </a:solidFill>
                <a:latin typeface="Arial" pitchFamily="34" charset="0"/>
                <a:ea typeface="Arial" pitchFamily="34" charset="-122"/>
                <a:cs typeface="Arial" pitchFamily="34" charset="-120"/>
              </a:rPr>
              <a:t>(UNDP Guyana, 2023)</a:t>
            </a:r>
            <a:endParaRPr lang="en-US" sz="1950" dirty="0"/>
          </a:p>
        </p:txBody>
      </p:sp>
      <p:sp>
        <p:nvSpPr>
          <p:cNvPr id="23" name="Text 20"/>
          <p:cNvSpPr/>
          <p:nvPr/>
        </p:nvSpPr>
        <p:spPr>
          <a:xfrm>
            <a:off x="1409700" y="6837015"/>
            <a:ext cx="5729691" cy="633413"/>
          </a:xfrm>
          <a:prstGeom prst="rect">
            <a:avLst/>
          </a:prstGeom>
          <a:noFill/>
          <a:ln/>
        </p:spPr>
        <p:txBody>
          <a:bodyPr wrap="square" lIns="25400" tIns="25400" rIns="25400" bIns="25400" rtlCol="0" anchor="t">
            <a:normAutofit/>
          </a:bodyPr>
          <a:lstStyle/>
          <a:p>
            <a:pPr marL="0" indent="0" algn="l">
              <a:buNone/>
            </a:pPr>
            <a:r>
              <a:rPr lang="en-US" sz="1950" b="1" dirty="0">
                <a:solidFill>
                  <a:srgbClr val="111418"/>
                </a:solidFill>
                <a:latin typeface="Arial" pitchFamily="34" charset="0"/>
                <a:ea typeface="Arial" pitchFamily="34" charset="-122"/>
                <a:cs typeface="Arial" pitchFamily="34" charset="-120"/>
              </a:rPr>
              <a:t>Intention vs. behaviour</a:t>
            </a:r>
            <a:endParaRPr lang="en-US" sz="1950" dirty="0"/>
          </a:p>
        </p:txBody>
      </p:sp>
      <p:sp>
        <p:nvSpPr>
          <p:cNvPr id="24" name="Text 21"/>
          <p:cNvSpPr/>
          <p:nvPr/>
        </p:nvSpPr>
        <p:spPr>
          <a:xfrm>
            <a:off x="7490371" y="6837015"/>
            <a:ext cx="9685569" cy="633413"/>
          </a:xfrm>
          <a:prstGeom prst="rect">
            <a:avLst/>
          </a:prstGeom>
          <a:noFill/>
          <a:ln/>
        </p:spPr>
        <p:txBody>
          <a:bodyPr wrap="square" lIns="25400" tIns="25400" rIns="25400" bIns="25400" rtlCol="0" anchor="t">
            <a:normAutofit/>
          </a:bodyPr>
          <a:lstStyle/>
          <a:p>
            <a:pPr marL="0" indent="0" algn="l">
              <a:buNone/>
            </a:pPr>
            <a:r>
              <a:rPr lang="en-US" sz="1950" dirty="0">
                <a:solidFill>
                  <a:srgbClr val="111418"/>
                </a:solidFill>
                <a:latin typeface="Arial" pitchFamily="34" charset="0"/>
                <a:ea typeface="Arial" pitchFamily="34" charset="-122"/>
                <a:cs typeface="Arial" pitchFamily="34" charset="-120"/>
              </a:rPr>
              <a:t>Findings explain </a:t>
            </a:r>
            <a:r>
              <a:rPr lang="en-US" sz="1950" i="1" dirty="0">
                <a:solidFill>
                  <a:srgbClr val="111418"/>
                </a:solidFill>
                <a:latin typeface="Arial" pitchFamily="34" charset="0"/>
                <a:ea typeface="Arial" pitchFamily="34" charset="-122"/>
                <a:cs typeface="Arial" pitchFamily="34" charset="-120"/>
              </a:rPr>
              <a:t>continuance intention</a:t>
            </a:r>
            <a:r>
              <a:rPr lang="en-US" sz="1950" dirty="0">
                <a:solidFill>
                  <a:srgbClr val="111418"/>
                </a:solidFill>
                <a:latin typeface="Arial" pitchFamily="34" charset="0"/>
                <a:ea typeface="Arial" pitchFamily="34" charset="-122"/>
                <a:cs typeface="Arial" pitchFamily="34" charset="-120"/>
              </a:rPr>
              <a:t>, not confirmed long-term usage logs. </a:t>
            </a:r>
            <a:r>
              <a:rPr lang="en-US" sz="1365" b="1" dirty="0">
                <a:solidFill>
                  <a:srgbClr val="8A929C"/>
                </a:solidFill>
                <a:latin typeface="Arial" pitchFamily="34" charset="0"/>
                <a:ea typeface="Arial" pitchFamily="34" charset="-122"/>
                <a:cs typeface="Arial" pitchFamily="34" charset="-120"/>
              </a:rPr>
              <a:t>(Ajzen, 1991)</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15 / 19</a:t>
            </a:r>
            <a:endParaRPr lang="en-US" sz="1650" dirty="0"/>
          </a:p>
        </p:txBody>
      </p:sp>
      <p:sp>
        <p:nvSpPr>
          <p:cNvPr id="6" name="Text 3"/>
          <p:cNvSpPr/>
          <p:nvPr/>
        </p:nvSpPr>
        <p:spPr>
          <a:xfrm>
            <a:off x="1143000" y="10477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CONCLUSION</a:t>
            </a:r>
            <a:endParaRPr lang="en-US" sz="1800" dirty="0"/>
          </a:p>
        </p:txBody>
      </p:sp>
      <p:sp>
        <p:nvSpPr>
          <p:cNvPr id="7" name="Text 4"/>
          <p:cNvSpPr/>
          <p:nvPr/>
        </p:nvSpPr>
        <p:spPr>
          <a:xfrm>
            <a:off x="1143000" y="1533525"/>
            <a:ext cx="15206662" cy="1758255"/>
          </a:xfrm>
          <a:prstGeom prst="rect">
            <a:avLst/>
          </a:prstGeom>
          <a:noFill/>
          <a:ln/>
        </p:spPr>
        <p:txBody>
          <a:bodyPr wrap="square" lIns="25400" tIns="25400" rIns="25400" bIns="25400" rtlCol="0" anchor="t">
            <a:normAutofit fontScale="92500"/>
          </a:bodyPr>
          <a:lstStyle/>
          <a:p>
            <a:pPr marL="0" indent="0" algn="l">
              <a:lnSpc>
                <a:spcPct val="105000"/>
              </a:lnSpc>
              <a:buNone/>
            </a:pPr>
            <a:r>
              <a:rPr lang="en-US" sz="6450" b="1" kern="0" spc="-97" dirty="0">
                <a:solidFill>
                  <a:srgbClr val="111418"/>
                </a:solidFill>
                <a:latin typeface="Arial" pitchFamily="34" charset="0"/>
                <a:ea typeface="Arial" pitchFamily="34" charset="-122"/>
                <a:cs typeface="Arial" pitchFamily="34" charset="-120"/>
              </a:rPr>
              <a:t>A model, a method, a measurable answer</a:t>
            </a:r>
            <a:endParaRPr lang="en-US" sz="6450" dirty="0"/>
          </a:p>
        </p:txBody>
      </p:sp>
      <p:sp>
        <p:nvSpPr>
          <p:cNvPr id="8" name="Shape 5"/>
          <p:cNvSpPr/>
          <p:nvPr/>
        </p:nvSpPr>
        <p:spPr>
          <a:xfrm>
            <a:off x="1143000" y="3939480"/>
            <a:ext cx="5130701" cy="4609951"/>
          </a:xfrm>
          <a:prstGeom prst="roundRect">
            <a:avLst>
              <a:gd name="adj" fmla="val 4546"/>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9" name="Text 6"/>
          <p:cNvSpPr/>
          <p:nvPr/>
        </p:nvSpPr>
        <p:spPr>
          <a:xfrm>
            <a:off x="1562100" y="4358580"/>
            <a:ext cx="4421276" cy="8953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7500" b="1" kern="0" spc="-300" dirty="0">
                <a:solidFill>
                  <a:srgbClr val="14B24B"/>
                </a:solidFill>
                <a:latin typeface="Arial" pitchFamily="34" charset="0"/>
                <a:ea typeface="Arial" pitchFamily="34" charset="-122"/>
                <a:cs typeface="Arial" pitchFamily="34" charset="-120"/>
              </a:rPr>
              <a:t>I</a:t>
            </a:r>
            <a:endParaRPr lang="en-US" sz="7500" dirty="0"/>
          </a:p>
        </p:txBody>
      </p:sp>
      <p:sp>
        <p:nvSpPr>
          <p:cNvPr id="10" name="Text 7"/>
          <p:cNvSpPr/>
          <p:nvPr/>
        </p:nvSpPr>
        <p:spPr>
          <a:xfrm>
            <a:off x="1562100" y="5368230"/>
            <a:ext cx="4421276"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IMPLEMENTATION</a:t>
            </a:r>
            <a:endParaRPr lang="en-US" sz="1500" dirty="0"/>
          </a:p>
        </p:txBody>
      </p:sp>
      <p:sp>
        <p:nvSpPr>
          <p:cNvPr id="11" name="Text 8"/>
          <p:cNvSpPr/>
          <p:nvPr/>
        </p:nvSpPr>
        <p:spPr>
          <a:xfrm>
            <a:off x="1562100" y="5692080"/>
            <a:ext cx="4421276" cy="2171551"/>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2B3139"/>
                </a:solidFill>
                <a:latin typeface="Arial" pitchFamily="34" charset="0"/>
                <a:ea typeface="Arial" pitchFamily="34" charset="-122"/>
                <a:cs typeface="Arial" pitchFamily="34" charset="-120"/>
              </a:rPr>
              <a:t>Conceptual model developed through literature review, model comparison, ECM selection and contextual extension.</a:t>
            </a:r>
            <a:endParaRPr lang="en-US" sz="2400" dirty="0"/>
          </a:p>
        </p:txBody>
      </p:sp>
      <p:sp>
        <p:nvSpPr>
          <p:cNvPr id="12" name="Shape 9"/>
          <p:cNvSpPr/>
          <p:nvPr/>
        </p:nvSpPr>
        <p:spPr>
          <a:xfrm>
            <a:off x="6578501" y="3939480"/>
            <a:ext cx="5130850" cy="4609951"/>
          </a:xfrm>
          <a:prstGeom prst="roundRect">
            <a:avLst>
              <a:gd name="adj" fmla="val 4546"/>
            </a:avLst>
          </a:prstGeom>
          <a:solidFill>
            <a:srgbClr val="FFFFFF">
              <a:alpha val="92000"/>
            </a:srgbClr>
          </a:solidFill>
          <a:ln/>
          <a:effectLst>
            <a:outerShdw blurRad="19050" dist="9525" dir="5400000" algn="bl" rotWithShape="0">
              <a:srgbClr val="0B3D1E">
                <a:alpha val="4000"/>
              </a:srgbClr>
            </a:outerShdw>
          </a:effectLst>
        </p:spPr>
        <p:txBody>
          <a:bodyPr/>
          <a:lstStyle/>
          <a:p>
            <a:endParaRPr lang="en-US"/>
          </a:p>
        </p:txBody>
      </p:sp>
      <p:sp>
        <p:nvSpPr>
          <p:cNvPr id="13" name="Text 10"/>
          <p:cNvSpPr/>
          <p:nvPr/>
        </p:nvSpPr>
        <p:spPr>
          <a:xfrm>
            <a:off x="6997601" y="4358580"/>
            <a:ext cx="4421429" cy="8953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7500" b="1" kern="0" spc="-300" dirty="0">
                <a:solidFill>
                  <a:srgbClr val="14B24B"/>
                </a:solidFill>
                <a:latin typeface="Arial" pitchFamily="34" charset="0"/>
                <a:ea typeface="Arial" pitchFamily="34" charset="-122"/>
                <a:cs typeface="Arial" pitchFamily="34" charset="-120"/>
              </a:rPr>
              <a:t>II</a:t>
            </a:r>
            <a:endParaRPr lang="en-US" sz="7500" dirty="0"/>
          </a:p>
        </p:txBody>
      </p:sp>
      <p:sp>
        <p:nvSpPr>
          <p:cNvPr id="14" name="Text 11"/>
          <p:cNvSpPr/>
          <p:nvPr/>
        </p:nvSpPr>
        <p:spPr>
          <a:xfrm>
            <a:off x="6997601" y="5368230"/>
            <a:ext cx="4421429"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0E9F43"/>
                </a:solidFill>
                <a:latin typeface="Arial" pitchFamily="34" charset="0"/>
                <a:ea typeface="Arial" pitchFamily="34" charset="-122"/>
                <a:cs typeface="Arial" pitchFamily="34" charset="-120"/>
              </a:rPr>
              <a:t>EVALUATION</a:t>
            </a:r>
            <a:endParaRPr lang="en-US" sz="1500" dirty="0"/>
          </a:p>
        </p:txBody>
      </p:sp>
      <p:sp>
        <p:nvSpPr>
          <p:cNvPr id="15" name="Text 12"/>
          <p:cNvSpPr/>
          <p:nvPr/>
        </p:nvSpPr>
        <p:spPr>
          <a:xfrm>
            <a:off x="6997601" y="5692080"/>
            <a:ext cx="4421429" cy="217155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400" dirty="0">
                <a:solidFill>
                  <a:srgbClr val="2B3139"/>
                </a:solidFill>
                <a:latin typeface="Arial" pitchFamily="34" charset="0"/>
                <a:ea typeface="Arial" pitchFamily="34" charset="-122"/>
                <a:cs typeface="Arial" pitchFamily="34" charset="-120"/>
              </a:rPr>
              <a:t>Survey-based quantitative design tests the model with eligible Padna users — sample size planning, ethics and quality controls.</a:t>
            </a:r>
            <a:endParaRPr lang="en-US" sz="2400" dirty="0"/>
          </a:p>
        </p:txBody>
      </p:sp>
      <p:sp>
        <p:nvSpPr>
          <p:cNvPr id="16" name="Shape 13"/>
          <p:cNvSpPr/>
          <p:nvPr/>
        </p:nvSpPr>
        <p:spPr>
          <a:xfrm>
            <a:off x="12014150" y="3939480"/>
            <a:ext cx="5130850" cy="4609951"/>
          </a:xfrm>
          <a:prstGeom prst="roundRect">
            <a:avLst>
              <a:gd name="adj" fmla="val 4546"/>
            </a:avLst>
          </a:prstGeom>
          <a:solidFill>
            <a:srgbClr val="0A0E12"/>
          </a:solidFill>
          <a:ln/>
          <a:effectLst>
            <a:outerShdw blurRad="19050" dist="9525" dir="5400000" algn="bl" rotWithShape="0">
              <a:srgbClr val="0B3D1E">
                <a:alpha val="4000"/>
              </a:srgbClr>
            </a:outerShdw>
          </a:effectLst>
        </p:spPr>
        <p:txBody>
          <a:bodyPr/>
          <a:lstStyle/>
          <a:p>
            <a:endParaRPr lang="en-US"/>
          </a:p>
        </p:txBody>
      </p:sp>
      <p:sp>
        <p:nvSpPr>
          <p:cNvPr id="17" name="Text 14"/>
          <p:cNvSpPr/>
          <p:nvPr/>
        </p:nvSpPr>
        <p:spPr>
          <a:xfrm>
            <a:off x="12433250" y="4358580"/>
            <a:ext cx="4421429" cy="895350"/>
          </a:xfrm>
          <a:prstGeom prst="rect">
            <a:avLst/>
          </a:prstGeom>
          <a:noFill/>
          <a:ln/>
        </p:spPr>
        <p:txBody>
          <a:bodyPr wrap="square" lIns="25400" tIns="25400" rIns="25400" bIns="25400" rtlCol="0" anchor="t">
            <a:normAutofit fontScale="92500" lnSpcReduction="20000"/>
          </a:bodyPr>
          <a:lstStyle/>
          <a:p>
            <a:pPr marL="0" indent="0" algn="l">
              <a:lnSpc>
                <a:spcPct val="90000"/>
              </a:lnSpc>
              <a:buNone/>
            </a:pPr>
            <a:r>
              <a:rPr lang="en-US" sz="7500" b="1" kern="0" spc="-300" dirty="0">
                <a:solidFill>
                  <a:srgbClr val="4DC97A"/>
                </a:solidFill>
                <a:latin typeface="Arial" pitchFamily="34" charset="0"/>
                <a:ea typeface="Arial" pitchFamily="34" charset="-122"/>
                <a:cs typeface="Arial" pitchFamily="34" charset="-120"/>
              </a:rPr>
              <a:t>III</a:t>
            </a:r>
            <a:endParaRPr lang="en-US" sz="7500" dirty="0"/>
          </a:p>
        </p:txBody>
      </p:sp>
      <p:sp>
        <p:nvSpPr>
          <p:cNvPr id="18" name="Text 15"/>
          <p:cNvSpPr/>
          <p:nvPr/>
        </p:nvSpPr>
        <p:spPr>
          <a:xfrm>
            <a:off x="12433250" y="5368230"/>
            <a:ext cx="4421429"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10" dirty="0">
                <a:solidFill>
                  <a:srgbClr val="4DC97A"/>
                </a:solidFill>
                <a:latin typeface="Arial" pitchFamily="34" charset="0"/>
                <a:ea typeface="Arial" pitchFamily="34" charset="-122"/>
                <a:cs typeface="Arial" pitchFamily="34" charset="-120"/>
              </a:rPr>
              <a:t>ANALYSIS</a:t>
            </a:r>
            <a:endParaRPr lang="en-US" sz="1500" dirty="0"/>
          </a:p>
        </p:txBody>
      </p:sp>
      <p:sp>
        <p:nvSpPr>
          <p:cNvPr id="19" name="Text 16"/>
          <p:cNvSpPr/>
          <p:nvPr/>
        </p:nvSpPr>
        <p:spPr>
          <a:xfrm>
            <a:off x="12433250" y="5692080"/>
            <a:ext cx="4421429" cy="2171551"/>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2400" dirty="0">
                <a:solidFill>
                  <a:srgbClr val="FFFFFF">
                    <a:alpha val="88000"/>
                  </a:srgbClr>
                </a:solidFill>
                <a:latin typeface="Arial" pitchFamily="34" charset="0"/>
                <a:ea typeface="Arial" pitchFamily="34" charset="-122"/>
                <a:cs typeface="Arial" pitchFamily="34" charset="-120"/>
              </a:rPr>
              <a:t>PLS-SEM identifies the strongest factors explaining limited continued use — and informs recommendations for GRA.</a:t>
            </a:r>
            <a:endParaRPr lang="en-US" sz="2400" dirty="0"/>
          </a:p>
        </p:txBody>
      </p:sp>
      <p:sp>
        <p:nvSpPr>
          <p:cNvPr id="20" name="Text 17"/>
          <p:cNvSpPr/>
          <p:nvPr/>
        </p:nvSpPr>
        <p:spPr>
          <a:xfrm>
            <a:off x="902970" y="9235232"/>
            <a:ext cx="16482060" cy="381000"/>
          </a:xfrm>
          <a:prstGeom prst="rect">
            <a:avLst/>
          </a:prstGeom>
          <a:noFill/>
          <a:ln/>
        </p:spPr>
        <p:txBody>
          <a:bodyPr wrap="square" lIns="25400" tIns="25400" rIns="25400" bIns="25400" rtlCol="0" anchor="t">
            <a:normAutofit lnSpcReduction="10000"/>
          </a:bodyPr>
          <a:lstStyle/>
          <a:p>
            <a:pPr marL="0" indent="0" algn="ctr">
              <a:buNone/>
            </a:pPr>
            <a:r>
              <a:rPr lang="en-US" sz="2250" dirty="0">
                <a:solidFill>
                  <a:srgbClr val="5C6570"/>
                </a:solidFill>
                <a:latin typeface="Arial" pitchFamily="34" charset="0"/>
                <a:ea typeface="Arial" pitchFamily="34" charset="-122"/>
                <a:cs typeface="Arial" pitchFamily="34" charset="-120"/>
              </a:rPr>
              <a:t>The deliverable: </a:t>
            </a:r>
            <a:r>
              <a:rPr lang="en-US" sz="2250" b="1" dirty="0">
                <a:solidFill>
                  <a:srgbClr val="111418"/>
                </a:solidFill>
                <a:latin typeface="Arial" pitchFamily="34" charset="0"/>
                <a:ea typeface="Arial" pitchFamily="34" charset="-122"/>
                <a:cs typeface="Arial" pitchFamily="34" charset="-120"/>
              </a:rPr>
              <a:t>an evidence-based view </a:t>
            </a:r>
            <a:r>
              <a:rPr lang="en-US" sz="2250" dirty="0">
                <a:solidFill>
                  <a:srgbClr val="5C6570"/>
                </a:solidFill>
                <a:latin typeface="Arial" pitchFamily="34" charset="0"/>
                <a:ea typeface="Arial" pitchFamily="34" charset="-122"/>
                <a:cs typeface="Arial" pitchFamily="34" charset="-120"/>
              </a:rPr>
              <a:t>of why Guyanese taxpayers stay, slow down or leave Padna.</a:t>
            </a:r>
            <a:endParaRPr lang="en-US" sz="2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16 / 19</a:t>
            </a:r>
            <a:endParaRPr lang="en-US" sz="1650" dirty="0"/>
          </a:p>
        </p:txBody>
      </p:sp>
      <p:sp>
        <p:nvSpPr>
          <p:cNvPr id="6" name="Text 3"/>
          <p:cNvSpPr/>
          <p:nvPr/>
        </p:nvSpPr>
        <p:spPr>
          <a:xfrm>
            <a:off x="1143000" y="8572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REFERENCES · 1 / 3</a:t>
            </a:r>
            <a:endParaRPr lang="en-US" sz="1800" dirty="0"/>
          </a:p>
        </p:txBody>
      </p:sp>
      <p:sp>
        <p:nvSpPr>
          <p:cNvPr id="7" name="Text 4"/>
          <p:cNvSpPr/>
          <p:nvPr/>
        </p:nvSpPr>
        <p:spPr>
          <a:xfrm>
            <a:off x="1143000" y="1343025"/>
            <a:ext cx="15206662" cy="67806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endParaRPr lang="en-US" sz="4800" dirty="0"/>
          </a:p>
        </p:txBody>
      </p:sp>
      <p:sp>
        <p:nvSpPr>
          <p:cNvPr id="8" name="Shape 5"/>
          <p:cNvSpPr/>
          <p:nvPr/>
        </p:nvSpPr>
        <p:spPr>
          <a:xfrm>
            <a:off x="1143000" y="2363986"/>
            <a:ext cx="28575" cy="816025"/>
          </a:xfrm>
          <a:prstGeom prst="rect">
            <a:avLst/>
          </a:prstGeom>
          <a:solidFill>
            <a:srgbClr val="B7E7C4"/>
          </a:solidFill>
          <a:ln/>
        </p:spPr>
        <p:txBody>
          <a:bodyPr/>
          <a:lstStyle/>
          <a:p>
            <a:endParaRPr lang="en-US"/>
          </a:p>
        </p:txBody>
      </p:sp>
      <p:sp>
        <p:nvSpPr>
          <p:cNvPr id="9" name="Text 6"/>
          <p:cNvSpPr/>
          <p:nvPr/>
        </p:nvSpPr>
        <p:spPr>
          <a:xfrm>
            <a:off x="1438275" y="2440186"/>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Ajzen, I. </a:t>
            </a:r>
            <a:r>
              <a:rPr lang="en-US" sz="1200" dirty="0">
                <a:solidFill>
                  <a:srgbClr val="2B3139"/>
                </a:solidFill>
                <a:latin typeface="Arial" pitchFamily="34" charset="0"/>
                <a:ea typeface="Arial" pitchFamily="34" charset="-122"/>
                <a:cs typeface="Arial" pitchFamily="34" charset="-120"/>
              </a:rPr>
              <a:t>(1991). The theory of planned behaviour. </a:t>
            </a:r>
            <a:r>
              <a:rPr lang="en-US" sz="1200" i="1" dirty="0">
                <a:solidFill>
                  <a:srgbClr val="2B3139"/>
                </a:solidFill>
                <a:latin typeface="Arial" pitchFamily="34" charset="0"/>
                <a:ea typeface="Arial" pitchFamily="34" charset="-122"/>
                <a:cs typeface="Arial" pitchFamily="34" charset="-120"/>
              </a:rPr>
              <a:t>Organizational Behavior and Human Decision Processes, 50 </a:t>
            </a:r>
            <a:r>
              <a:rPr lang="en-US" sz="1200" dirty="0">
                <a:solidFill>
                  <a:srgbClr val="2B3139"/>
                </a:solidFill>
                <a:latin typeface="Arial" pitchFamily="34" charset="0"/>
                <a:ea typeface="Arial" pitchFamily="34" charset="-122"/>
                <a:cs typeface="Arial" pitchFamily="34" charset="-120"/>
              </a:rPr>
              <a:t>(2), 179–211.</a:t>
            </a:r>
            <a:endParaRPr lang="en-US" sz="1200" dirty="0"/>
          </a:p>
        </p:txBody>
      </p:sp>
      <p:sp>
        <p:nvSpPr>
          <p:cNvPr id="10" name="Text 7"/>
          <p:cNvSpPr/>
          <p:nvPr/>
        </p:nvSpPr>
        <p:spPr>
          <a:xfrm>
            <a:off x="1438275" y="2910483"/>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doi.org/10.1016/0749-5978(91)90020-T</a:t>
            </a:r>
            <a:endParaRPr lang="en-US" sz="1050" dirty="0"/>
          </a:p>
        </p:txBody>
      </p:sp>
      <p:sp>
        <p:nvSpPr>
          <p:cNvPr id="11" name="Shape 8"/>
          <p:cNvSpPr/>
          <p:nvPr/>
        </p:nvSpPr>
        <p:spPr>
          <a:xfrm>
            <a:off x="9410700" y="2363986"/>
            <a:ext cx="28575" cy="816025"/>
          </a:xfrm>
          <a:prstGeom prst="rect">
            <a:avLst/>
          </a:prstGeom>
          <a:solidFill>
            <a:srgbClr val="B7E7C4"/>
          </a:solidFill>
          <a:ln/>
        </p:spPr>
        <p:txBody>
          <a:bodyPr/>
          <a:lstStyle/>
          <a:p>
            <a:endParaRPr lang="en-US"/>
          </a:p>
        </p:txBody>
      </p:sp>
      <p:sp>
        <p:nvSpPr>
          <p:cNvPr id="12" name="Text 9"/>
          <p:cNvSpPr/>
          <p:nvPr/>
        </p:nvSpPr>
        <p:spPr>
          <a:xfrm>
            <a:off x="9705975" y="2440186"/>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Belanche, D., Casaló, L. V., Flavián, C. &amp; Schepers, J. </a:t>
            </a:r>
            <a:r>
              <a:rPr lang="en-US" sz="1200" dirty="0">
                <a:solidFill>
                  <a:srgbClr val="2B3139"/>
                </a:solidFill>
                <a:latin typeface="Arial" pitchFamily="34" charset="0"/>
                <a:ea typeface="Arial" pitchFamily="34" charset="-122"/>
                <a:cs typeface="Arial" pitchFamily="34" charset="-120"/>
              </a:rPr>
              <a:t>(2014). Trust transfer in the continued usage of public e-services. </a:t>
            </a:r>
            <a:r>
              <a:rPr lang="en-US" sz="1200" i="1" dirty="0">
                <a:solidFill>
                  <a:srgbClr val="2B3139"/>
                </a:solidFill>
                <a:latin typeface="Arial" pitchFamily="34" charset="0"/>
                <a:ea typeface="Arial" pitchFamily="34" charset="-122"/>
                <a:cs typeface="Arial" pitchFamily="34" charset="-120"/>
              </a:rPr>
              <a:t>Information &amp; Management, 51</a:t>
            </a:r>
            <a:r>
              <a:rPr lang="en-US" sz="1200" dirty="0">
                <a:solidFill>
                  <a:srgbClr val="2B3139"/>
                </a:solidFill>
                <a:latin typeface="Arial" pitchFamily="34" charset="0"/>
                <a:ea typeface="Arial" pitchFamily="34" charset="-122"/>
                <a:cs typeface="Arial" pitchFamily="34" charset="-120"/>
              </a:rPr>
              <a:t>(6), 627–640.</a:t>
            </a:r>
            <a:endParaRPr lang="en-US" sz="1200" dirty="0"/>
          </a:p>
        </p:txBody>
      </p:sp>
      <p:sp>
        <p:nvSpPr>
          <p:cNvPr id="13" name="Text 10"/>
          <p:cNvSpPr/>
          <p:nvPr/>
        </p:nvSpPr>
        <p:spPr>
          <a:xfrm>
            <a:off x="9705975" y="2910483"/>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doi.org/10.1016/j.im.2014.05.016</a:t>
            </a:r>
            <a:endParaRPr lang="en-US" sz="1050" dirty="0"/>
          </a:p>
        </p:txBody>
      </p:sp>
      <p:sp>
        <p:nvSpPr>
          <p:cNvPr id="14" name="Shape 11"/>
          <p:cNvSpPr/>
          <p:nvPr/>
        </p:nvSpPr>
        <p:spPr>
          <a:xfrm>
            <a:off x="1143000" y="3313361"/>
            <a:ext cx="28575" cy="816025"/>
          </a:xfrm>
          <a:prstGeom prst="rect">
            <a:avLst/>
          </a:prstGeom>
          <a:solidFill>
            <a:srgbClr val="B7E7C4"/>
          </a:solidFill>
          <a:ln/>
        </p:spPr>
        <p:txBody>
          <a:bodyPr/>
          <a:lstStyle/>
          <a:p>
            <a:endParaRPr lang="en-US"/>
          </a:p>
        </p:txBody>
      </p:sp>
      <p:sp>
        <p:nvSpPr>
          <p:cNvPr id="15" name="Text 12"/>
          <p:cNvSpPr/>
          <p:nvPr/>
        </p:nvSpPr>
        <p:spPr>
          <a:xfrm>
            <a:off x="1438275" y="3389561"/>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Bélanger, F. &amp; Carter, L. </a:t>
            </a:r>
            <a:r>
              <a:rPr lang="en-US" sz="1200" dirty="0">
                <a:solidFill>
                  <a:srgbClr val="2B3139"/>
                </a:solidFill>
                <a:latin typeface="Arial" pitchFamily="34" charset="0"/>
                <a:ea typeface="Arial" pitchFamily="34" charset="-122"/>
                <a:cs typeface="Arial" pitchFamily="34" charset="-120"/>
              </a:rPr>
              <a:t>(2008). Trust and risk in e-government adoption. </a:t>
            </a:r>
            <a:r>
              <a:rPr lang="en-US" sz="1200" i="1" dirty="0">
                <a:solidFill>
                  <a:srgbClr val="2B3139"/>
                </a:solidFill>
                <a:latin typeface="Arial" pitchFamily="34" charset="0"/>
                <a:ea typeface="Arial" pitchFamily="34" charset="-122"/>
                <a:cs typeface="Arial" pitchFamily="34" charset="-120"/>
              </a:rPr>
              <a:t>The Journal of Strategic Information Systems, 17 </a:t>
            </a:r>
            <a:r>
              <a:rPr lang="en-US" sz="1200" dirty="0">
                <a:solidFill>
                  <a:srgbClr val="2B3139"/>
                </a:solidFill>
                <a:latin typeface="Arial" pitchFamily="34" charset="0"/>
                <a:ea typeface="Arial" pitchFamily="34" charset="-122"/>
                <a:cs typeface="Arial" pitchFamily="34" charset="-120"/>
              </a:rPr>
              <a:t>(2), 165–176.</a:t>
            </a:r>
            <a:endParaRPr lang="en-US" sz="1200" dirty="0"/>
          </a:p>
        </p:txBody>
      </p:sp>
      <p:sp>
        <p:nvSpPr>
          <p:cNvPr id="16" name="Text 13"/>
          <p:cNvSpPr/>
          <p:nvPr/>
        </p:nvSpPr>
        <p:spPr>
          <a:xfrm>
            <a:off x="1438275" y="3859857"/>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doi.org/10.1016/j.jsis.2007.12.002</a:t>
            </a:r>
            <a:endParaRPr lang="en-US" sz="1050" dirty="0"/>
          </a:p>
        </p:txBody>
      </p:sp>
      <p:sp>
        <p:nvSpPr>
          <p:cNvPr id="17" name="Shape 14"/>
          <p:cNvSpPr/>
          <p:nvPr/>
        </p:nvSpPr>
        <p:spPr>
          <a:xfrm>
            <a:off x="9410700" y="3313361"/>
            <a:ext cx="28575" cy="816025"/>
          </a:xfrm>
          <a:prstGeom prst="rect">
            <a:avLst/>
          </a:prstGeom>
          <a:solidFill>
            <a:srgbClr val="B7E7C4"/>
          </a:solidFill>
          <a:ln/>
        </p:spPr>
        <p:txBody>
          <a:bodyPr/>
          <a:lstStyle/>
          <a:p>
            <a:endParaRPr lang="en-US"/>
          </a:p>
        </p:txBody>
      </p:sp>
      <p:sp>
        <p:nvSpPr>
          <p:cNvPr id="18" name="Text 15"/>
          <p:cNvSpPr/>
          <p:nvPr/>
        </p:nvSpPr>
        <p:spPr>
          <a:xfrm>
            <a:off x="9705975" y="3389561"/>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Bhattacherjee, A. </a:t>
            </a:r>
            <a:r>
              <a:rPr lang="en-US" sz="1200" dirty="0">
                <a:solidFill>
                  <a:srgbClr val="2B3139"/>
                </a:solidFill>
                <a:latin typeface="Arial" pitchFamily="34" charset="0"/>
                <a:ea typeface="Arial" pitchFamily="34" charset="-122"/>
                <a:cs typeface="Arial" pitchFamily="34" charset="-120"/>
              </a:rPr>
              <a:t>(2001). Understanding information systems continuance: An expectation-confirmation model. </a:t>
            </a:r>
            <a:r>
              <a:rPr lang="en-US" sz="1200" i="1" dirty="0">
                <a:solidFill>
                  <a:srgbClr val="2B3139"/>
                </a:solidFill>
                <a:latin typeface="Arial" pitchFamily="34" charset="0"/>
                <a:ea typeface="Arial" pitchFamily="34" charset="-122"/>
                <a:cs typeface="Arial" pitchFamily="34" charset="-120"/>
              </a:rPr>
              <a:t>MIS Quarterly, 25</a:t>
            </a:r>
            <a:r>
              <a:rPr lang="en-US" sz="1200" dirty="0">
                <a:solidFill>
                  <a:srgbClr val="2B3139"/>
                </a:solidFill>
                <a:latin typeface="Arial" pitchFamily="34" charset="0"/>
                <a:ea typeface="Arial" pitchFamily="34" charset="-122"/>
                <a:cs typeface="Arial" pitchFamily="34" charset="-120"/>
              </a:rPr>
              <a:t>(3), 351–370.</a:t>
            </a:r>
            <a:endParaRPr lang="en-US" sz="1200" dirty="0"/>
          </a:p>
        </p:txBody>
      </p:sp>
      <p:sp>
        <p:nvSpPr>
          <p:cNvPr id="19" name="Text 16"/>
          <p:cNvSpPr/>
          <p:nvPr/>
        </p:nvSpPr>
        <p:spPr>
          <a:xfrm>
            <a:off x="9705975" y="3859857"/>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doi.org/10.2307/3250921</a:t>
            </a:r>
            <a:endParaRPr lang="en-US" sz="1050" dirty="0"/>
          </a:p>
        </p:txBody>
      </p:sp>
      <p:sp>
        <p:nvSpPr>
          <p:cNvPr id="20" name="Shape 17"/>
          <p:cNvSpPr/>
          <p:nvPr/>
        </p:nvSpPr>
        <p:spPr>
          <a:xfrm>
            <a:off x="1143000" y="4262735"/>
            <a:ext cx="28575" cy="816025"/>
          </a:xfrm>
          <a:prstGeom prst="rect">
            <a:avLst/>
          </a:prstGeom>
          <a:solidFill>
            <a:srgbClr val="B7E7C4"/>
          </a:solidFill>
          <a:ln/>
        </p:spPr>
        <p:txBody>
          <a:bodyPr/>
          <a:lstStyle/>
          <a:p>
            <a:endParaRPr lang="en-US"/>
          </a:p>
        </p:txBody>
      </p:sp>
      <p:sp>
        <p:nvSpPr>
          <p:cNvPr id="21" name="Text 18"/>
          <p:cNvSpPr/>
          <p:nvPr/>
        </p:nvSpPr>
        <p:spPr>
          <a:xfrm>
            <a:off x="1438275" y="4338935"/>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Bugnion de Moreta, C. </a:t>
            </a:r>
            <a:r>
              <a:rPr lang="en-US" sz="1200" dirty="0">
                <a:solidFill>
                  <a:srgbClr val="2B3139"/>
                </a:solidFill>
                <a:latin typeface="Arial" pitchFamily="34" charset="0"/>
                <a:ea typeface="Arial" pitchFamily="34" charset="-122"/>
                <a:cs typeface="Arial" pitchFamily="34" charset="-120"/>
              </a:rPr>
              <a:t>(2023). External mid-term evaluation of the "ICT access and e-services for hinterland, poor and remote communities" project in Guyana. UNDP Guyana.</a:t>
            </a:r>
            <a:endParaRPr lang="en-US" sz="1200" dirty="0"/>
          </a:p>
        </p:txBody>
      </p:sp>
      <p:sp>
        <p:nvSpPr>
          <p:cNvPr id="22" name="Shape 19"/>
          <p:cNvSpPr/>
          <p:nvPr/>
        </p:nvSpPr>
        <p:spPr>
          <a:xfrm>
            <a:off x="9410700" y="4262735"/>
            <a:ext cx="28575" cy="816025"/>
          </a:xfrm>
          <a:prstGeom prst="rect">
            <a:avLst/>
          </a:prstGeom>
          <a:solidFill>
            <a:srgbClr val="B7E7C4"/>
          </a:solidFill>
          <a:ln/>
        </p:spPr>
        <p:txBody>
          <a:bodyPr/>
          <a:lstStyle/>
          <a:p>
            <a:endParaRPr lang="en-US"/>
          </a:p>
        </p:txBody>
      </p:sp>
      <p:sp>
        <p:nvSpPr>
          <p:cNvPr id="23" name="Text 20"/>
          <p:cNvSpPr/>
          <p:nvPr/>
        </p:nvSpPr>
        <p:spPr>
          <a:xfrm>
            <a:off x="9705975" y="4338935"/>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Carter, L. &amp; Bélanger, F. </a:t>
            </a:r>
            <a:r>
              <a:rPr lang="en-US" sz="1200" dirty="0">
                <a:solidFill>
                  <a:srgbClr val="2B3139"/>
                </a:solidFill>
                <a:latin typeface="Arial" pitchFamily="34" charset="0"/>
                <a:ea typeface="Arial" pitchFamily="34" charset="-122"/>
                <a:cs typeface="Arial" pitchFamily="34" charset="-120"/>
              </a:rPr>
              <a:t>(2005). The utilization of e-government services: Citizen trust, innovation and acceptance factors. </a:t>
            </a:r>
            <a:r>
              <a:rPr lang="en-US" sz="1200" i="1" dirty="0">
                <a:solidFill>
                  <a:srgbClr val="2B3139"/>
                </a:solidFill>
                <a:latin typeface="Arial" pitchFamily="34" charset="0"/>
                <a:ea typeface="Arial" pitchFamily="34" charset="-122"/>
                <a:cs typeface="Arial" pitchFamily="34" charset="-120"/>
              </a:rPr>
              <a:t>Information Systems Journal, 15</a:t>
            </a:r>
            <a:r>
              <a:rPr lang="en-US" sz="1200" dirty="0">
                <a:solidFill>
                  <a:srgbClr val="2B3139"/>
                </a:solidFill>
                <a:latin typeface="Arial" pitchFamily="34" charset="0"/>
                <a:ea typeface="Arial" pitchFamily="34" charset="-122"/>
                <a:cs typeface="Arial" pitchFamily="34" charset="-120"/>
              </a:rPr>
              <a:t>(1), 5–25.</a:t>
            </a:r>
            <a:endParaRPr lang="en-US" sz="1200" dirty="0"/>
          </a:p>
        </p:txBody>
      </p:sp>
      <p:sp>
        <p:nvSpPr>
          <p:cNvPr id="24" name="Text 21"/>
          <p:cNvSpPr/>
          <p:nvPr/>
        </p:nvSpPr>
        <p:spPr>
          <a:xfrm>
            <a:off x="9705975" y="4809232"/>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doi.org/10.1111/j.1365-2575.2005.00183.x</a:t>
            </a:r>
            <a:endParaRPr lang="en-US" sz="1050" dirty="0"/>
          </a:p>
        </p:txBody>
      </p:sp>
      <p:sp>
        <p:nvSpPr>
          <p:cNvPr id="25" name="Shape 22"/>
          <p:cNvSpPr/>
          <p:nvPr/>
        </p:nvSpPr>
        <p:spPr>
          <a:xfrm>
            <a:off x="1143000" y="5212110"/>
            <a:ext cx="28575" cy="594122"/>
          </a:xfrm>
          <a:prstGeom prst="rect">
            <a:avLst/>
          </a:prstGeom>
          <a:solidFill>
            <a:srgbClr val="B7E7C4"/>
          </a:solidFill>
          <a:ln/>
        </p:spPr>
        <p:txBody>
          <a:bodyPr/>
          <a:lstStyle/>
          <a:p>
            <a:endParaRPr lang="en-US"/>
          </a:p>
        </p:txBody>
      </p:sp>
      <p:sp>
        <p:nvSpPr>
          <p:cNvPr id="26" name="Text 23"/>
          <p:cNvSpPr/>
          <p:nvPr/>
        </p:nvSpPr>
        <p:spPr>
          <a:xfrm>
            <a:off x="1438275" y="5288310"/>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Cheah, J. H. </a:t>
            </a:r>
            <a:r>
              <a:rPr lang="en-US" sz="1200" dirty="0">
                <a:solidFill>
                  <a:srgbClr val="2B3139"/>
                </a:solidFill>
                <a:latin typeface="Arial" pitchFamily="34" charset="0"/>
                <a:ea typeface="Arial" pitchFamily="34" charset="-122"/>
                <a:cs typeface="Arial" pitchFamily="34" charset="-120"/>
              </a:rPr>
              <a:t>(2024). Reviewing the SmartPLS 4 software: The latest features and enhancements. </a:t>
            </a:r>
            <a:r>
              <a:rPr lang="en-US" sz="1200" i="1" dirty="0">
                <a:solidFill>
                  <a:srgbClr val="2B3139"/>
                </a:solidFill>
                <a:latin typeface="Arial" pitchFamily="34" charset="0"/>
                <a:ea typeface="Arial" pitchFamily="34" charset="-122"/>
                <a:cs typeface="Arial" pitchFamily="34" charset="-120"/>
              </a:rPr>
              <a:t>Journal of Marketing Analytics </a:t>
            </a:r>
            <a:r>
              <a:rPr lang="en-US" sz="1200" dirty="0">
                <a:solidFill>
                  <a:srgbClr val="2B3139"/>
                </a:solidFill>
                <a:latin typeface="Arial" pitchFamily="34" charset="0"/>
                <a:ea typeface="Arial" pitchFamily="34" charset="-122"/>
                <a:cs typeface="Arial" pitchFamily="34" charset="-120"/>
              </a:rPr>
              <a:t>.</a:t>
            </a:r>
            <a:endParaRPr lang="en-US" sz="1200" dirty="0"/>
          </a:p>
        </p:txBody>
      </p:sp>
      <p:sp>
        <p:nvSpPr>
          <p:cNvPr id="27" name="Shape 24"/>
          <p:cNvSpPr/>
          <p:nvPr/>
        </p:nvSpPr>
        <p:spPr>
          <a:xfrm>
            <a:off x="9410700" y="5212110"/>
            <a:ext cx="28575" cy="594122"/>
          </a:xfrm>
          <a:prstGeom prst="rect">
            <a:avLst/>
          </a:prstGeom>
          <a:solidFill>
            <a:srgbClr val="B7E7C4"/>
          </a:solidFill>
          <a:ln/>
        </p:spPr>
        <p:txBody>
          <a:bodyPr/>
          <a:lstStyle/>
          <a:p>
            <a:endParaRPr lang="en-US"/>
          </a:p>
        </p:txBody>
      </p:sp>
      <p:sp>
        <p:nvSpPr>
          <p:cNvPr id="28" name="Text 25"/>
          <p:cNvSpPr/>
          <p:nvPr/>
        </p:nvSpPr>
        <p:spPr>
          <a:xfrm>
            <a:off x="9705975" y="5288310"/>
            <a:ext cx="7662196" cy="479822"/>
          </a:xfrm>
          <a:prstGeom prst="rect">
            <a:avLst/>
          </a:prstGeom>
          <a:noFill/>
          <a:ln/>
        </p:spPr>
        <p:txBody>
          <a:bodyPr wrap="square" lIns="25400" tIns="25400" rIns="25400" bIns="25400" rtlCol="0" anchor="t">
            <a:normAutofit fontScale="925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Cohen, J. </a:t>
            </a:r>
            <a:r>
              <a:rPr lang="en-US" sz="1200" dirty="0">
                <a:solidFill>
                  <a:srgbClr val="2B3139"/>
                </a:solidFill>
                <a:latin typeface="Arial" pitchFamily="34" charset="0"/>
                <a:ea typeface="Arial" pitchFamily="34" charset="-122"/>
                <a:cs typeface="Arial" pitchFamily="34" charset="-120"/>
              </a:rPr>
              <a:t>(1988). </a:t>
            </a:r>
            <a:r>
              <a:rPr lang="en-US" sz="1200" i="1" dirty="0">
                <a:solidFill>
                  <a:srgbClr val="2B3139"/>
                </a:solidFill>
                <a:latin typeface="Arial" pitchFamily="34" charset="0"/>
                <a:ea typeface="Arial" pitchFamily="34" charset="-122"/>
                <a:cs typeface="Arial" pitchFamily="34" charset="-120"/>
              </a:rPr>
              <a:t>Statistical power analysis for the behavioral sciences </a:t>
            </a:r>
            <a:r>
              <a:rPr lang="en-US" sz="1200" dirty="0">
                <a:solidFill>
                  <a:srgbClr val="2B3139"/>
                </a:solidFill>
                <a:latin typeface="Arial" pitchFamily="34" charset="0"/>
                <a:ea typeface="Arial" pitchFamily="34" charset="-122"/>
                <a:cs typeface="Arial" pitchFamily="34" charset="-120"/>
              </a:rPr>
              <a:t>(2nd ed.). Lawrence Erlbaum Associates.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17 / 19</a:t>
            </a:r>
            <a:endParaRPr lang="en-US" sz="1650" dirty="0"/>
          </a:p>
        </p:txBody>
      </p:sp>
      <p:sp>
        <p:nvSpPr>
          <p:cNvPr id="6" name="Text 3"/>
          <p:cNvSpPr/>
          <p:nvPr/>
        </p:nvSpPr>
        <p:spPr>
          <a:xfrm>
            <a:off x="1143000" y="8572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REFERENCES · 2 / 3</a:t>
            </a:r>
            <a:endParaRPr lang="en-US" sz="1800" dirty="0"/>
          </a:p>
        </p:txBody>
      </p:sp>
      <p:sp>
        <p:nvSpPr>
          <p:cNvPr id="7" name="Text 4"/>
          <p:cNvSpPr/>
          <p:nvPr/>
        </p:nvSpPr>
        <p:spPr>
          <a:xfrm>
            <a:off x="1143000" y="1343025"/>
            <a:ext cx="15206662" cy="67806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endParaRPr lang="en-US" sz="4800" dirty="0"/>
          </a:p>
        </p:txBody>
      </p:sp>
      <p:sp>
        <p:nvSpPr>
          <p:cNvPr id="8" name="Shape 5"/>
          <p:cNvSpPr/>
          <p:nvPr/>
        </p:nvSpPr>
        <p:spPr>
          <a:xfrm>
            <a:off x="1143000" y="2363986"/>
            <a:ext cx="28575" cy="816025"/>
          </a:xfrm>
          <a:prstGeom prst="rect">
            <a:avLst/>
          </a:prstGeom>
          <a:solidFill>
            <a:srgbClr val="B7E7C4"/>
          </a:solidFill>
          <a:ln/>
        </p:spPr>
        <p:txBody>
          <a:bodyPr/>
          <a:lstStyle/>
          <a:p>
            <a:endParaRPr lang="en-US"/>
          </a:p>
        </p:txBody>
      </p:sp>
      <p:sp>
        <p:nvSpPr>
          <p:cNvPr id="9" name="Text 6"/>
          <p:cNvSpPr/>
          <p:nvPr/>
        </p:nvSpPr>
        <p:spPr>
          <a:xfrm>
            <a:off x="1438275" y="2440186"/>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Davis, F. D. </a:t>
            </a:r>
            <a:r>
              <a:rPr lang="en-US" sz="1200" dirty="0">
                <a:solidFill>
                  <a:srgbClr val="2B3139"/>
                </a:solidFill>
                <a:latin typeface="Arial" pitchFamily="34" charset="0"/>
                <a:ea typeface="Arial" pitchFamily="34" charset="-122"/>
                <a:cs typeface="Arial" pitchFamily="34" charset="-120"/>
              </a:rPr>
              <a:t>(1989). Perceived usefulness, perceived ease of use and user acceptance of information technology. </a:t>
            </a:r>
            <a:r>
              <a:rPr lang="en-US" sz="1200" i="1" dirty="0">
                <a:solidFill>
                  <a:srgbClr val="2B3139"/>
                </a:solidFill>
                <a:latin typeface="Arial" pitchFamily="34" charset="0"/>
                <a:ea typeface="Arial" pitchFamily="34" charset="-122"/>
                <a:cs typeface="Arial" pitchFamily="34" charset="-120"/>
              </a:rPr>
              <a:t>MIS Quarterly, 13</a:t>
            </a:r>
            <a:r>
              <a:rPr lang="en-US" sz="1200" dirty="0">
                <a:solidFill>
                  <a:srgbClr val="2B3139"/>
                </a:solidFill>
                <a:latin typeface="Arial" pitchFamily="34" charset="0"/>
                <a:ea typeface="Arial" pitchFamily="34" charset="-122"/>
                <a:cs typeface="Arial" pitchFamily="34" charset="-120"/>
              </a:rPr>
              <a:t>(3), 319–340.</a:t>
            </a:r>
            <a:endParaRPr lang="en-US" sz="1200" dirty="0"/>
          </a:p>
        </p:txBody>
      </p:sp>
      <p:sp>
        <p:nvSpPr>
          <p:cNvPr id="10" name="Text 7"/>
          <p:cNvSpPr/>
          <p:nvPr/>
        </p:nvSpPr>
        <p:spPr>
          <a:xfrm>
            <a:off x="1438275" y="2910483"/>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doi.org/10.2307/249008</a:t>
            </a:r>
            <a:endParaRPr lang="en-US" sz="1050" dirty="0"/>
          </a:p>
        </p:txBody>
      </p:sp>
      <p:sp>
        <p:nvSpPr>
          <p:cNvPr id="11" name="Shape 8"/>
          <p:cNvSpPr/>
          <p:nvPr/>
        </p:nvSpPr>
        <p:spPr>
          <a:xfrm>
            <a:off x="9410700" y="2363986"/>
            <a:ext cx="28575" cy="816025"/>
          </a:xfrm>
          <a:prstGeom prst="rect">
            <a:avLst/>
          </a:prstGeom>
          <a:solidFill>
            <a:srgbClr val="B7E7C4"/>
          </a:solidFill>
          <a:ln/>
        </p:spPr>
        <p:txBody>
          <a:bodyPr/>
          <a:lstStyle/>
          <a:p>
            <a:endParaRPr lang="en-US"/>
          </a:p>
        </p:txBody>
      </p:sp>
      <p:sp>
        <p:nvSpPr>
          <p:cNvPr id="12" name="Text 9"/>
          <p:cNvSpPr/>
          <p:nvPr/>
        </p:nvSpPr>
        <p:spPr>
          <a:xfrm>
            <a:off x="9705975" y="2440186"/>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Faul, F., Erdfelder, E., Buchner, A. &amp; Lang, A.-G. </a:t>
            </a:r>
            <a:r>
              <a:rPr lang="en-US" sz="1200" dirty="0">
                <a:solidFill>
                  <a:srgbClr val="2B3139"/>
                </a:solidFill>
                <a:latin typeface="Arial" pitchFamily="34" charset="0"/>
                <a:ea typeface="Arial" pitchFamily="34" charset="-122"/>
                <a:cs typeface="Arial" pitchFamily="34" charset="-120"/>
              </a:rPr>
              <a:t>(2009). Statistical power analyses using G*Power 3.1. </a:t>
            </a:r>
            <a:r>
              <a:rPr lang="en-US" sz="1200" i="1" dirty="0">
                <a:solidFill>
                  <a:srgbClr val="2B3139"/>
                </a:solidFill>
                <a:latin typeface="Arial" pitchFamily="34" charset="0"/>
                <a:ea typeface="Arial" pitchFamily="34" charset="-122"/>
                <a:cs typeface="Arial" pitchFamily="34" charset="-120"/>
              </a:rPr>
              <a:t>Behavior Research Methods, 41</a:t>
            </a:r>
            <a:r>
              <a:rPr lang="en-US" sz="1200" dirty="0">
                <a:solidFill>
                  <a:srgbClr val="2B3139"/>
                </a:solidFill>
                <a:latin typeface="Arial" pitchFamily="34" charset="0"/>
                <a:ea typeface="Arial" pitchFamily="34" charset="-122"/>
                <a:cs typeface="Arial" pitchFamily="34" charset="-120"/>
              </a:rPr>
              <a:t>(4), 1149–1160.</a:t>
            </a:r>
            <a:endParaRPr lang="en-US" sz="1200" dirty="0"/>
          </a:p>
        </p:txBody>
      </p:sp>
      <p:sp>
        <p:nvSpPr>
          <p:cNvPr id="13" name="Text 10"/>
          <p:cNvSpPr/>
          <p:nvPr/>
        </p:nvSpPr>
        <p:spPr>
          <a:xfrm>
            <a:off x="9705975" y="2910483"/>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doi.org/10.3758/BRM.41.4.1149</a:t>
            </a:r>
            <a:endParaRPr lang="en-US" sz="1050" dirty="0"/>
          </a:p>
        </p:txBody>
      </p:sp>
      <p:sp>
        <p:nvSpPr>
          <p:cNvPr id="14" name="Shape 11"/>
          <p:cNvSpPr/>
          <p:nvPr/>
        </p:nvSpPr>
        <p:spPr>
          <a:xfrm>
            <a:off x="1143000" y="3313361"/>
            <a:ext cx="28575" cy="816025"/>
          </a:xfrm>
          <a:prstGeom prst="rect">
            <a:avLst/>
          </a:prstGeom>
          <a:solidFill>
            <a:srgbClr val="B7E7C4"/>
          </a:solidFill>
          <a:ln/>
        </p:spPr>
        <p:txBody>
          <a:bodyPr/>
          <a:lstStyle/>
          <a:p>
            <a:endParaRPr lang="en-US"/>
          </a:p>
        </p:txBody>
      </p:sp>
      <p:sp>
        <p:nvSpPr>
          <p:cNvPr id="15" name="Text 12"/>
          <p:cNvSpPr/>
          <p:nvPr/>
        </p:nvSpPr>
        <p:spPr>
          <a:xfrm>
            <a:off x="1438275" y="3389561"/>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Fornell, C. &amp; Larcker, D. F. </a:t>
            </a:r>
            <a:r>
              <a:rPr lang="en-US" sz="1200" dirty="0">
                <a:solidFill>
                  <a:srgbClr val="2B3139"/>
                </a:solidFill>
                <a:latin typeface="Arial" pitchFamily="34" charset="0"/>
                <a:ea typeface="Arial" pitchFamily="34" charset="-122"/>
                <a:cs typeface="Arial" pitchFamily="34" charset="-120"/>
              </a:rPr>
              <a:t>(1981). Evaluating structural equation models with unobservable variables and measurement error. </a:t>
            </a:r>
            <a:r>
              <a:rPr lang="en-US" sz="1200" i="1" dirty="0">
                <a:solidFill>
                  <a:srgbClr val="2B3139"/>
                </a:solidFill>
                <a:latin typeface="Arial" pitchFamily="34" charset="0"/>
                <a:ea typeface="Arial" pitchFamily="34" charset="-122"/>
                <a:cs typeface="Arial" pitchFamily="34" charset="-120"/>
              </a:rPr>
              <a:t>Journal of Marketing Research, 18</a:t>
            </a:r>
            <a:r>
              <a:rPr lang="en-US" sz="1200" dirty="0">
                <a:solidFill>
                  <a:srgbClr val="2B3139"/>
                </a:solidFill>
                <a:latin typeface="Arial" pitchFamily="34" charset="0"/>
                <a:ea typeface="Arial" pitchFamily="34" charset="-122"/>
                <a:cs typeface="Arial" pitchFamily="34" charset="-120"/>
              </a:rPr>
              <a:t>(1), 39–50.</a:t>
            </a:r>
            <a:endParaRPr lang="en-US" sz="1200" dirty="0"/>
          </a:p>
        </p:txBody>
      </p:sp>
      <p:sp>
        <p:nvSpPr>
          <p:cNvPr id="16" name="Text 13"/>
          <p:cNvSpPr/>
          <p:nvPr/>
        </p:nvSpPr>
        <p:spPr>
          <a:xfrm>
            <a:off x="1438275" y="3859857"/>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doi.org/10.1177/002224378101800104</a:t>
            </a:r>
            <a:endParaRPr lang="en-US" sz="1050" dirty="0"/>
          </a:p>
        </p:txBody>
      </p:sp>
      <p:sp>
        <p:nvSpPr>
          <p:cNvPr id="17" name="Shape 14"/>
          <p:cNvSpPr/>
          <p:nvPr/>
        </p:nvSpPr>
        <p:spPr>
          <a:xfrm>
            <a:off x="9410700" y="3313361"/>
            <a:ext cx="28575" cy="816025"/>
          </a:xfrm>
          <a:prstGeom prst="rect">
            <a:avLst/>
          </a:prstGeom>
          <a:solidFill>
            <a:srgbClr val="B7E7C4"/>
          </a:solidFill>
          <a:ln/>
        </p:spPr>
        <p:txBody>
          <a:bodyPr/>
          <a:lstStyle/>
          <a:p>
            <a:endParaRPr lang="en-US"/>
          </a:p>
        </p:txBody>
      </p:sp>
      <p:sp>
        <p:nvSpPr>
          <p:cNvPr id="18" name="Text 15"/>
          <p:cNvSpPr/>
          <p:nvPr/>
        </p:nvSpPr>
        <p:spPr>
          <a:xfrm>
            <a:off x="9705975" y="3389561"/>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Hair, J. F., Risher, J. J., Sarstedt, M. &amp; Ringle, C. M. </a:t>
            </a:r>
            <a:r>
              <a:rPr lang="en-US" sz="1200" dirty="0">
                <a:solidFill>
                  <a:srgbClr val="2B3139"/>
                </a:solidFill>
                <a:latin typeface="Arial" pitchFamily="34" charset="0"/>
                <a:ea typeface="Arial" pitchFamily="34" charset="-122"/>
                <a:cs typeface="Arial" pitchFamily="34" charset="-120"/>
              </a:rPr>
              <a:t>(2019). When to use and how to report the results of PLS-SEM. </a:t>
            </a:r>
            <a:r>
              <a:rPr lang="en-US" sz="1200" i="1" dirty="0">
                <a:solidFill>
                  <a:srgbClr val="2B3139"/>
                </a:solidFill>
                <a:latin typeface="Arial" pitchFamily="34" charset="0"/>
                <a:ea typeface="Arial" pitchFamily="34" charset="-122"/>
                <a:cs typeface="Arial" pitchFamily="34" charset="-120"/>
              </a:rPr>
              <a:t>European Business Review, 31</a:t>
            </a:r>
            <a:r>
              <a:rPr lang="en-US" sz="1200" dirty="0">
                <a:solidFill>
                  <a:srgbClr val="2B3139"/>
                </a:solidFill>
                <a:latin typeface="Arial" pitchFamily="34" charset="0"/>
                <a:ea typeface="Arial" pitchFamily="34" charset="-122"/>
                <a:cs typeface="Arial" pitchFamily="34" charset="-120"/>
              </a:rPr>
              <a:t>(1), 2–24.</a:t>
            </a:r>
            <a:endParaRPr lang="en-US" sz="1200" dirty="0"/>
          </a:p>
        </p:txBody>
      </p:sp>
      <p:sp>
        <p:nvSpPr>
          <p:cNvPr id="19" name="Text 16"/>
          <p:cNvSpPr/>
          <p:nvPr/>
        </p:nvSpPr>
        <p:spPr>
          <a:xfrm>
            <a:off x="9705975" y="3859857"/>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doi.org/10.1108/EBR-11-2018-0203</a:t>
            </a:r>
            <a:endParaRPr lang="en-US" sz="1050" dirty="0"/>
          </a:p>
        </p:txBody>
      </p:sp>
      <p:sp>
        <p:nvSpPr>
          <p:cNvPr id="20" name="Shape 17"/>
          <p:cNvSpPr/>
          <p:nvPr/>
        </p:nvSpPr>
        <p:spPr>
          <a:xfrm>
            <a:off x="1143000" y="4262735"/>
            <a:ext cx="28575" cy="816025"/>
          </a:xfrm>
          <a:prstGeom prst="rect">
            <a:avLst/>
          </a:prstGeom>
          <a:solidFill>
            <a:srgbClr val="B7E7C4"/>
          </a:solidFill>
          <a:ln/>
        </p:spPr>
        <p:txBody>
          <a:bodyPr/>
          <a:lstStyle/>
          <a:p>
            <a:endParaRPr lang="en-US"/>
          </a:p>
        </p:txBody>
      </p:sp>
      <p:sp>
        <p:nvSpPr>
          <p:cNvPr id="21" name="Text 18"/>
          <p:cNvSpPr/>
          <p:nvPr/>
        </p:nvSpPr>
        <p:spPr>
          <a:xfrm>
            <a:off x="1438275" y="4338935"/>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Hair, J. F. &amp; Alamer, A. </a:t>
            </a:r>
            <a:r>
              <a:rPr lang="en-US" sz="1200" dirty="0">
                <a:solidFill>
                  <a:srgbClr val="2B3139"/>
                </a:solidFill>
                <a:latin typeface="Arial" pitchFamily="34" charset="0"/>
                <a:ea typeface="Arial" pitchFamily="34" charset="-122"/>
                <a:cs typeface="Arial" pitchFamily="34" charset="-120"/>
              </a:rPr>
              <a:t>(2022). Partial least squares structural equation modelling (PLS-SEM) in second language and education research. </a:t>
            </a:r>
            <a:r>
              <a:rPr lang="en-US" sz="1200" i="1" dirty="0">
                <a:solidFill>
                  <a:srgbClr val="2B3139"/>
                </a:solidFill>
                <a:latin typeface="Arial" pitchFamily="34" charset="0"/>
                <a:ea typeface="Arial" pitchFamily="34" charset="-122"/>
                <a:cs typeface="Arial" pitchFamily="34" charset="-120"/>
              </a:rPr>
              <a:t>Second Language Research</a:t>
            </a:r>
            <a:r>
              <a:rPr lang="en-US" sz="1200" dirty="0">
                <a:solidFill>
                  <a:srgbClr val="2B3139"/>
                </a:solidFill>
                <a:latin typeface="Arial" pitchFamily="34" charset="0"/>
                <a:ea typeface="Arial" pitchFamily="34" charset="-122"/>
                <a:cs typeface="Arial" pitchFamily="34" charset="-120"/>
              </a:rPr>
              <a:t>.</a:t>
            </a:r>
            <a:endParaRPr lang="en-US" sz="1200" dirty="0"/>
          </a:p>
        </p:txBody>
      </p:sp>
      <p:sp>
        <p:nvSpPr>
          <p:cNvPr id="22" name="Shape 19"/>
          <p:cNvSpPr/>
          <p:nvPr/>
        </p:nvSpPr>
        <p:spPr>
          <a:xfrm>
            <a:off x="9410700" y="4262735"/>
            <a:ext cx="28575" cy="816025"/>
          </a:xfrm>
          <a:prstGeom prst="rect">
            <a:avLst/>
          </a:prstGeom>
          <a:solidFill>
            <a:srgbClr val="B7E7C4"/>
          </a:solidFill>
          <a:ln/>
        </p:spPr>
        <p:txBody>
          <a:bodyPr/>
          <a:lstStyle/>
          <a:p>
            <a:endParaRPr lang="en-US"/>
          </a:p>
        </p:txBody>
      </p:sp>
      <p:sp>
        <p:nvSpPr>
          <p:cNvPr id="23" name="Text 20"/>
          <p:cNvSpPr/>
          <p:nvPr/>
        </p:nvSpPr>
        <p:spPr>
          <a:xfrm>
            <a:off x="9705975" y="4338935"/>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Henseler, J., Ringle, C. M. &amp; Sarstedt, M. </a:t>
            </a:r>
            <a:r>
              <a:rPr lang="en-US" sz="1200" dirty="0">
                <a:solidFill>
                  <a:srgbClr val="2B3139"/>
                </a:solidFill>
                <a:latin typeface="Arial" pitchFamily="34" charset="0"/>
                <a:ea typeface="Arial" pitchFamily="34" charset="-122"/>
                <a:cs typeface="Arial" pitchFamily="34" charset="-120"/>
              </a:rPr>
              <a:t>(2015). A new criterion for assessing discriminant validity in variance-based SEM. </a:t>
            </a:r>
            <a:r>
              <a:rPr lang="en-US" sz="1200" i="1" dirty="0">
                <a:solidFill>
                  <a:srgbClr val="2B3139"/>
                </a:solidFill>
                <a:latin typeface="Arial" pitchFamily="34" charset="0"/>
                <a:ea typeface="Arial" pitchFamily="34" charset="-122"/>
                <a:cs typeface="Arial" pitchFamily="34" charset="-120"/>
              </a:rPr>
              <a:t>Journal of the Academy of Marketing Science, 43</a:t>
            </a:r>
            <a:r>
              <a:rPr lang="en-US" sz="1200" dirty="0">
                <a:solidFill>
                  <a:srgbClr val="2B3139"/>
                </a:solidFill>
                <a:latin typeface="Arial" pitchFamily="34" charset="0"/>
                <a:ea typeface="Arial" pitchFamily="34" charset="-122"/>
                <a:cs typeface="Arial" pitchFamily="34" charset="-120"/>
              </a:rPr>
              <a:t>(1), 115–135.</a:t>
            </a:r>
            <a:endParaRPr lang="en-US" sz="1200" dirty="0"/>
          </a:p>
        </p:txBody>
      </p:sp>
      <p:sp>
        <p:nvSpPr>
          <p:cNvPr id="24" name="Text 21"/>
          <p:cNvSpPr/>
          <p:nvPr/>
        </p:nvSpPr>
        <p:spPr>
          <a:xfrm>
            <a:off x="9705975" y="4809232"/>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doi.org/10.1007/s11747-014-0403-8</a:t>
            </a:r>
            <a:endParaRPr lang="en-US" sz="1050" dirty="0"/>
          </a:p>
        </p:txBody>
      </p:sp>
      <p:sp>
        <p:nvSpPr>
          <p:cNvPr id="25" name="Shape 22"/>
          <p:cNvSpPr/>
          <p:nvPr/>
        </p:nvSpPr>
        <p:spPr>
          <a:xfrm>
            <a:off x="1143000" y="5212110"/>
            <a:ext cx="28575" cy="1036886"/>
          </a:xfrm>
          <a:prstGeom prst="rect">
            <a:avLst/>
          </a:prstGeom>
          <a:solidFill>
            <a:srgbClr val="B7E7C4"/>
          </a:solidFill>
          <a:ln/>
        </p:spPr>
        <p:txBody>
          <a:bodyPr/>
          <a:lstStyle/>
          <a:p>
            <a:endParaRPr lang="en-US"/>
          </a:p>
        </p:txBody>
      </p:sp>
      <p:sp>
        <p:nvSpPr>
          <p:cNvPr id="26" name="Text 23"/>
          <p:cNvSpPr/>
          <p:nvPr/>
        </p:nvSpPr>
        <p:spPr>
          <a:xfrm>
            <a:off x="1438275" y="5288310"/>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Kock, N. </a:t>
            </a:r>
            <a:r>
              <a:rPr lang="en-US" sz="1200" dirty="0">
                <a:solidFill>
                  <a:srgbClr val="2B3139"/>
                </a:solidFill>
                <a:latin typeface="Arial" pitchFamily="34" charset="0"/>
                <a:ea typeface="Arial" pitchFamily="34" charset="-122"/>
                <a:cs typeface="Arial" pitchFamily="34" charset="-120"/>
              </a:rPr>
              <a:t>(2015). Common method bias in PLS-SEM: A full collinearity assessment approach. </a:t>
            </a:r>
            <a:r>
              <a:rPr lang="en-US" sz="1200" i="1" dirty="0">
                <a:solidFill>
                  <a:srgbClr val="2B3139"/>
                </a:solidFill>
                <a:latin typeface="Arial" pitchFamily="34" charset="0"/>
                <a:ea typeface="Arial" pitchFamily="34" charset="-122"/>
                <a:cs typeface="Arial" pitchFamily="34" charset="-120"/>
              </a:rPr>
              <a:t>International Journal of e-Collaboration, 11 </a:t>
            </a:r>
            <a:r>
              <a:rPr lang="en-US" sz="1200" dirty="0">
                <a:solidFill>
                  <a:srgbClr val="2B3139"/>
                </a:solidFill>
                <a:latin typeface="Arial" pitchFamily="34" charset="0"/>
                <a:ea typeface="Arial" pitchFamily="34" charset="-122"/>
                <a:cs typeface="Arial" pitchFamily="34" charset="-120"/>
              </a:rPr>
              <a:t>(4), 1–10.</a:t>
            </a:r>
            <a:endParaRPr lang="en-US" sz="1200" dirty="0"/>
          </a:p>
        </p:txBody>
      </p:sp>
      <p:sp>
        <p:nvSpPr>
          <p:cNvPr id="27" name="Text 24"/>
          <p:cNvSpPr/>
          <p:nvPr/>
        </p:nvSpPr>
        <p:spPr>
          <a:xfrm>
            <a:off x="1438275" y="5758607"/>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doi.org/10.4018/ijec.2015100101</a:t>
            </a:r>
            <a:endParaRPr lang="en-US" sz="1050" dirty="0"/>
          </a:p>
        </p:txBody>
      </p:sp>
      <p:sp>
        <p:nvSpPr>
          <p:cNvPr id="28" name="Shape 25"/>
          <p:cNvSpPr/>
          <p:nvPr/>
        </p:nvSpPr>
        <p:spPr>
          <a:xfrm>
            <a:off x="9410700" y="5212110"/>
            <a:ext cx="28575" cy="1036886"/>
          </a:xfrm>
          <a:prstGeom prst="rect">
            <a:avLst/>
          </a:prstGeom>
          <a:solidFill>
            <a:srgbClr val="B7E7C4"/>
          </a:solidFill>
          <a:ln/>
        </p:spPr>
        <p:txBody>
          <a:bodyPr/>
          <a:lstStyle/>
          <a:p>
            <a:endParaRPr lang="en-US"/>
          </a:p>
        </p:txBody>
      </p:sp>
      <p:sp>
        <p:nvSpPr>
          <p:cNvPr id="29" name="Text 26"/>
          <p:cNvSpPr/>
          <p:nvPr/>
        </p:nvSpPr>
        <p:spPr>
          <a:xfrm>
            <a:off x="9705975" y="5288310"/>
            <a:ext cx="7662196" cy="700683"/>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Kala, D., Chaubey, D. S., Meet, R. K. &amp; Al-Adwan, A. S. </a:t>
            </a:r>
            <a:r>
              <a:rPr lang="en-US" sz="1200" dirty="0">
                <a:solidFill>
                  <a:srgbClr val="2B3139"/>
                </a:solidFill>
                <a:latin typeface="Arial" pitchFamily="34" charset="0"/>
                <a:ea typeface="Arial" pitchFamily="34" charset="-122"/>
                <a:cs typeface="Arial" pitchFamily="34" charset="-120"/>
              </a:rPr>
              <a:t>(2024). Impact of user satisfaction with e-government services on continuance use intention and citizen trust using TAM-ISSM framework. </a:t>
            </a:r>
            <a:r>
              <a:rPr lang="en-US" sz="1200" i="1" dirty="0">
                <a:solidFill>
                  <a:srgbClr val="2B3139"/>
                </a:solidFill>
                <a:latin typeface="Arial" pitchFamily="34" charset="0"/>
                <a:ea typeface="Arial" pitchFamily="34" charset="-122"/>
                <a:cs typeface="Arial" pitchFamily="34" charset="-120"/>
              </a:rPr>
              <a:t>Interdisciplinary Journal of Information, Knowledge, and Management, 19</a:t>
            </a:r>
            <a:r>
              <a:rPr lang="en-US" sz="1200" dirty="0">
                <a:solidFill>
                  <a:srgbClr val="2B3139"/>
                </a:solidFill>
                <a:latin typeface="Arial" pitchFamily="34" charset="0"/>
                <a:ea typeface="Arial" pitchFamily="34" charset="-122"/>
                <a:cs typeface="Arial" pitchFamily="34" charset="-120"/>
              </a:rPr>
              <a:t>, 1–22.</a:t>
            </a:r>
            <a:endParaRPr lang="en-US" sz="1200" dirty="0"/>
          </a:p>
        </p:txBody>
      </p:sp>
      <p:sp>
        <p:nvSpPr>
          <p:cNvPr id="30" name="Text 27"/>
          <p:cNvSpPr/>
          <p:nvPr/>
        </p:nvSpPr>
        <p:spPr>
          <a:xfrm>
            <a:off x="9705975" y="5979468"/>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doi.org/10.28945/5248</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2000"/>
          </a:blip>
          <a:stretch>
            <a:fillRect/>
          </a:stretch>
        </p:blipFill>
        <p:spPr>
          <a:xfrm>
            <a:off x="0" y="0"/>
            <a:ext cx="18288000" cy="10287000"/>
          </a:xfrm>
          <a:prstGeom prst="rect">
            <a:avLst/>
          </a:prstGeom>
        </p:spPr>
      </p:pic>
      <p:sp>
        <p:nvSpPr>
          <p:cNvPr id="3" name="Shape 0"/>
          <p:cNvSpPr/>
          <p:nvPr/>
        </p:nvSpPr>
        <p:spPr>
          <a:xfrm>
            <a:off x="1143000" y="514350"/>
            <a:ext cx="95250" cy="95250"/>
          </a:xfrm>
          <a:prstGeom prst="ellipse">
            <a:avLst/>
          </a:prstGeom>
          <a:solidFill>
            <a:srgbClr val="14B24B"/>
          </a:solidFill>
          <a:ln/>
          <a:effectLst>
            <a:outerShdw blurRad="101600" dist="50800" dir="16200000" algn="bl" rotWithShape="0">
              <a:srgbClr val="14B24B">
                <a:alpha val="15000"/>
              </a:srgbClr>
            </a:outerShdw>
          </a:effectLst>
        </p:spPr>
        <p:txBody>
          <a:bodyPr/>
          <a:lstStyle/>
          <a:p>
            <a:endParaRPr lang="en-US"/>
          </a:p>
        </p:txBody>
      </p:sp>
      <p:sp>
        <p:nvSpPr>
          <p:cNvPr id="4" name="Text 1"/>
          <p:cNvSpPr/>
          <p:nvPr/>
        </p:nvSpPr>
        <p:spPr>
          <a:xfrm>
            <a:off x="1371600" y="438150"/>
            <a:ext cx="2988906" cy="285750"/>
          </a:xfrm>
          <a:prstGeom prst="rect">
            <a:avLst/>
          </a:prstGeom>
          <a:noFill/>
          <a:ln/>
        </p:spPr>
        <p:txBody>
          <a:bodyPr wrap="square" lIns="0" tIns="0" rIns="0" bIns="0" rtlCol="0" anchor="t">
            <a:normAutofit/>
          </a:bodyPr>
          <a:lstStyle/>
          <a:p>
            <a:pPr marL="0" indent="0" algn="l">
              <a:buNone/>
            </a:pPr>
            <a:r>
              <a:rPr lang="en-US" sz="1650" b="1" kern="0" spc="132" dirty="0">
                <a:solidFill>
                  <a:srgbClr val="2B3139"/>
                </a:solidFill>
                <a:latin typeface="Arial" pitchFamily="34" charset="0"/>
                <a:ea typeface="Arial" pitchFamily="34" charset="-122"/>
                <a:cs typeface="Arial" pitchFamily="34" charset="-120"/>
              </a:rPr>
              <a:t>PADNA · METHODOLOGY</a:t>
            </a:r>
            <a:endParaRPr lang="en-US" sz="1650" dirty="0"/>
          </a:p>
        </p:txBody>
      </p:sp>
      <p:sp>
        <p:nvSpPr>
          <p:cNvPr id="5" name="Text 2"/>
          <p:cNvSpPr/>
          <p:nvPr/>
        </p:nvSpPr>
        <p:spPr>
          <a:xfrm>
            <a:off x="16309032" y="419100"/>
            <a:ext cx="912168" cy="323850"/>
          </a:xfrm>
          <a:prstGeom prst="rect">
            <a:avLst/>
          </a:prstGeom>
          <a:noFill/>
          <a:ln/>
        </p:spPr>
        <p:txBody>
          <a:bodyPr wrap="square" lIns="25400" tIns="25400" rIns="25400" bIns="25400" rtlCol="0" anchor="t">
            <a:normAutofit/>
          </a:bodyPr>
          <a:lstStyle/>
          <a:p>
            <a:pPr marL="0" indent="0" algn="l">
              <a:buNone/>
            </a:pPr>
            <a:r>
              <a:rPr lang="en-US" sz="1650" b="1" kern="0" spc="165" dirty="0">
                <a:solidFill>
                  <a:srgbClr val="8A929C"/>
                </a:solidFill>
                <a:latin typeface="Arial" pitchFamily="34" charset="0"/>
                <a:ea typeface="Arial" pitchFamily="34" charset="-122"/>
                <a:cs typeface="Arial" pitchFamily="34" charset="-120"/>
              </a:rPr>
              <a:t>18 / 19</a:t>
            </a:r>
            <a:endParaRPr lang="en-US" sz="1650" dirty="0"/>
          </a:p>
        </p:txBody>
      </p:sp>
      <p:sp>
        <p:nvSpPr>
          <p:cNvPr id="6" name="Text 3"/>
          <p:cNvSpPr/>
          <p:nvPr/>
        </p:nvSpPr>
        <p:spPr>
          <a:xfrm>
            <a:off x="1143000" y="857250"/>
            <a:ext cx="16482060" cy="314325"/>
          </a:xfrm>
          <a:prstGeom prst="rect">
            <a:avLst/>
          </a:prstGeom>
          <a:noFill/>
          <a:ln/>
        </p:spPr>
        <p:txBody>
          <a:bodyPr wrap="square" lIns="25400" tIns="25400" rIns="25400" bIns="25400" rtlCol="0" anchor="t">
            <a:normAutofit lnSpcReduction="10000"/>
          </a:bodyPr>
          <a:lstStyle/>
          <a:p>
            <a:pPr marL="0" indent="0" algn="l">
              <a:buNone/>
            </a:pPr>
            <a:r>
              <a:rPr lang="en-US" sz="1800" b="1" kern="0" spc="324" dirty="0">
                <a:solidFill>
                  <a:srgbClr val="0E9F43"/>
                </a:solidFill>
                <a:latin typeface="Arial" pitchFamily="34" charset="0"/>
                <a:ea typeface="Arial" pitchFamily="34" charset="-122"/>
                <a:cs typeface="Arial" pitchFamily="34" charset="-120"/>
              </a:rPr>
              <a:t>REFERENCES · 3 / 3</a:t>
            </a:r>
            <a:endParaRPr lang="en-US" sz="1800" dirty="0"/>
          </a:p>
        </p:txBody>
      </p:sp>
      <p:sp>
        <p:nvSpPr>
          <p:cNvPr id="7" name="Text 4"/>
          <p:cNvSpPr/>
          <p:nvPr/>
        </p:nvSpPr>
        <p:spPr>
          <a:xfrm>
            <a:off x="1143000" y="1343025"/>
            <a:ext cx="15206662" cy="678061"/>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endParaRPr lang="en-US" sz="4800" dirty="0"/>
          </a:p>
        </p:txBody>
      </p:sp>
      <p:sp>
        <p:nvSpPr>
          <p:cNvPr id="8" name="Shape 5"/>
          <p:cNvSpPr/>
          <p:nvPr/>
        </p:nvSpPr>
        <p:spPr>
          <a:xfrm>
            <a:off x="1143000" y="2363986"/>
            <a:ext cx="28575" cy="816025"/>
          </a:xfrm>
          <a:prstGeom prst="rect">
            <a:avLst/>
          </a:prstGeom>
          <a:solidFill>
            <a:srgbClr val="B7E7C4"/>
          </a:solidFill>
          <a:ln/>
        </p:spPr>
        <p:txBody>
          <a:bodyPr/>
          <a:lstStyle/>
          <a:p>
            <a:endParaRPr lang="en-US"/>
          </a:p>
        </p:txBody>
      </p:sp>
      <p:sp>
        <p:nvSpPr>
          <p:cNvPr id="9" name="Text 6"/>
          <p:cNvSpPr/>
          <p:nvPr/>
        </p:nvSpPr>
        <p:spPr>
          <a:xfrm>
            <a:off x="1438275" y="2440186"/>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Luo, C., Hasan, N. A. M. &amp; Ahmad, A. M. Z. bin. </a:t>
            </a:r>
            <a:r>
              <a:rPr lang="en-US" sz="1200" dirty="0">
                <a:solidFill>
                  <a:srgbClr val="2B3139"/>
                </a:solidFill>
                <a:latin typeface="Arial" pitchFamily="34" charset="0"/>
                <a:ea typeface="Arial" pitchFamily="34" charset="-122"/>
                <a:cs typeface="Arial" pitchFamily="34" charset="-120"/>
              </a:rPr>
              <a:t>(2024). Exploring satisfaction and trust as key drivers of e-government continuance intention. </a:t>
            </a:r>
            <a:r>
              <a:rPr lang="en-US" sz="1200" i="1" dirty="0">
                <a:solidFill>
                  <a:srgbClr val="2B3139"/>
                </a:solidFill>
                <a:latin typeface="Arial" pitchFamily="34" charset="0"/>
                <a:ea typeface="Arial" pitchFamily="34" charset="-122"/>
                <a:cs typeface="Arial" pitchFamily="34" charset="-120"/>
              </a:rPr>
              <a:t>Sustainability, 16</a:t>
            </a:r>
            <a:r>
              <a:rPr lang="en-US" sz="1200" dirty="0">
                <a:solidFill>
                  <a:srgbClr val="2B3139"/>
                </a:solidFill>
                <a:latin typeface="Arial" pitchFamily="34" charset="0"/>
                <a:ea typeface="Arial" pitchFamily="34" charset="-122"/>
                <a:cs typeface="Arial" pitchFamily="34" charset="-120"/>
              </a:rPr>
              <a:t>(24), 11068.</a:t>
            </a:r>
            <a:endParaRPr lang="en-US" sz="1200" dirty="0"/>
          </a:p>
        </p:txBody>
      </p:sp>
      <p:sp>
        <p:nvSpPr>
          <p:cNvPr id="10" name="Text 7"/>
          <p:cNvSpPr/>
          <p:nvPr/>
        </p:nvSpPr>
        <p:spPr>
          <a:xfrm>
            <a:off x="1438275" y="2910483"/>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doi.org/10.3390/su162411068</a:t>
            </a:r>
            <a:endParaRPr lang="en-US" sz="1050" dirty="0"/>
          </a:p>
        </p:txBody>
      </p:sp>
      <p:sp>
        <p:nvSpPr>
          <p:cNvPr id="11" name="Shape 8"/>
          <p:cNvSpPr/>
          <p:nvPr/>
        </p:nvSpPr>
        <p:spPr>
          <a:xfrm>
            <a:off x="9410700" y="2363986"/>
            <a:ext cx="28575" cy="816025"/>
          </a:xfrm>
          <a:prstGeom prst="rect">
            <a:avLst/>
          </a:prstGeom>
          <a:solidFill>
            <a:srgbClr val="B7E7C4"/>
          </a:solidFill>
          <a:ln/>
        </p:spPr>
        <p:txBody>
          <a:bodyPr/>
          <a:lstStyle/>
          <a:p>
            <a:endParaRPr lang="en-US"/>
          </a:p>
        </p:txBody>
      </p:sp>
      <p:sp>
        <p:nvSpPr>
          <p:cNvPr id="12" name="Text 9"/>
          <p:cNvSpPr/>
          <p:nvPr/>
        </p:nvSpPr>
        <p:spPr>
          <a:xfrm>
            <a:off x="9705975" y="2440186"/>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Mao, Z., Zou, Z., Bu, C., Dong, X. &amp; Yan, L. </a:t>
            </a:r>
            <a:r>
              <a:rPr lang="en-US" sz="1200" dirty="0">
                <a:solidFill>
                  <a:srgbClr val="2B3139"/>
                </a:solidFill>
                <a:latin typeface="Arial" pitchFamily="34" charset="0"/>
                <a:ea typeface="Arial" pitchFamily="34" charset="-122"/>
                <a:cs typeface="Arial" pitchFamily="34" charset="-120"/>
              </a:rPr>
              <a:t>(2023). Understanding the role of service quality of government apps in continuance intention. </a:t>
            </a:r>
            <a:r>
              <a:rPr lang="en-US" sz="1200" i="1" dirty="0">
                <a:solidFill>
                  <a:srgbClr val="2B3139"/>
                </a:solidFill>
                <a:latin typeface="Arial" pitchFamily="34" charset="0"/>
                <a:ea typeface="Arial" pitchFamily="34" charset="-122"/>
                <a:cs typeface="Arial" pitchFamily="34" charset="-120"/>
              </a:rPr>
              <a:t>SAGE Open, 13</a:t>
            </a:r>
            <a:r>
              <a:rPr lang="en-US" sz="1200" dirty="0">
                <a:solidFill>
                  <a:srgbClr val="2B3139"/>
                </a:solidFill>
                <a:latin typeface="Arial" pitchFamily="34" charset="0"/>
                <a:ea typeface="Arial" pitchFamily="34" charset="-122"/>
                <a:cs typeface="Arial" pitchFamily="34" charset="-120"/>
              </a:rPr>
              <a:t>(4), 1–15.</a:t>
            </a:r>
            <a:endParaRPr lang="en-US" sz="1200" dirty="0"/>
          </a:p>
        </p:txBody>
      </p:sp>
      <p:sp>
        <p:nvSpPr>
          <p:cNvPr id="13" name="Text 10"/>
          <p:cNvSpPr/>
          <p:nvPr/>
        </p:nvSpPr>
        <p:spPr>
          <a:xfrm>
            <a:off x="9705975" y="2910483"/>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doi.org/10.1177/21582440231201218</a:t>
            </a:r>
            <a:endParaRPr lang="en-US" sz="1050" dirty="0"/>
          </a:p>
        </p:txBody>
      </p:sp>
      <p:sp>
        <p:nvSpPr>
          <p:cNvPr id="14" name="Shape 11"/>
          <p:cNvSpPr/>
          <p:nvPr/>
        </p:nvSpPr>
        <p:spPr>
          <a:xfrm>
            <a:off x="1143000" y="3313361"/>
            <a:ext cx="28575" cy="814983"/>
          </a:xfrm>
          <a:prstGeom prst="rect">
            <a:avLst/>
          </a:prstGeom>
          <a:solidFill>
            <a:srgbClr val="B7E7C4"/>
          </a:solidFill>
          <a:ln/>
        </p:spPr>
        <p:txBody>
          <a:bodyPr/>
          <a:lstStyle/>
          <a:p>
            <a:endParaRPr lang="en-US"/>
          </a:p>
        </p:txBody>
      </p:sp>
      <p:sp>
        <p:nvSpPr>
          <p:cNvPr id="15" name="Text 12"/>
          <p:cNvSpPr/>
          <p:nvPr/>
        </p:nvSpPr>
        <p:spPr>
          <a:xfrm>
            <a:off x="1438275" y="3389561"/>
            <a:ext cx="7662196" cy="700683"/>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Napitupulu, D., Usino, W., Azmi, N. A., Kartika, R. S., Supratikta, H., Suhendra, A., Yohanitas, W. A., Saksono, H., Halik, A. &amp; Suhandojo, S. </a:t>
            </a:r>
            <a:r>
              <a:rPr lang="en-US" sz="1200" dirty="0">
                <a:solidFill>
                  <a:srgbClr val="2B3139"/>
                </a:solidFill>
                <a:latin typeface="Arial" pitchFamily="34" charset="0"/>
                <a:ea typeface="Arial" pitchFamily="34" charset="-122"/>
                <a:cs typeface="Arial" pitchFamily="34" charset="-120"/>
              </a:rPr>
              <a:t>(2024). Understanding the key driver of e-government services continuance usage intention. </a:t>
            </a:r>
            <a:r>
              <a:rPr lang="en-US" sz="1200" i="1" dirty="0">
                <a:solidFill>
                  <a:srgbClr val="2B3139"/>
                </a:solidFill>
                <a:latin typeface="Arial" pitchFamily="34" charset="0"/>
                <a:ea typeface="Arial" pitchFamily="34" charset="-122"/>
                <a:cs typeface="Arial" pitchFamily="34" charset="-120"/>
              </a:rPr>
              <a:t>Journal of Infrastructure, Policy and Development, 8</a:t>
            </a:r>
            <a:r>
              <a:rPr lang="en-US" sz="1200" dirty="0">
                <a:solidFill>
                  <a:srgbClr val="2B3139"/>
                </a:solidFill>
                <a:latin typeface="Arial" pitchFamily="34" charset="0"/>
                <a:ea typeface="Arial" pitchFamily="34" charset="-122"/>
                <a:cs typeface="Arial" pitchFamily="34" charset="-120"/>
              </a:rPr>
              <a:t>(12), Article 7957.</a:t>
            </a:r>
            <a:endParaRPr lang="en-US" sz="1200" dirty="0"/>
          </a:p>
        </p:txBody>
      </p:sp>
      <p:sp>
        <p:nvSpPr>
          <p:cNvPr id="16" name="Shape 13"/>
          <p:cNvSpPr/>
          <p:nvPr/>
        </p:nvSpPr>
        <p:spPr>
          <a:xfrm>
            <a:off x="9410700" y="3313361"/>
            <a:ext cx="28575" cy="814983"/>
          </a:xfrm>
          <a:prstGeom prst="rect">
            <a:avLst/>
          </a:prstGeom>
          <a:solidFill>
            <a:srgbClr val="B7E7C4"/>
          </a:solidFill>
          <a:ln/>
        </p:spPr>
        <p:txBody>
          <a:bodyPr/>
          <a:lstStyle/>
          <a:p>
            <a:endParaRPr lang="en-US"/>
          </a:p>
        </p:txBody>
      </p:sp>
      <p:sp>
        <p:nvSpPr>
          <p:cNvPr id="17" name="Text 14"/>
          <p:cNvSpPr/>
          <p:nvPr/>
        </p:nvSpPr>
        <p:spPr>
          <a:xfrm>
            <a:off x="9705975" y="3389561"/>
            <a:ext cx="7662196" cy="25896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OECD. </a:t>
            </a:r>
            <a:r>
              <a:rPr lang="en-US" sz="1200" dirty="0">
                <a:solidFill>
                  <a:srgbClr val="2B3139"/>
                </a:solidFill>
                <a:latin typeface="Arial" pitchFamily="34" charset="0"/>
                <a:ea typeface="Arial" pitchFamily="34" charset="-122"/>
                <a:cs typeface="Arial" pitchFamily="34" charset="-120"/>
              </a:rPr>
              <a:t>(2025). </a:t>
            </a:r>
            <a:r>
              <a:rPr lang="en-US" sz="1200" i="1" dirty="0">
                <a:solidFill>
                  <a:srgbClr val="2B3139"/>
                </a:solidFill>
                <a:latin typeface="Arial" pitchFamily="34" charset="0"/>
                <a:ea typeface="Arial" pitchFamily="34" charset="-122"/>
                <a:cs typeface="Arial" pitchFamily="34" charset="-120"/>
              </a:rPr>
              <a:t>Governing with artificial intelligence</a:t>
            </a:r>
            <a:r>
              <a:rPr lang="en-US" sz="1200" dirty="0">
                <a:solidFill>
                  <a:srgbClr val="2B3139"/>
                </a:solidFill>
                <a:latin typeface="Arial" pitchFamily="34" charset="0"/>
                <a:ea typeface="Arial" pitchFamily="34" charset="-122"/>
                <a:cs typeface="Arial" pitchFamily="34" charset="-120"/>
              </a:rPr>
              <a:t>. OECD Publishing.</a:t>
            </a:r>
            <a:endParaRPr lang="en-US" sz="1200" dirty="0"/>
          </a:p>
        </p:txBody>
      </p:sp>
      <p:sp>
        <p:nvSpPr>
          <p:cNvPr id="18" name="Shape 15"/>
          <p:cNvSpPr/>
          <p:nvPr/>
        </p:nvSpPr>
        <p:spPr>
          <a:xfrm>
            <a:off x="1143000" y="4261693"/>
            <a:ext cx="28575" cy="816025"/>
          </a:xfrm>
          <a:prstGeom prst="rect">
            <a:avLst/>
          </a:prstGeom>
          <a:solidFill>
            <a:srgbClr val="B7E7C4"/>
          </a:solidFill>
          <a:ln/>
        </p:spPr>
        <p:txBody>
          <a:bodyPr/>
          <a:lstStyle/>
          <a:p>
            <a:endParaRPr lang="en-US"/>
          </a:p>
        </p:txBody>
      </p:sp>
      <p:sp>
        <p:nvSpPr>
          <p:cNvPr id="19" name="Text 16"/>
          <p:cNvSpPr/>
          <p:nvPr/>
        </p:nvSpPr>
        <p:spPr>
          <a:xfrm>
            <a:off x="1438275" y="4337893"/>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Podsakoff, P. M., MacKenzie, S. B., Lee, J.-Y. &amp; Podsakoff, N. P. </a:t>
            </a:r>
            <a:r>
              <a:rPr lang="en-US" sz="1200" dirty="0">
                <a:solidFill>
                  <a:srgbClr val="2B3139"/>
                </a:solidFill>
                <a:latin typeface="Arial" pitchFamily="34" charset="0"/>
                <a:ea typeface="Arial" pitchFamily="34" charset="-122"/>
                <a:cs typeface="Arial" pitchFamily="34" charset="-120"/>
              </a:rPr>
              <a:t>(2003). Common method biases in behavioural research. </a:t>
            </a:r>
            <a:r>
              <a:rPr lang="en-US" sz="1200" i="1" dirty="0">
                <a:solidFill>
                  <a:srgbClr val="2B3139"/>
                </a:solidFill>
                <a:latin typeface="Arial" pitchFamily="34" charset="0"/>
                <a:ea typeface="Arial" pitchFamily="34" charset="-122"/>
                <a:cs typeface="Arial" pitchFamily="34" charset="-120"/>
              </a:rPr>
              <a:t>Journal of Applied Psychology, 88</a:t>
            </a:r>
            <a:r>
              <a:rPr lang="en-US" sz="1200" dirty="0">
                <a:solidFill>
                  <a:srgbClr val="2B3139"/>
                </a:solidFill>
                <a:latin typeface="Arial" pitchFamily="34" charset="0"/>
                <a:ea typeface="Arial" pitchFamily="34" charset="-122"/>
                <a:cs typeface="Arial" pitchFamily="34" charset="-120"/>
              </a:rPr>
              <a:t>(5), 879–903.</a:t>
            </a:r>
            <a:endParaRPr lang="en-US" sz="1200" dirty="0"/>
          </a:p>
        </p:txBody>
      </p:sp>
      <p:sp>
        <p:nvSpPr>
          <p:cNvPr id="20" name="Text 17"/>
          <p:cNvSpPr/>
          <p:nvPr/>
        </p:nvSpPr>
        <p:spPr>
          <a:xfrm>
            <a:off x="1438275" y="4808190"/>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doi.org/10.1037/0021-9010.88.5.879</a:t>
            </a:r>
            <a:endParaRPr lang="en-US" sz="1050" dirty="0"/>
          </a:p>
        </p:txBody>
      </p:sp>
      <p:sp>
        <p:nvSpPr>
          <p:cNvPr id="21" name="Shape 18"/>
          <p:cNvSpPr/>
          <p:nvPr/>
        </p:nvSpPr>
        <p:spPr>
          <a:xfrm>
            <a:off x="9410700" y="4261693"/>
            <a:ext cx="28575" cy="816025"/>
          </a:xfrm>
          <a:prstGeom prst="rect">
            <a:avLst/>
          </a:prstGeom>
          <a:solidFill>
            <a:srgbClr val="B7E7C4"/>
          </a:solidFill>
          <a:ln/>
        </p:spPr>
        <p:txBody>
          <a:bodyPr/>
          <a:lstStyle/>
          <a:p>
            <a:endParaRPr lang="en-US"/>
          </a:p>
        </p:txBody>
      </p:sp>
      <p:sp>
        <p:nvSpPr>
          <p:cNvPr id="22" name="Text 19"/>
          <p:cNvSpPr/>
          <p:nvPr/>
        </p:nvSpPr>
        <p:spPr>
          <a:xfrm>
            <a:off x="9705975" y="4337893"/>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Slade, E., Williams, M. D., Dwivedi, Y. K. &amp; Piercy, N. C. </a:t>
            </a:r>
            <a:r>
              <a:rPr lang="en-US" sz="1200" dirty="0">
                <a:solidFill>
                  <a:srgbClr val="2B3139"/>
                </a:solidFill>
                <a:latin typeface="Arial" pitchFamily="34" charset="0"/>
                <a:ea typeface="Arial" pitchFamily="34" charset="-122"/>
                <a:cs typeface="Arial" pitchFamily="34" charset="-120"/>
              </a:rPr>
              <a:t>(2015). Exploring consumer adoption of proximity mobile payments. </a:t>
            </a:r>
            <a:r>
              <a:rPr lang="en-US" sz="1200" i="1" dirty="0">
                <a:solidFill>
                  <a:srgbClr val="2B3139"/>
                </a:solidFill>
                <a:latin typeface="Arial" pitchFamily="34" charset="0"/>
                <a:ea typeface="Arial" pitchFamily="34" charset="-122"/>
                <a:cs typeface="Arial" pitchFamily="34" charset="-120"/>
              </a:rPr>
              <a:t>Journal of Strategic Marketing, 23</a:t>
            </a:r>
            <a:r>
              <a:rPr lang="en-US" sz="1200" dirty="0">
                <a:solidFill>
                  <a:srgbClr val="2B3139"/>
                </a:solidFill>
                <a:latin typeface="Arial" pitchFamily="34" charset="0"/>
                <a:ea typeface="Arial" pitchFamily="34" charset="-122"/>
                <a:cs typeface="Arial" pitchFamily="34" charset="-120"/>
              </a:rPr>
              <a:t>(3), 209–223.</a:t>
            </a:r>
            <a:endParaRPr lang="en-US" sz="1200" dirty="0"/>
          </a:p>
        </p:txBody>
      </p:sp>
      <p:sp>
        <p:nvSpPr>
          <p:cNvPr id="23" name="Text 20"/>
          <p:cNvSpPr/>
          <p:nvPr/>
        </p:nvSpPr>
        <p:spPr>
          <a:xfrm>
            <a:off x="9705975" y="4808190"/>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doi.org/10.1080/0965254X.2014.914075</a:t>
            </a:r>
            <a:endParaRPr lang="en-US" sz="1050" dirty="0"/>
          </a:p>
        </p:txBody>
      </p:sp>
      <p:sp>
        <p:nvSpPr>
          <p:cNvPr id="24" name="Shape 21"/>
          <p:cNvSpPr/>
          <p:nvPr/>
        </p:nvSpPr>
        <p:spPr>
          <a:xfrm>
            <a:off x="1143000" y="5211068"/>
            <a:ext cx="28575" cy="594122"/>
          </a:xfrm>
          <a:prstGeom prst="rect">
            <a:avLst/>
          </a:prstGeom>
          <a:solidFill>
            <a:srgbClr val="B7E7C4"/>
          </a:solidFill>
          <a:ln/>
        </p:spPr>
        <p:txBody>
          <a:bodyPr/>
          <a:lstStyle/>
          <a:p>
            <a:endParaRPr lang="en-US"/>
          </a:p>
        </p:txBody>
      </p:sp>
      <p:sp>
        <p:nvSpPr>
          <p:cNvPr id="25" name="Text 22"/>
          <p:cNvSpPr/>
          <p:nvPr/>
        </p:nvSpPr>
        <p:spPr>
          <a:xfrm>
            <a:off x="1438275" y="5287268"/>
            <a:ext cx="7662196" cy="25896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United Nations DESA. </a:t>
            </a:r>
            <a:r>
              <a:rPr lang="en-US" sz="1200" dirty="0">
                <a:solidFill>
                  <a:srgbClr val="2B3139"/>
                </a:solidFill>
                <a:latin typeface="Arial" pitchFamily="34" charset="0"/>
                <a:ea typeface="Arial" pitchFamily="34" charset="-122"/>
                <a:cs typeface="Arial" pitchFamily="34" charset="-120"/>
              </a:rPr>
              <a:t>(2024). </a:t>
            </a:r>
            <a:r>
              <a:rPr lang="en-US" sz="1200" i="1" dirty="0">
                <a:solidFill>
                  <a:srgbClr val="2B3139"/>
                </a:solidFill>
                <a:latin typeface="Arial" pitchFamily="34" charset="0"/>
                <a:ea typeface="Arial" pitchFamily="34" charset="-122"/>
                <a:cs typeface="Arial" pitchFamily="34" charset="-120"/>
              </a:rPr>
              <a:t>United Nations e-government survey 2024</a:t>
            </a:r>
            <a:r>
              <a:rPr lang="en-US" sz="1200" dirty="0">
                <a:solidFill>
                  <a:srgbClr val="2B3139"/>
                </a:solidFill>
                <a:latin typeface="Arial" pitchFamily="34" charset="0"/>
                <a:ea typeface="Arial" pitchFamily="34" charset="-122"/>
                <a:cs typeface="Arial" pitchFamily="34" charset="-120"/>
              </a:rPr>
              <a:t>. United Nations.</a:t>
            </a:r>
            <a:endParaRPr lang="en-US" sz="1200" dirty="0"/>
          </a:p>
        </p:txBody>
      </p:sp>
      <p:sp>
        <p:nvSpPr>
          <p:cNvPr id="26" name="Shape 23"/>
          <p:cNvSpPr/>
          <p:nvPr/>
        </p:nvSpPr>
        <p:spPr>
          <a:xfrm>
            <a:off x="9410700" y="5211068"/>
            <a:ext cx="28575" cy="594122"/>
          </a:xfrm>
          <a:prstGeom prst="rect">
            <a:avLst/>
          </a:prstGeom>
          <a:solidFill>
            <a:srgbClr val="B7E7C4"/>
          </a:solidFill>
          <a:ln/>
        </p:spPr>
        <p:txBody>
          <a:bodyPr/>
          <a:lstStyle/>
          <a:p>
            <a:endParaRPr lang="en-US"/>
          </a:p>
        </p:txBody>
      </p:sp>
      <p:sp>
        <p:nvSpPr>
          <p:cNvPr id="27" name="Text 24"/>
          <p:cNvSpPr/>
          <p:nvPr/>
        </p:nvSpPr>
        <p:spPr>
          <a:xfrm>
            <a:off x="9705975" y="5287268"/>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UNDP. </a:t>
            </a:r>
            <a:r>
              <a:rPr lang="en-US" sz="1200" dirty="0">
                <a:solidFill>
                  <a:srgbClr val="2B3139"/>
                </a:solidFill>
                <a:latin typeface="Arial" pitchFamily="34" charset="0"/>
                <a:ea typeface="Arial" pitchFamily="34" charset="-122"/>
                <a:cs typeface="Arial" pitchFamily="34" charset="-120"/>
              </a:rPr>
              <a:t>(2023, August 10). Bridging the digital divide: Empowering indigenous regions through internet connectivity in Guyana.</a:t>
            </a:r>
            <a:endParaRPr lang="en-US" sz="1200" dirty="0"/>
          </a:p>
        </p:txBody>
      </p:sp>
      <p:sp>
        <p:nvSpPr>
          <p:cNvPr id="28" name="Shape 25"/>
          <p:cNvSpPr/>
          <p:nvPr/>
        </p:nvSpPr>
        <p:spPr>
          <a:xfrm>
            <a:off x="1143000" y="5938540"/>
            <a:ext cx="28575" cy="373261"/>
          </a:xfrm>
          <a:prstGeom prst="rect">
            <a:avLst/>
          </a:prstGeom>
          <a:solidFill>
            <a:srgbClr val="B7E7C4"/>
          </a:solidFill>
          <a:ln/>
        </p:spPr>
        <p:txBody>
          <a:bodyPr/>
          <a:lstStyle/>
          <a:p>
            <a:endParaRPr lang="en-US"/>
          </a:p>
        </p:txBody>
      </p:sp>
      <p:sp>
        <p:nvSpPr>
          <p:cNvPr id="29" name="Text 26"/>
          <p:cNvSpPr/>
          <p:nvPr/>
        </p:nvSpPr>
        <p:spPr>
          <a:xfrm>
            <a:off x="1438275" y="6014740"/>
            <a:ext cx="7662196" cy="25896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UNDP. </a:t>
            </a:r>
            <a:r>
              <a:rPr lang="en-US" sz="1200" dirty="0">
                <a:solidFill>
                  <a:srgbClr val="2B3139"/>
                </a:solidFill>
                <a:latin typeface="Arial" pitchFamily="34" charset="0"/>
                <a:ea typeface="Arial" pitchFamily="34" charset="-122"/>
                <a:cs typeface="Arial" pitchFamily="34" charset="-120"/>
              </a:rPr>
              <a:t>(2024, November 7). National digital readiness assessment launched.</a:t>
            </a:r>
            <a:endParaRPr lang="en-US" sz="1200" dirty="0"/>
          </a:p>
        </p:txBody>
      </p:sp>
      <p:sp>
        <p:nvSpPr>
          <p:cNvPr id="30" name="Shape 27"/>
          <p:cNvSpPr/>
          <p:nvPr/>
        </p:nvSpPr>
        <p:spPr>
          <a:xfrm>
            <a:off x="9410700" y="5938540"/>
            <a:ext cx="28575" cy="373261"/>
          </a:xfrm>
          <a:prstGeom prst="rect">
            <a:avLst/>
          </a:prstGeom>
          <a:solidFill>
            <a:srgbClr val="B7E7C4"/>
          </a:solidFill>
          <a:ln/>
        </p:spPr>
        <p:txBody>
          <a:bodyPr/>
          <a:lstStyle/>
          <a:p>
            <a:endParaRPr lang="en-US"/>
          </a:p>
        </p:txBody>
      </p:sp>
      <p:sp>
        <p:nvSpPr>
          <p:cNvPr id="31" name="Text 28"/>
          <p:cNvSpPr/>
          <p:nvPr/>
        </p:nvSpPr>
        <p:spPr>
          <a:xfrm>
            <a:off x="9705975" y="6014740"/>
            <a:ext cx="7662196" cy="25896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Guyana REDD+ Investment Fund. </a:t>
            </a:r>
            <a:r>
              <a:rPr lang="en-US" sz="1200" dirty="0">
                <a:solidFill>
                  <a:srgbClr val="2B3139"/>
                </a:solidFill>
                <a:latin typeface="Arial" pitchFamily="34" charset="0"/>
                <a:ea typeface="Arial" pitchFamily="34" charset="-122"/>
                <a:cs typeface="Arial" pitchFamily="34" charset="-120"/>
              </a:rPr>
              <a:t>(2022). </a:t>
            </a:r>
            <a:r>
              <a:rPr lang="en-US" sz="1200" i="1" dirty="0">
                <a:solidFill>
                  <a:srgbClr val="2B3139"/>
                </a:solidFill>
                <a:latin typeface="Arial" pitchFamily="34" charset="0"/>
                <a:ea typeface="Arial" pitchFamily="34" charset="-122"/>
                <a:cs typeface="Arial" pitchFamily="34" charset="-120"/>
              </a:rPr>
              <a:t>ICT project report 2022</a:t>
            </a:r>
            <a:r>
              <a:rPr lang="en-US" sz="1200" dirty="0">
                <a:solidFill>
                  <a:srgbClr val="2B3139"/>
                </a:solidFill>
                <a:latin typeface="Arial" pitchFamily="34" charset="0"/>
                <a:ea typeface="Arial" pitchFamily="34" charset="-122"/>
                <a:cs typeface="Arial" pitchFamily="34" charset="-120"/>
              </a:rPr>
              <a:t>.</a:t>
            </a:r>
            <a:endParaRPr lang="en-US" sz="1200" dirty="0"/>
          </a:p>
        </p:txBody>
      </p:sp>
      <p:sp>
        <p:nvSpPr>
          <p:cNvPr id="32" name="Shape 29"/>
          <p:cNvSpPr/>
          <p:nvPr/>
        </p:nvSpPr>
        <p:spPr>
          <a:xfrm>
            <a:off x="1143000" y="6445151"/>
            <a:ext cx="28575" cy="816025"/>
          </a:xfrm>
          <a:prstGeom prst="rect">
            <a:avLst/>
          </a:prstGeom>
          <a:solidFill>
            <a:srgbClr val="B7E7C4"/>
          </a:solidFill>
          <a:ln/>
        </p:spPr>
        <p:txBody>
          <a:bodyPr/>
          <a:lstStyle/>
          <a:p>
            <a:endParaRPr lang="en-US"/>
          </a:p>
        </p:txBody>
      </p:sp>
      <p:sp>
        <p:nvSpPr>
          <p:cNvPr id="33" name="Text 30"/>
          <p:cNvSpPr/>
          <p:nvPr/>
        </p:nvSpPr>
        <p:spPr>
          <a:xfrm>
            <a:off x="1438275" y="6521351"/>
            <a:ext cx="7662196" cy="479822"/>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200" b="1" dirty="0">
                <a:solidFill>
                  <a:srgbClr val="111418"/>
                </a:solidFill>
                <a:latin typeface="Arial" pitchFamily="34" charset="0"/>
                <a:ea typeface="Arial" pitchFamily="34" charset="-122"/>
                <a:cs typeface="Arial" pitchFamily="34" charset="-120"/>
              </a:rPr>
              <a:t>Venkatesh, V., Thong, J. Y. L. &amp; Xu, X. </a:t>
            </a:r>
            <a:r>
              <a:rPr lang="en-US" sz="1200" dirty="0">
                <a:solidFill>
                  <a:srgbClr val="2B3139"/>
                </a:solidFill>
                <a:latin typeface="Arial" pitchFamily="34" charset="0"/>
                <a:ea typeface="Arial" pitchFamily="34" charset="-122"/>
                <a:cs typeface="Arial" pitchFamily="34" charset="-120"/>
              </a:rPr>
              <a:t>(2012). Consumer acceptance and use of information technology: Extending UTAUT. </a:t>
            </a:r>
            <a:r>
              <a:rPr lang="en-US" sz="1200" i="1" dirty="0">
                <a:solidFill>
                  <a:srgbClr val="2B3139"/>
                </a:solidFill>
                <a:latin typeface="Arial" pitchFamily="34" charset="0"/>
                <a:ea typeface="Arial" pitchFamily="34" charset="-122"/>
                <a:cs typeface="Arial" pitchFamily="34" charset="-120"/>
              </a:rPr>
              <a:t>MIS Quarterly, 36</a:t>
            </a:r>
            <a:r>
              <a:rPr lang="en-US" sz="1200" dirty="0">
                <a:solidFill>
                  <a:srgbClr val="2B3139"/>
                </a:solidFill>
                <a:latin typeface="Arial" pitchFamily="34" charset="0"/>
                <a:ea typeface="Arial" pitchFamily="34" charset="-122"/>
                <a:cs typeface="Arial" pitchFamily="34" charset="-120"/>
              </a:rPr>
              <a:t>(1), 157–178.</a:t>
            </a:r>
            <a:endParaRPr lang="en-US" sz="1200" dirty="0"/>
          </a:p>
        </p:txBody>
      </p:sp>
      <p:sp>
        <p:nvSpPr>
          <p:cNvPr id="34" name="Text 31"/>
          <p:cNvSpPr/>
          <p:nvPr/>
        </p:nvSpPr>
        <p:spPr>
          <a:xfrm>
            <a:off x="1438275" y="6991648"/>
            <a:ext cx="7662196" cy="231428"/>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1050" dirty="0">
                <a:solidFill>
                  <a:srgbClr val="127A38"/>
                </a:solidFill>
                <a:latin typeface="Arial" pitchFamily="34" charset="0"/>
                <a:ea typeface="Arial" pitchFamily="34" charset="-122"/>
                <a:cs typeface="Arial" pitchFamily="34" charset="-120"/>
              </a:rPr>
              <a:t>doi.org/10.2307/41410412</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6F8"/>
        </a:solidFill>
        <a:effectLst/>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B3D1E"/>
          </a:solidFill>
          <a:ln/>
        </p:spPr>
        <p:txBody>
          <a:bodyPr/>
          <a:lstStyle/>
          <a:p>
            <a:endParaRPr lang="en-US"/>
          </a:p>
        </p:txBody>
      </p:sp>
      <p:sp>
        <p:nvSpPr>
          <p:cNvPr id="3" name="Text 1"/>
          <p:cNvSpPr/>
          <p:nvPr/>
        </p:nvSpPr>
        <p:spPr>
          <a:xfrm>
            <a:off x="1143000" y="2686050"/>
            <a:ext cx="16482060" cy="361950"/>
          </a:xfrm>
          <a:prstGeom prst="rect">
            <a:avLst/>
          </a:prstGeom>
          <a:noFill/>
          <a:ln/>
        </p:spPr>
        <p:txBody>
          <a:bodyPr wrap="square" lIns="25400" tIns="25400" rIns="25400" bIns="25400" rtlCol="0" anchor="t">
            <a:normAutofit lnSpcReduction="10000"/>
          </a:bodyPr>
          <a:lstStyle/>
          <a:p>
            <a:pPr marL="0" indent="0" algn="l">
              <a:buNone/>
            </a:pPr>
            <a:r>
              <a:rPr lang="en-US" sz="2100" b="1" kern="0" spc="462" dirty="0">
                <a:solidFill>
                  <a:srgbClr val="FFFFFF">
                    <a:alpha val="70000"/>
                  </a:srgbClr>
                </a:solidFill>
                <a:latin typeface="Arial" pitchFamily="34" charset="0"/>
                <a:ea typeface="Arial" pitchFamily="34" charset="-122"/>
                <a:cs typeface="Arial" pitchFamily="34" charset="-120"/>
              </a:rPr>
              <a:t>METHODOLOGY · ITE 4200</a:t>
            </a:r>
            <a:endParaRPr lang="en-US" sz="2100" dirty="0"/>
          </a:p>
        </p:txBody>
      </p:sp>
      <p:sp>
        <p:nvSpPr>
          <p:cNvPr id="4" name="Text 2"/>
          <p:cNvSpPr/>
          <p:nvPr/>
        </p:nvSpPr>
        <p:spPr>
          <a:xfrm>
            <a:off x="1143000" y="3276600"/>
            <a:ext cx="16482060" cy="1847850"/>
          </a:xfrm>
          <a:prstGeom prst="rect">
            <a:avLst/>
          </a:prstGeom>
          <a:noFill/>
          <a:ln/>
        </p:spPr>
        <p:txBody>
          <a:bodyPr wrap="square" lIns="25400" tIns="25400" rIns="25400" bIns="25400" rtlCol="0" anchor="t">
            <a:normAutofit fontScale="92500" lnSpcReduction="20000"/>
          </a:bodyPr>
          <a:lstStyle/>
          <a:p>
            <a:pPr marL="0" indent="0" algn="ctr">
              <a:lnSpc>
                <a:spcPct val="95000"/>
              </a:lnSpc>
              <a:buNone/>
            </a:pPr>
            <a:r>
              <a:rPr lang="en-US" sz="15000" b="1" kern="0" spc="-300" dirty="0">
                <a:solidFill>
                  <a:srgbClr val="FFFFFF"/>
                </a:solidFill>
                <a:latin typeface="Arial" pitchFamily="34" charset="0"/>
                <a:ea typeface="Arial" pitchFamily="34" charset="-122"/>
                <a:cs typeface="Arial" pitchFamily="34" charset="-120"/>
              </a:rPr>
              <a:t>Thank You.</a:t>
            </a:r>
            <a:endParaRPr lang="en-US" sz="15000" dirty="0"/>
          </a:p>
        </p:txBody>
      </p:sp>
      <p:sp>
        <p:nvSpPr>
          <p:cNvPr id="5" name="Text 3"/>
          <p:cNvSpPr/>
          <p:nvPr/>
        </p:nvSpPr>
        <p:spPr>
          <a:xfrm>
            <a:off x="1143000" y="5314950"/>
            <a:ext cx="16482060" cy="638175"/>
          </a:xfrm>
          <a:prstGeom prst="rect">
            <a:avLst/>
          </a:prstGeom>
          <a:noFill/>
          <a:ln/>
        </p:spPr>
        <p:txBody>
          <a:bodyPr wrap="square" lIns="25400" tIns="25400" rIns="25400" bIns="25400" rtlCol="0" anchor="t">
            <a:normAutofit lnSpcReduction="10000"/>
          </a:bodyPr>
          <a:lstStyle/>
          <a:p>
            <a:pPr marL="0" indent="0" algn="ctr">
              <a:buNone/>
            </a:pPr>
            <a:r>
              <a:rPr lang="en-US" sz="3900" dirty="0">
                <a:solidFill>
                  <a:srgbClr val="FFFFFF">
                    <a:alpha val="88000"/>
                  </a:srgbClr>
                </a:solidFill>
                <a:latin typeface="Arial" pitchFamily="34" charset="0"/>
                <a:ea typeface="Arial" pitchFamily="34" charset="-122"/>
                <a:cs typeface="Arial" pitchFamily="34" charset="-120"/>
              </a:rPr>
              <a:t>Questions?.</a:t>
            </a:r>
            <a:endParaRPr lang="en-US" sz="3900" dirty="0"/>
          </a:p>
        </p:txBody>
      </p:sp>
      <p:sp>
        <p:nvSpPr>
          <p:cNvPr id="6" name="Text 4"/>
          <p:cNvSpPr/>
          <p:nvPr/>
        </p:nvSpPr>
        <p:spPr>
          <a:xfrm>
            <a:off x="1143000" y="6677025"/>
            <a:ext cx="3463041"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40" dirty="0">
                <a:solidFill>
                  <a:srgbClr val="FFFFFF">
                    <a:alpha val="60000"/>
                  </a:srgbClr>
                </a:solidFill>
                <a:latin typeface="Arial" pitchFamily="34" charset="0"/>
                <a:ea typeface="Arial" pitchFamily="34" charset="-122"/>
                <a:cs typeface="Arial" pitchFamily="34" charset="-120"/>
              </a:rPr>
              <a:t>PRESENTER</a:t>
            </a:r>
            <a:endParaRPr lang="en-US" sz="1500" dirty="0"/>
          </a:p>
        </p:txBody>
      </p:sp>
      <p:sp>
        <p:nvSpPr>
          <p:cNvPr id="7" name="Text 5"/>
          <p:cNvSpPr/>
          <p:nvPr/>
        </p:nvSpPr>
        <p:spPr>
          <a:xfrm>
            <a:off x="1143000" y="6962775"/>
            <a:ext cx="3463041" cy="428625"/>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FFFF"/>
                </a:solidFill>
                <a:latin typeface="Arial" pitchFamily="34" charset="0"/>
                <a:ea typeface="Arial" pitchFamily="34" charset="-122"/>
                <a:cs typeface="Arial" pitchFamily="34" charset="-120"/>
              </a:rPr>
              <a:t>Gaianand Ramnarace</a:t>
            </a:r>
            <a:endParaRPr lang="en-US" sz="2550" dirty="0"/>
          </a:p>
        </p:txBody>
      </p:sp>
      <p:sp>
        <p:nvSpPr>
          <p:cNvPr id="8" name="Text 6"/>
          <p:cNvSpPr/>
          <p:nvPr/>
        </p:nvSpPr>
        <p:spPr>
          <a:xfrm>
            <a:off x="1143000" y="7353300"/>
            <a:ext cx="3463041" cy="285750"/>
          </a:xfrm>
          <a:prstGeom prst="rect">
            <a:avLst/>
          </a:prstGeom>
          <a:noFill/>
          <a:ln/>
        </p:spPr>
        <p:txBody>
          <a:bodyPr wrap="square" lIns="25400" tIns="25400" rIns="25400" bIns="25400" rtlCol="0" anchor="t">
            <a:normAutofit lnSpcReduction="10000"/>
          </a:bodyPr>
          <a:lstStyle/>
          <a:p>
            <a:pPr marL="0" indent="0" algn="l">
              <a:buNone/>
            </a:pPr>
            <a:r>
              <a:rPr lang="en-US" sz="1650" dirty="0">
                <a:solidFill>
                  <a:srgbClr val="FFFFFF">
                    <a:alpha val="70000"/>
                  </a:srgbClr>
                </a:solidFill>
                <a:latin typeface="Arial" pitchFamily="34" charset="0"/>
                <a:ea typeface="Arial" pitchFamily="34" charset="-122"/>
                <a:cs typeface="Arial" pitchFamily="34" charset="-120"/>
              </a:rPr>
              <a:t>1045379 · 24 April 2026</a:t>
            </a:r>
            <a:endParaRPr lang="en-US" sz="1650" dirty="0"/>
          </a:p>
        </p:txBody>
      </p:sp>
      <p:sp>
        <p:nvSpPr>
          <p:cNvPr id="9" name="Shape 7"/>
          <p:cNvSpPr/>
          <p:nvPr/>
        </p:nvSpPr>
        <p:spPr>
          <a:xfrm>
            <a:off x="5038576" y="6838950"/>
            <a:ext cx="9525" cy="762000"/>
          </a:xfrm>
          <a:prstGeom prst="rect">
            <a:avLst/>
          </a:prstGeom>
          <a:solidFill>
            <a:srgbClr val="FFFFFF">
              <a:alpha val="25000"/>
            </a:srgbClr>
          </a:solidFill>
          <a:ln/>
        </p:spPr>
        <p:txBody>
          <a:bodyPr/>
          <a:lstStyle/>
          <a:p>
            <a:endParaRPr lang="en-US"/>
          </a:p>
        </p:txBody>
      </p:sp>
      <p:sp>
        <p:nvSpPr>
          <p:cNvPr id="10" name="Text 8"/>
          <p:cNvSpPr/>
          <p:nvPr/>
        </p:nvSpPr>
        <p:spPr>
          <a:xfrm>
            <a:off x="5581501" y="6924675"/>
            <a:ext cx="2531120" cy="266700"/>
          </a:xfrm>
          <a:prstGeom prst="rect">
            <a:avLst/>
          </a:prstGeom>
          <a:noFill/>
          <a:ln/>
        </p:spPr>
        <p:txBody>
          <a:bodyPr wrap="square" lIns="25400" tIns="25400" rIns="25400" bIns="25400" rtlCol="0" anchor="t">
            <a:normAutofit lnSpcReduction="10000"/>
          </a:bodyPr>
          <a:lstStyle/>
          <a:p>
            <a:pPr marL="0" indent="0" algn="l">
              <a:buNone/>
            </a:pPr>
            <a:r>
              <a:rPr lang="en-US" sz="1500" b="1" kern="0" spc="240" dirty="0">
                <a:solidFill>
                  <a:srgbClr val="FFFFFF">
                    <a:alpha val="60000"/>
                  </a:srgbClr>
                </a:solidFill>
                <a:latin typeface="Arial" pitchFamily="34" charset="0"/>
                <a:ea typeface="Arial" pitchFamily="34" charset="-122"/>
                <a:cs typeface="Arial" pitchFamily="34" charset="-120"/>
              </a:rPr>
              <a:t>SUPERVISOR</a:t>
            </a:r>
            <a:endParaRPr lang="en-US" sz="1500" dirty="0"/>
          </a:p>
        </p:txBody>
      </p:sp>
      <p:sp>
        <p:nvSpPr>
          <p:cNvPr id="11" name="Text 9"/>
          <p:cNvSpPr/>
          <p:nvPr/>
        </p:nvSpPr>
        <p:spPr>
          <a:xfrm>
            <a:off x="5581501" y="7210425"/>
            <a:ext cx="2531120" cy="428625"/>
          </a:xfrm>
          <a:prstGeom prst="rect">
            <a:avLst/>
          </a:prstGeom>
          <a:noFill/>
          <a:ln/>
        </p:spPr>
        <p:txBody>
          <a:bodyPr wrap="square" lIns="25400" tIns="25400" rIns="25400" bIns="25400" rtlCol="0" anchor="t">
            <a:normAutofit lnSpcReduction="10000"/>
          </a:bodyPr>
          <a:lstStyle/>
          <a:p>
            <a:pPr marL="0" indent="0" algn="l">
              <a:buNone/>
            </a:pPr>
            <a:r>
              <a:rPr lang="en-US" sz="2550" b="1" dirty="0">
                <a:solidFill>
                  <a:srgbClr val="FFFFFF"/>
                </a:solidFill>
                <a:latin typeface="Arial" pitchFamily="34" charset="0"/>
                <a:ea typeface="Arial" pitchFamily="34" charset="-122"/>
                <a:cs typeface="Arial" pitchFamily="34" charset="-120"/>
              </a:rPr>
              <a:t>Jerome Allicock</a:t>
            </a:r>
            <a:endParaRPr lang="en-US" sz="2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231</TotalTime>
  <Words>4536</Words>
  <Application>Microsoft Office PowerPoint</Application>
  <PresentationFormat>Custom</PresentationFormat>
  <Paragraphs>428</Paragraphs>
  <Slides>19</Slides>
  <Notes>19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19</vt:i4>
      </vt:variant>
    </vt:vector>
  </HeadingPairs>
  <TitlesOfParts>
    <vt:vector size="21"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MP</dc:title>
  <dc:subject>MP</dc:subject>
  <dc:creator>Gaianand Ramnarace</dc:creator>
  <cp:lastModifiedBy>Gai Clark</cp:lastModifiedBy>
  <cp:revision>5</cp:revision>
  <dcterms:created xsi:type="dcterms:W3CDTF">2026-04-24T18:59:08Z</dcterms:created>
  <dcterms:modified xsi:type="dcterms:W3CDTF">2026-04-24T23:04:59Z</dcterms:modified>
</cp:coreProperties>
</file>