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93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07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B24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rcRect/>
          <a:stretch/>
        </p:blipFill>
        <p:spPr>
          <a:xfrm>
            <a:off x="12573000" y="1524000"/>
            <a:ext cx="7239000" cy="7239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316712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16712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57400" y="1423392"/>
            <a:ext cx="2695872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2057400" y="1850112"/>
            <a:ext cx="2695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GRA CONNECT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2593062"/>
            <a:ext cx="1451991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4DC9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ARTEFACT PRESENTATION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14400" y="3099792"/>
            <a:ext cx="1451991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450" b="1" kern="0" spc="-12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Continuance Intention Toward the GRA Padna App</a:t>
            </a:r>
            <a:endParaRPr lang="en-US" sz="6450" dirty="0"/>
          </a:p>
        </p:txBody>
      </p:sp>
      <p:sp>
        <p:nvSpPr>
          <p:cNvPr id="10" name="Text 6"/>
          <p:cNvSpPr/>
          <p:nvPr/>
        </p:nvSpPr>
        <p:spPr>
          <a:xfrm>
            <a:off x="914400" y="4947642"/>
            <a:ext cx="11576685" cy="1406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850" b="1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data-collection artefact: a conceptual model and questionnaire instrument for assessing why taxpayers keep using Padna.</a:t>
            </a:r>
            <a:endParaRPr lang="en-US" sz="2850" dirty="0"/>
          </a:p>
        </p:txBody>
      </p:sp>
      <p:sp>
        <p:nvSpPr>
          <p:cNvPr id="11" name="Text 7"/>
          <p:cNvSpPr/>
          <p:nvPr/>
        </p:nvSpPr>
        <p:spPr>
          <a:xfrm>
            <a:off x="914400" y="6525220"/>
            <a:ext cx="1059561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FFFFFF">
                    <a:alpha val="66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in ECM, UTAUT2 and e-government trust literature.</a:t>
            </a:r>
            <a:endParaRPr lang="en-US" sz="1875" dirty="0"/>
          </a:p>
        </p:txBody>
      </p:sp>
      <p:sp>
        <p:nvSpPr>
          <p:cNvPr id="12" name="Shape 8"/>
          <p:cNvSpPr/>
          <p:nvPr/>
        </p:nvSpPr>
        <p:spPr>
          <a:xfrm>
            <a:off x="914400" y="7225308"/>
            <a:ext cx="2095500" cy="1032510"/>
          </a:xfrm>
          <a:prstGeom prst="roundRect">
            <a:avLst>
              <a:gd name="adj" fmla="val 16605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169670" y="7404378"/>
            <a:ext cx="16611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DC9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69670" y="7735848"/>
            <a:ext cx="16611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ECM</a:t>
            </a:r>
            <a:endParaRPr lang="en-US" sz="2250" dirty="0"/>
          </a:p>
        </p:txBody>
      </p:sp>
      <p:sp>
        <p:nvSpPr>
          <p:cNvPr id="15" name="Shape 11"/>
          <p:cNvSpPr/>
          <p:nvPr/>
        </p:nvSpPr>
        <p:spPr>
          <a:xfrm>
            <a:off x="3162300" y="7225308"/>
            <a:ext cx="2095500" cy="1032510"/>
          </a:xfrm>
          <a:prstGeom prst="roundRect">
            <a:avLst>
              <a:gd name="adj" fmla="val 16605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417570" y="7404378"/>
            <a:ext cx="16611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DC9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EXTENSION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417570" y="7735848"/>
            <a:ext cx="16611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UTAUT2</a:t>
            </a:r>
            <a:endParaRPr lang="en-US" sz="2250" dirty="0"/>
          </a:p>
        </p:txBody>
      </p:sp>
      <p:sp>
        <p:nvSpPr>
          <p:cNvPr id="18" name="Shape 14"/>
          <p:cNvSpPr/>
          <p:nvPr/>
        </p:nvSpPr>
        <p:spPr>
          <a:xfrm>
            <a:off x="5410200" y="7225308"/>
            <a:ext cx="2143482" cy="1032510"/>
          </a:xfrm>
          <a:prstGeom prst="roundRect">
            <a:avLst>
              <a:gd name="adj" fmla="val 16605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665470" y="7404378"/>
            <a:ext cx="170914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DC9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5665470" y="7735848"/>
            <a:ext cx="170914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E-Gov Trust</a:t>
            </a:r>
            <a:endParaRPr lang="en-US" sz="2250" dirty="0"/>
          </a:p>
        </p:txBody>
      </p:sp>
      <p:sp>
        <p:nvSpPr>
          <p:cNvPr id="21" name="Shape 17"/>
          <p:cNvSpPr/>
          <p:nvPr/>
        </p:nvSpPr>
        <p:spPr>
          <a:xfrm>
            <a:off x="7706083" y="7225308"/>
            <a:ext cx="3064193" cy="1032510"/>
          </a:xfrm>
          <a:prstGeom prst="roundRect">
            <a:avLst>
              <a:gd name="adj" fmla="val 16605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961352" y="7404378"/>
            <a:ext cx="263026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DC9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7961352" y="7735848"/>
            <a:ext cx="26302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Questionnaire</a:t>
            </a:r>
            <a:endParaRPr lang="en-US" sz="2250" dirty="0"/>
          </a:p>
        </p:txBody>
      </p:sp>
      <p:sp>
        <p:nvSpPr>
          <p:cNvPr id="24" name="Text 20"/>
          <p:cNvSpPr/>
          <p:nvPr/>
        </p:nvSpPr>
        <p:spPr>
          <a:xfrm>
            <a:off x="914400" y="8695968"/>
            <a:ext cx="242554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Gaianand Ramnarace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3397091" y="8809315"/>
            <a:ext cx="47625" cy="47625"/>
          </a:xfrm>
          <a:prstGeom prst="ellipse">
            <a:avLst/>
          </a:prstGeom>
          <a:solidFill>
            <a:srgbClr val="4DC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578066" y="8695968"/>
            <a:ext cx="10403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1045370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4675584" y="8809315"/>
            <a:ext cx="47625" cy="47625"/>
          </a:xfrm>
          <a:prstGeom prst="ellipse">
            <a:avLst/>
          </a:prstGeom>
          <a:solidFill>
            <a:srgbClr val="4DC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856559" y="8695968"/>
            <a:ext cx="321375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BSc Information Technology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8110061" y="8809315"/>
            <a:ext cx="47625" cy="47625"/>
          </a:xfrm>
          <a:prstGeom prst="ellipse">
            <a:avLst/>
          </a:prstGeom>
          <a:solidFill>
            <a:srgbClr val="4DC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8291036" y="8695968"/>
            <a:ext cx="239494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University of Guyana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5062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overview of the problem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1272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0" y="2317552"/>
            <a:ext cx="8518446" cy="2867025"/>
          </a:xfrm>
          <a:prstGeom prst="roundRect">
            <a:avLst>
              <a:gd name="adj" fmla="val 7309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95400" y="2679502"/>
            <a:ext cx="798913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PROBLEM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295400" y="3087172"/>
            <a:ext cx="7989139" cy="1773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550" b="1" kern="0" spc="-15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Padna's long-term value depends on taxpayers returning to the app after first use — but the factors shaping continued use in Guyana have not been empirically tested.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914400" y="5470327"/>
            <a:ext cx="8773999" cy="155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 apps are periodic, so "not using it every month" is not automatically discontinuance. This study defines continuance as the </a:t>
            </a:r>
            <a:r>
              <a:rPr lang="en-US" sz="21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intention to use Padna again when a relevant tax need or filing period arises </a:t>
            </a:r>
            <a:r>
              <a:rPr lang="en-US" sz="21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9966246" y="2637592"/>
            <a:ext cx="2082998" cy="1177290"/>
          </a:xfrm>
          <a:prstGeom prst="roundRect">
            <a:avLst>
              <a:gd name="adj" fmla="val 14563"/>
            </a:avLst>
          </a:prstGeom>
          <a:solidFill>
            <a:srgbClr val="F2FBF5"/>
          </a:solidFill>
          <a:ln w="15240">
            <a:solidFill>
              <a:srgbClr val="B7E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0114836" y="2900482"/>
            <a:ext cx="178581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0114836" y="3231952"/>
            <a:ext cx="178581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use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12182595" y="2986207"/>
            <a:ext cx="388501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B2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50" dirty="0"/>
          </a:p>
        </p:txBody>
      </p:sp>
      <p:sp>
        <p:nvSpPr>
          <p:cNvPr id="16" name="Shape 12"/>
          <p:cNvSpPr/>
          <p:nvPr/>
        </p:nvSpPr>
        <p:spPr>
          <a:xfrm>
            <a:off x="12628245" y="2477572"/>
            <a:ext cx="2083117" cy="1497330"/>
          </a:xfrm>
          <a:prstGeom prst="roundRect">
            <a:avLst>
              <a:gd name="adj" fmla="val 11450"/>
            </a:avLst>
          </a:prstGeom>
          <a:solidFill>
            <a:srgbClr val="F2FBF5"/>
          </a:solidFill>
          <a:ln w="15240">
            <a:solidFill>
              <a:srgbClr val="B7E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2776835" y="2740462"/>
            <a:ext cx="178593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2776835" y="3071932"/>
            <a:ext cx="1785938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experience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14844713" y="2986207"/>
            <a:ext cx="388501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B2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50" dirty="0"/>
          </a:p>
        </p:txBody>
      </p:sp>
      <p:sp>
        <p:nvSpPr>
          <p:cNvPr id="20" name="Shape 16"/>
          <p:cNvSpPr/>
          <p:nvPr/>
        </p:nvSpPr>
        <p:spPr>
          <a:xfrm>
            <a:off x="15290363" y="2317552"/>
            <a:ext cx="2083117" cy="1817370"/>
          </a:xfrm>
          <a:prstGeom prst="roundRect">
            <a:avLst>
              <a:gd name="adj" fmla="val 9434"/>
            </a:avLst>
          </a:prstGeom>
          <a:solidFill>
            <a:srgbClr val="0B3D1E"/>
          </a:solidFill>
          <a:ln w="15240">
            <a:solidFill>
              <a:srgbClr val="0B3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5438954" y="2580442"/>
            <a:ext cx="178593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4DC9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5438954" y="2911912"/>
            <a:ext cx="1785938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when needed?</a:t>
            </a:r>
            <a:endParaRPr lang="en-US" sz="2100" dirty="0"/>
          </a:p>
        </p:txBody>
      </p:sp>
      <p:sp>
        <p:nvSpPr>
          <p:cNvPr id="23" name="Shape 19"/>
          <p:cNvSpPr/>
          <p:nvPr/>
        </p:nvSpPr>
        <p:spPr>
          <a:xfrm>
            <a:off x="9966246" y="4458772"/>
            <a:ext cx="7407236" cy="1328738"/>
          </a:xfrm>
          <a:prstGeom prst="roundRect">
            <a:avLst>
              <a:gd name="adj" fmla="val 15771"/>
            </a:avLst>
          </a:prstGeom>
          <a:solidFill>
            <a:srgbClr val="F2FB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10290096" y="4744522"/>
            <a:ext cx="6962322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artefact must measure </a:t>
            </a:r>
            <a:r>
              <a:rPr lang="en-US" sz="21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post-use experience </a:t>
            </a:r>
            <a:r>
              <a:rPr lang="en-US" sz="21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not general awareness or first-time adoption.</a:t>
            </a:r>
            <a:endParaRPr lang="en-US" sz="2100" dirty="0"/>
          </a:p>
        </p:txBody>
      </p:sp>
      <p:sp>
        <p:nvSpPr>
          <p:cNvPr id="25" name="Text 21"/>
          <p:cNvSpPr/>
          <p:nvPr/>
        </p:nvSpPr>
        <p:spPr>
          <a:xfrm>
            <a:off x="914400" y="8963025"/>
            <a:ext cx="16952976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b="1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Grounding: </a:t>
            </a: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ECM explains post-adoption continuance (Bhattacherjee, 2001); trust matters in e-government (Carter &amp; Bélanger, 2005; Bélanger &amp; Carter, 2008).</a:t>
            </a:r>
            <a:endParaRPr lang="en-US" sz="1875" dirty="0"/>
          </a:p>
        </p:txBody>
      </p:sp>
      <p:sp>
        <p:nvSpPr>
          <p:cNvPr id="26" name="Text 22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RESEARCH QUESTION &amp; OBJECTIVES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5062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question and objectives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1272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0" y="2241352"/>
            <a:ext cx="16459200" cy="1357789"/>
          </a:xfrm>
          <a:prstGeom prst="roundRect">
            <a:avLst>
              <a:gd name="adj" fmla="val 15433"/>
            </a:avLst>
          </a:prstGeom>
          <a:solidFill>
            <a:srgbClr val="0B3D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95400" y="2546152"/>
            <a:ext cx="1616811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DC9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295400" y="2896672"/>
            <a:ext cx="16168116" cy="435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factors influence Guyanese taxpayers' intention to continue using the GRA Padna App?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914400" y="3980140"/>
            <a:ext cx="98892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THE ARTEFACT MUST SUPPORT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914400" y="448306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3F6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76300" y="448306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1619250" y="4483060"/>
            <a:ext cx="400278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key determinants using ECM extended with selected UTAUT2 and trust constructs.</a:t>
            </a:r>
            <a:endParaRPr lang="en-US" sz="1875" dirty="0"/>
          </a:p>
        </p:txBody>
      </p:sp>
      <p:sp>
        <p:nvSpPr>
          <p:cNvPr id="15" name="Shape 11"/>
          <p:cNvSpPr/>
          <p:nvPr/>
        </p:nvSpPr>
        <p:spPr>
          <a:xfrm>
            <a:off x="5924550" y="448306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3F6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886450" y="448306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6629400" y="4483060"/>
            <a:ext cx="4002786" cy="170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confirmation, usefulness, satisfaction, trust/security, habit, social influence, facilitating conditions and continuance intention.</a:t>
            </a:r>
            <a:endParaRPr lang="en-US" sz="1875" dirty="0"/>
          </a:p>
        </p:txBody>
      </p:sp>
      <p:sp>
        <p:nvSpPr>
          <p:cNvPr id="18" name="Shape 14"/>
          <p:cNvSpPr/>
          <p:nvPr/>
        </p:nvSpPr>
        <p:spPr>
          <a:xfrm>
            <a:off x="914400" y="6416636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3F6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876300" y="64166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950" dirty="0"/>
          </a:p>
        </p:txBody>
      </p:sp>
      <p:sp>
        <p:nvSpPr>
          <p:cNvPr id="20" name="Text 16"/>
          <p:cNvSpPr/>
          <p:nvPr/>
        </p:nvSpPr>
        <p:spPr>
          <a:xfrm>
            <a:off x="1619250" y="6416636"/>
            <a:ext cx="400278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analysis-ready data from prior Padna users through one structured questionnaire.</a:t>
            </a:r>
            <a:endParaRPr lang="en-US" sz="1875" dirty="0"/>
          </a:p>
        </p:txBody>
      </p:sp>
      <p:sp>
        <p:nvSpPr>
          <p:cNvPr id="21" name="Shape 17"/>
          <p:cNvSpPr/>
          <p:nvPr/>
        </p:nvSpPr>
        <p:spPr>
          <a:xfrm>
            <a:off x="5924550" y="6416636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3F6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886450" y="64166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19"/>
          <p:cNvSpPr/>
          <p:nvPr/>
        </p:nvSpPr>
        <p:spPr>
          <a:xfrm>
            <a:off x="6629400" y="6416636"/>
            <a:ext cx="400278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construct relationships and provide recommendations for sustained digital tax engagement.</a:t>
            </a:r>
            <a:endParaRPr lang="en-US" sz="1875" dirty="0"/>
          </a:p>
        </p:txBody>
      </p:sp>
      <p:sp>
        <p:nvSpPr>
          <p:cNvPr id="24" name="Shape 20"/>
          <p:cNvSpPr/>
          <p:nvPr/>
        </p:nvSpPr>
        <p:spPr>
          <a:xfrm>
            <a:off x="10972800" y="3980140"/>
            <a:ext cx="6400800" cy="2050733"/>
          </a:xfrm>
          <a:prstGeom prst="roundRect">
            <a:avLst>
              <a:gd name="adj" fmla="val 1021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11315700" y="4303990"/>
            <a:ext cx="5886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06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ARTEFACT ROLE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11315700" y="4692610"/>
            <a:ext cx="5886450" cy="1052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deployable questionnaire and conceptual model that collect the exact evidence needed to answer the research question.</a:t>
            </a:r>
            <a:endParaRPr lang="en-US" sz="1875" dirty="0"/>
          </a:p>
        </p:txBody>
      </p:sp>
      <p:sp>
        <p:nvSpPr>
          <p:cNvPr id="27" name="Shape 23"/>
          <p:cNvSpPr/>
          <p:nvPr/>
        </p:nvSpPr>
        <p:spPr>
          <a:xfrm>
            <a:off x="10972800" y="6259473"/>
            <a:ext cx="6400800" cy="1712595"/>
          </a:xfrm>
          <a:prstGeom prst="roundRect">
            <a:avLst>
              <a:gd name="adj" fmla="val 1223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11315700" y="6583323"/>
            <a:ext cx="5886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D83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CHECK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1315700" y="6971943"/>
            <a:ext cx="58864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construct, item and analysis step is traceable to an objective or hypothesis.</a:t>
            </a:r>
            <a:endParaRPr lang="en-US" sz="1875" dirty="0"/>
          </a:p>
        </p:txBody>
      </p:sp>
      <p:sp>
        <p:nvSpPr>
          <p:cNvPr id="30" name="Text 26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RESEARCH DESIGN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5062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description of research design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1272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0" y="2355652"/>
            <a:ext cx="3914775" cy="2069783"/>
          </a:xfrm>
          <a:prstGeom prst="roundRect">
            <a:avLst>
              <a:gd name="adj" fmla="val 10124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57300" y="2679502"/>
            <a:ext cx="332584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257300" y="3087172"/>
            <a:ext cx="33258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Quantitative, cross-sectional, explanatory.</a:t>
            </a:r>
            <a:endParaRPr lang="en-US" sz="1875" dirty="0"/>
          </a:p>
        </p:txBody>
      </p:sp>
      <p:sp>
        <p:nvSpPr>
          <p:cNvPr id="11" name="Shape 7"/>
          <p:cNvSpPr/>
          <p:nvPr/>
        </p:nvSpPr>
        <p:spPr>
          <a:xfrm>
            <a:off x="5095875" y="2355652"/>
            <a:ext cx="3914775" cy="2069783"/>
          </a:xfrm>
          <a:prstGeom prst="roundRect">
            <a:avLst>
              <a:gd name="adj" fmla="val 10124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438775" y="2679502"/>
            <a:ext cx="332584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438775" y="3087172"/>
            <a:ext cx="33258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Guyanese taxpayers who used Padna at least once.</a:t>
            </a:r>
            <a:endParaRPr lang="en-US" sz="1875" dirty="0"/>
          </a:p>
        </p:txBody>
      </p:sp>
      <p:sp>
        <p:nvSpPr>
          <p:cNvPr id="14" name="Shape 10"/>
          <p:cNvSpPr/>
          <p:nvPr/>
        </p:nvSpPr>
        <p:spPr>
          <a:xfrm>
            <a:off x="9277350" y="2355652"/>
            <a:ext cx="3914775" cy="2069783"/>
          </a:xfrm>
          <a:prstGeom prst="roundRect">
            <a:avLst>
              <a:gd name="adj" fmla="val 10124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620250" y="2679502"/>
            <a:ext cx="332584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620250" y="3087172"/>
            <a:ext cx="33258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online questionnaire; no interview or demo.</a:t>
            </a:r>
            <a:endParaRPr lang="en-US" sz="1875" dirty="0"/>
          </a:p>
        </p:txBody>
      </p:sp>
      <p:sp>
        <p:nvSpPr>
          <p:cNvPr id="17" name="Shape 13"/>
          <p:cNvSpPr/>
          <p:nvPr/>
        </p:nvSpPr>
        <p:spPr>
          <a:xfrm>
            <a:off x="13458825" y="2355652"/>
            <a:ext cx="3914775" cy="2069783"/>
          </a:xfrm>
          <a:prstGeom prst="roundRect">
            <a:avLst>
              <a:gd name="adj" fmla="val 10124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3801725" y="2679502"/>
            <a:ext cx="332584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3801725" y="3087172"/>
            <a:ext cx="3325844" cy="1052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stats, reliability, validity and PLS-SEM where sample permits.</a:t>
            </a:r>
            <a:endParaRPr lang="en-US" sz="1875" dirty="0"/>
          </a:p>
        </p:txBody>
      </p:sp>
      <p:sp>
        <p:nvSpPr>
          <p:cNvPr id="20" name="Shape 16"/>
          <p:cNvSpPr/>
          <p:nvPr/>
        </p:nvSpPr>
        <p:spPr>
          <a:xfrm>
            <a:off x="914400" y="4806434"/>
            <a:ext cx="16459200" cy="1793558"/>
          </a:xfrm>
          <a:prstGeom prst="roundRect">
            <a:avLst>
              <a:gd name="adj" fmla="val 11683"/>
            </a:avLst>
          </a:prstGeom>
          <a:solidFill>
            <a:srgbClr val="F2FB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295400" y="5130284"/>
            <a:ext cx="1616811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JUSTIFICATION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295400" y="5518904"/>
            <a:ext cx="16168116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ECM and UTAUT2 are theory-driven behavioural models commonly tested with survey data and SEM; therefore the instrument must generate </a:t>
            </a:r>
            <a:r>
              <a:rPr lang="en-US" sz="21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numeric indicators </a:t>
            </a:r>
            <a:r>
              <a:rPr lang="en-US" sz="21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construct.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914400" y="9357360"/>
            <a:ext cx="161329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Bhattacherjee (2001); Venkatesh et al. (2012); Hair et al. PLS-SEM guidance used for measurement / structural model evaluation.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LITERATURE → MODEL RATIONALE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8110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review summary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4320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0" y="2328982"/>
            <a:ext cx="3943350" cy="3572828"/>
          </a:xfrm>
          <a:prstGeom prst="roundRect">
            <a:avLst>
              <a:gd name="adj" fmla="val 5865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914400" y="2328982"/>
            <a:ext cx="3943350" cy="53340"/>
          </a:xfrm>
          <a:prstGeom prst="rect">
            <a:avLst/>
          </a:prstGeom>
          <a:solidFill>
            <a:srgbClr val="127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257300" y="2706172"/>
            <a:ext cx="335527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ECM BASE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57300" y="3113842"/>
            <a:ext cx="3355277" cy="1728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Confirmation, perceived usefulness and satisfaction explain why experienced users continue or discontinue.</a:t>
            </a:r>
            <a:endParaRPr lang="en-US" sz="1875" dirty="0"/>
          </a:p>
        </p:txBody>
      </p:sp>
      <p:sp>
        <p:nvSpPr>
          <p:cNvPr id="12" name="Text 8"/>
          <p:cNvSpPr/>
          <p:nvPr/>
        </p:nvSpPr>
        <p:spPr>
          <a:xfrm>
            <a:off x="1257300" y="4937879"/>
            <a:ext cx="335527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1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Bhattacherjee, 2001; Roca et al., 2006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086350" y="2328982"/>
            <a:ext cx="3943350" cy="3572828"/>
          </a:xfrm>
          <a:prstGeom prst="roundRect">
            <a:avLst>
              <a:gd name="adj" fmla="val 5865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086350" y="2328982"/>
            <a:ext cx="3943350" cy="53340"/>
          </a:xfrm>
          <a:prstGeom prst="rect">
            <a:avLst/>
          </a:prstGeom>
          <a:solidFill>
            <a:srgbClr val="F06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429250" y="2706172"/>
            <a:ext cx="335527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06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UTAUT2 EXTENSION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429250" y="3113842"/>
            <a:ext cx="3355277" cy="1728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Habit, social influence and facilitating conditions add behavioural, social and resource-access explanations.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5429250" y="4937879"/>
            <a:ext cx="335527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1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Venkatesh et al., 2012; Limayem et al., 2007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9258300" y="2328982"/>
            <a:ext cx="3943350" cy="3572828"/>
          </a:xfrm>
          <a:prstGeom prst="roundRect">
            <a:avLst>
              <a:gd name="adj" fmla="val 5865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258300" y="2328982"/>
            <a:ext cx="3943350" cy="53340"/>
          </a:xfrm>
          <a:prstGeom prst="rect">
            <a:avLst/>
          </a:prstGeom>
          <a:solidFill>
            <a:srgbClr val="D8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9601200" y="2706172"/>
            <a:ext cx="335527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D83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E-GOVERNMENT TRUST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601200" y="3113842"/>
            <a:ext cx="3355277" cy="1408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Taxpayers share sensitive information, so agency trust and security perception are central.</a:t>
            </a:r>
            <a:endParaRPr lang="en-US" sz="1875" dirty="0"/>
          </a:p>
        </p:txBody>
      </p:sp>
      <p:sp>
        <p:nvSpPr>
          <p:cNvPr id="22" name="Text 18"/>
          <p:cNvSpPr/>
          <p:nvPr/>
        </p:nvSpPr>
        <p:spPr>
          <a:xfrm>
            <a:off x="9601200" y="4617839"/>
            <a:ext cx="3355277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1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Carter &amp; Bélanger, 2005; Bélanger &amp; Carter, 2008; Gefen et al., 2003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3430250" y="2328982"/>
            <a:ext cx="3943350" cy="3572828"/>
          </a:xfrm>
          <a:prstGeom prst="roundRect">
            <a:avLst>
              <a:gd name="adj" fmla="val 5865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13430250" y="2328982"/>
            <a:ext cx="3943350" cy="5334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13773150" y="2706172"/>
            <a:ext cx="335527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GUYANA-SPECIFIC GAP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13773150" y="3113842"/>
            <a:ext cx="3355277" cy="1728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literature does not empirically test Padna continuance in Guyana; local digital access issues require contextual controls.</a:t>
            </a:r>
            <a:endParaRPr lang="en-US" sz="1875" dirty="0"/>
          </a:p>
        </p:txBody>
      </p:sp>
      <p:sp>
        <p:nvSpPr>
          <p:cNvPr id="27" name="Text 23"/>
          <p:cNvSpPr/>
          <p:nvPr/>
        </p:nvSpPr>
        <p:spPr>
          <a:xfrm>
            <a:off x="13773150" y="4937879"/>
            <a:ext cx="335527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1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UNDP, 2023; GRIF, 2022; project proposal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914400" y="6301859"/>
            <a:ext cx="16459200" cy="1626870"/>
          </a:xfrm>
          <a:prstGeom prst="roundRect">
            <a:avLst>
              <a:gd name="adj" fmla="val 12881"/>
            </a:avLst>
          </a:prstGeom>
          <a:solidFill>
            <a:srgbClr val="0B3D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276350" y="6568559"/>
            <a:ext cx="1620735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DC9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GAP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1276350" y="6919079"/>
            <a:ext cx="1620735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models explain adoption and continuance generally — but not Padna-specific continuance under Guyana's tax-season and digital-readiness context.</a:t>
            </a:r>
            <a:endParaRPr lang="en-US" sz="2250" dirty="0"/>
          </a:p>
        </p:txBody>
      </p:sp>
      <p:sp>
        <p:nvSpPr>
          <p:cNvPr id="31" name="Text 27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05A · ARTEFACT MODEL STRUCTURE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5062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model: Expectation–Confirmation Model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1272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73285"/>
            <a:ext cx="9680377" cy="41910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1128177" y="2279452"/>
            <a:ext cx="6245304" cy="1712595"/>
          </a:xfrm>
          <a:prstGeom prst="roundRect">
            <a:avLst>
              <a:gd name="adj" fmla="val 12236"/>
            </a:avLst>
          </a:prstGeom>
          <a:solidFill>
            <a:srgbClr val="F2FB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1471077" y="2603302"/>
            <a:ext cx="572628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ECM?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1471077" y="2991922"/>
            <a:ext cx="5726289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built for post-adoption continuance — after users have actual experience with a system.</a:t>
            </a:r>
            <a:endParaRPr lang="en-US" sz="1875" dirty="0"/>
          </a:p>
        </p:txBody>
      </p:sp>
      <p:sp>
        <p:nvSpPr>
          <p:cNvPr id="12" name="Shape 7"/>
          <p:cNvSpPr/>
          <p:nvPr/>
        </p:nvSpPr>
        <p:spPr>
          <a:xfrm>
            <a:off x="11128177" y="4239697"/>
            <a:ext cx="6245304" cy="2050733"/>
          </a:xfrm>
          <a:prstGeom prst="roundRect">
            <a:avLst>
              <a:gd name="adj" fmla="val 1021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1471077" y="4563547"/>
            <a:ext cx="572628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PATHS (H1–H5)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1471077" y="4952167"/>
            <a:ext cx="5726289" cy="1052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Confirmation → usefulness &amp; satisfaction; usefulness → satisfaction &amp; continuance; satisfaction → continuance.</a:t>
            </a:r>
            <a:endParaRPr lang="en-US" sz="1875" dirty="0"/>
          </a:p>
        </p:txBody>
      </p:sp>
      <p:sp>
        <p:nvSpPr>
          <p:cNvPr id="15" name="Text 10"/>
          <p:cNvSpPr/>
          <p:nvPr/>
        </p:nvSpPr>
        <p:spPr>
          <a:xfrm>
            <a:off x="11128177" y="6538079"/>
            <a:ext cx="643266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1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Bhattacherjee (2001); Davis (1989); Roca et al. (2006).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05B · ARTEFACT MODEL STRUCTURE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5062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Extended model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1272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203252"/>
            <a:ext cx="14716125" cy="854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400" b="1" kern="0" spc="-14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base ECM is extended only where the literature and Padna context justify additional explanatory factors.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914400" y="3420070"/>
            <a:ext cx="3943350" cy="3208972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914400" y="3420070"/>
            <a:ext cx="3943350" cy="53340"/>
          </a:xfrm>
          <a:prstGeom prst="rect">
            <a:avLst/>
          </a:prstGeom>
          <a:solidFill>
            <a:srgbClr val="F06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257300" y="3797260"/>
            <a:ext cx="335527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06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257300" y="4223980"/>
            <a:ext cx="3355277" cy="1646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using Padna becomes the normal option for tax tasks.</a:t>
            </a:r>
            <a:endParaRPr lang="en-US" sz="1875" dirty="0"/>
          </a:p>
        </p:txBody>
      </p:sp>
      <p:sp>
        <p:nvSpPr>
          <p:cNvPr id="13" name="Text 9"/>
          <p:cNvSpPr/>
          <p:nvPr/>
        </p:nvSpPr>
        <p:spPr>
          <a:xfrm>
            <a:off x="1257300" y="5985153"/>
            <a:ext cx="335527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1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UTAUT2; Limayem et al.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086350" y="3420070"/>
            <a:ext cx="3943350" cy="3208972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086350" y="3420070"/>
            <a:ext cx="3943350" cy="53340"/>
          </a:xfrm>
          <a:prstGeom prst="rect">
            <a:avLst/>
          </a:prstGeom>
          <a:solidFill>
            <a:srgbClr val="F06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429250" y="3797260"/>
            <a:ext cx="335527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06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INFLUENCE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429250" y="4223980"/>
            <a:ext cx="3355277" cy="1646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important others or work networks support use.</a:t>
            </a:r>
            <a:endParaRPr lang="en-US" sz="1875" dirty="0"/>
          </a:p>
        </p:txBody>
      </p:sp>
      <p:sp>
        <p:nvSpPr>
          <p:cNvPr id="18" name="Text 14"/>
          <p:cNvSpPr/>
          <p:nvPr/>
        </p:nvSpPr>
        <p:spPr>
          <a:xfrm>
            <a:off x="5429250" y="5985153"/>
            <a:ext cx="335527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1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UTAUT / UTAUT2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9258300" y="3420070"/>
            <a:ext cx="3943350" cy="3208972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258300" y="3420070"/>
            <a:ext cx="3943350" cy="53340"/>
          </a:xfrm>
          <a:prstGeom prst="rect">
            <a:avLst/>
          </a:prstGeom>
          <a:solidFill>
            <a:srgbClr val="F06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601200" y="3797260"/>
            <a:ext cx="3355277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06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FACILITATING CONDITIONS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9601200" y="4498300"/>
            <a:ext cx="3355277" cy="137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users have resources, access and support.</a:t>
            </a:r>
            <a:endParaRPr lang="en-US" sz="1875" dirty="0"/>
          </a:p>
        </p:txBody>
      </p:sp>
      <p:sp>
        <p:nvSpPr>
          <p:cNvPr id="23" name="Text 19"/>
          <p:cNvSpPr/>
          <p:nvPr/>
        </p:nvSpPr>
        <p:spPr>
          <a:xfrm>
            <a:off x="9601200" y="5985153"/>
            <a:ext cx="335527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1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UTAUT / UTAUT2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3430250" y="3420070"/>
            <a:ext cx="3943350" cy="3208972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13430250" y="3420070"/>
            <a:ext cx="3943350" cy="53340"/>
          </a:xfrm>
          <a:prstGeom prst="rect">
            <a:avLst/>
          </a:prstGeom>
          <a:solidFill>
            <a:srgbClr val="D8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13773150" y="3797260"/>
            <a:ext cx="3355277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D83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&amp; SECURITY PERCEPTION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3773150" y="4498300"/>
            <a:ext cx="3355277" cy="1052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the system and agency are perceived as reliable with tax data.</a:t>
            </a:r>
            <a:endParaRPr lang="en-US" sz="1875" dirty="0"/>
          </a:p>
        </p:txBody>
      </p:sp>
      <p:sp>
        <p:nvSpPr>
          <p:cNvPr id="28" name="Text 24"/>
          <p:cNvSpPr/>
          <p:nvPr/>
        </p:nvSpPr>
        <p:spPr>
          <a:xfrm>
            <a:off x="13773150" y="5665113"/>
            <a:ext cx="335527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1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E-government trust literature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914400" y="7088148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27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1276350" y="7067193"/>
            <a:ext cx="1194435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ECM core</a:t>
            </a:r>
            <a:endParaRPr lang="en-US" sz="1875" dirty="0"/>
          </a:p>
        </p:txBody>
      </p:sp>
      <p:sp>
        <p:nvSpPr>
          <p:cNvPr id="31" name="Shape 27"/>
          <p:cNvSpPr/>
          <p:nvPr/>
        </p:nvSpPr>
        <p:spPr>
          <a:xfrm>
            <a:off x="2680335" y="7088148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F06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3042285" y="7067193"/>
            <a:ext cx="2246829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UTAUT2 extension</a:t>
            </a:r>
            <a:endParaRPr lang="en-US" sz="1875" dirty="0"/>
          </a:p>
        </p:txBody>
      </p:sp>
      <p:sp>
        <p:nvSpPr>
          <p:cNvPr id="33" name="Shape 29"/>
          <p:cNvSpPr/>
          <p:nvPr/>
        </p:nvSpPr>
        <p:spPr>
          <a:xfrm>
            <a:off x="5498664" y="7088148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8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5860614" y="7067193"/>
            <a:ext cx="19222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&amp; security</a:t>
            </a:r>
            <a:endParaRPr lang="en-US" sz="1875" dirty="0"/>
          </a:p>
        </p:txBody>
      </p:sp>
      <p:sp>
        <p:nvSpPr>
          <p:cNvPr id="35" name="Text 31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05C · FINAL CONCEPTUAL FRAMEWORK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5062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conceptual framework and hypotheses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1272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46102"/>
            <a:ext cx="11239500" cy="5943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611100" y="241994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127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2973050" y="2398990"/>
            <a:ext cx="2270999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ECM core — H1–H5</a:t>
            </a:r>
            <a:endParaRPr lang="en-US" sz="1875" dirty="0"/>
          </a:p>
        </p:txBody>
      </p:sp>
      <p:sp>
        <p:nvSpPr>
          <p:cNvPr id="11" name="Shape 6"/>
          <p:cNvSpPr/>
          <p:nvPr/>
        </p:nvSpPr>
        <p:spPr>
          <a:xfrm>
            <a:off x="12611100" y="284285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F06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12973050" y="2821900"/>
            <a:ext cx="216360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UTAUT2 — H7–H9</a:t>
            </a:r>
            <a:endParaRPr lang="en-US" sz="1875" dirty="0"/>
          </a:p>
        </p:txBody>
      </p:sp>
      <p:sp>
        <p:nvSpPr>
          <p:cNvPr id="13" name="Shape 8"/>
          <p:cNvSpPr/>
          <p:nvPr/>
        </p:nvSpPr>
        <p:spPr>
          <a:xfrm>
            <a:off x="12611100" y="326576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8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2973050" y="3244810"/>
            <a:ext cx="2605683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&amp; security — H6</a:t>
            </a:r>
            <a:endParaRPr lang="en-US" sz="1875" dirty="0"/>
          </a:p>
        </p:txBody>
      </p:sp>
      <p:sp>
        <p:nvSpPr>
          <p:cNvPr id="15" name="Shape 10"/>
          <p:cNvSpPr/>
          <p:nvPr/>
        </p:nvSpPr>
        <p:spPr>
          <a:xfrm>
            <a:off x="12611100" y="368867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0B3D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2973050" y="3667720"/>
            <a:ext cx="2654667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Continuance intention</a:t>
            </a:r>
            <a:endParaRPr lang="en-US" sz="1875" dirty="0"/>
          </a:p>
        </p:txBody>
      </p:sp>
      <p:sp>
        <p:nvSpPr>
          <p:cNvPr id="17" name="Shape 12"/>
          <p:cNvSpPr/>
          <p:nvPr/>
        </p:nvSpPr>
        <p:spPr>
          <a:xfrm>
            <a:off x="12611100" y="4204930"/>
            <a:ext cx="4762500" cy="2050733"/>
          </a:xfrm>
          <a:prstGeom prst="roundRect">
            <a:avLst>
              <a:gd name="adj" fmla="val 1021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12954000" y="4528780"/>
            <a:ext cx="419900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2954000" y="4917400"/>
            <a:ext cx="4199001" cy="1052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type · Main tax task · Last use · Seasonal use pattern · Region / access</a:t>
            </a:r>
            <a:endParaRPr lang="en-US" sz="1875" dirty="0"/>
          </a:p>
        </p:txBody>
      </p:sp>
      <p:sp>
        <p:nvSpPr>
          <p:cNvPr id="20" name="Text 15"/>
          <p:cNvSpPr/>
          <p:nvPr/>
        </p:nvSpPr>
        <p:spPr>
          <a:xfrm>
            <a:off x="12611100" y="6503313"/>
            <a:ext cx="490537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H1–H5 </a:t>
            </a: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ECM paths; </a:t>
            </a:r>
            <a:r>
              <a:rPr lang="en-US" sz="1875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H6–H9 </a:t>
            </a: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the extension paths to continuance intention. Controls support interpretation — especially tax-season usage.</a:t>
            </a:r>
            <a:endParaRPr lang="en-US" sz="1875" dirty="0"/>
          </a:p>
        </p:txBody>
      </p:sp>
      <p:sp>
        <p:nvSpPr>
          <p:cNvPr id="21" name="Text 16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05D · ARTEFACT PACKAGE &amp; ALIGNMENT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5062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Artefact package and objective alignment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1272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241352"/>
            <a:ext cx="169529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ARTEFACT CONTAINS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914400" y="2725222"/>
            <a:ext cx="3139440" cy="1830229"/>
          </a:xfrm>
          <a:prstGeom prst="roundRect">
            <a:avLst>
              <a:gd name="adj" fmla="val 11449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162050" y="2991922"/>
            <a:ext cx="27234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875" b="1" kern="0" spc="-9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Conceptual framework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1162050" y="3639622"/>
            <a:ext cx="2723464" cy="687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Testable model and hypotheses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244340" y="2725222"/>
            <a:ext cx="3139440" cy="1830229"/>
          </a:xfrm>
          <a:prstGeom prst="roundRect">
            <a:avLst>
              <a:gd name="adj" fmla="val 11449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491990" y="2991922"/>
            <a:ext cx="27234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875" b="1" kern="0" spc="-9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Questionnaire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4491990" y="3639622"/>
            <a:ext cx="2723464" cy="687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20–30 core questions, one instrument only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574280" y="2725222"/>
            <a:ext cx="3139440" cy="1830229"/>
          </a:xfrm>
          <a:prstGeom prst="roundRect">
            <a:avLst>
              <a:gd name="adj" fmla="val 11449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821930" y="2991922"/>
            <a:ext cx="27234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875" b="1" kern="0" spc="-9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logic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7821930" y="3639622"/>
            <a:ext cx="2723464" cy="687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Padna use required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0904220" y="2725222"/>
            <a:ext cx="3139440" cy="1830229"/>
          </a:xfrm>
          <a:prstGeom prst="roundRect">
            <a:avLst>
              <a:gd name="adj" fmla="val 11449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1151870" y="2991922"/>
            <a:ext cx="27234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875" b="1" kern="0" spc="-9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Seasonality control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11151870" y="3639622"/>
            <a:ext cx="2723464" cy="687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again when tax need arises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4234160" y="2725222"/>
            <a:ext cx="3139440" cy="1830229"/>
          </a:xfrm>
          <a:prstGeom prst="roundRect">
            <a:avLst>
              <a:gd name="adj" fmla="val 11449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4481810" y="2991922"/>
            <a:ext cx="27234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875" b="1" kern="0" spc="-9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plan</a:t>
            </a:r>
            <a:endParaRPr lang="en-US" sz="1875" dirty="0"/>
          </a:p>
        </p:txBody>
      </p:sp>
      <p:sp>
        <p:nvSpPr>
          <p:cNvPr id="23" name="Text 19"/>
          <p:cNvSpPr/>
          <p:nvPr/>
        </p:nvSpPr>
        <p:spPr>
          <a:xfrm>
            <a:off x="14481810" y="3639622"/>
            <a:ext cx="2723464" cy="687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Reliability, validity and SEM-ready data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14400" y="4917400"/>
            <a:ext cx="5334000" cy="2031683"/>
          </a:xfrm>
          <a:prstGeom prst="roundRect">
            <a:avLst>
              <a:gd name="adj" fmla="val 10314"/>
            </a:avLst>
          </a:prstGeom>
          <a:solidFill>
            <a:srgbClr val="F2FB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1257300" y="5241250"/>
            <a:ext cx="47876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 1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1257300" y="5610820"/>
            <a:ext cx="478764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development → slides 6–8.</a:t>
            </a:r>
            <a:endParaRPr lang="en-US" sz="1875" dirty="0"/>
          </a:p>
        </p:txBody>
      </p:sp>
      <p:sp>
        <p:nvSpPr>
          <p:cNvPr id="27" name="Shape 23"/>
          <p:cNvSpPr/>
          <p:nvPr/>
        </p:nvSpPr>
        <p:spPr>
          <a:xfrm>
            <a:off x="6477000" y="4917400"/>
            <a:ext cx="5334000" cy="2031683"/>
          </a:xfrm>
          <a:prstGeom prst="roundRect">
            <a:avLst>
              <a:gd name="adj" fmla="val 10314"/>
            </a:avLst>
          </a:prstGeom>
          <a:solidFill>
            <a:srgbClr val="F2FB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819900" y="5241250"/>
            <a:ext cx="47876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2–5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6819900" y="5610820"/>
            <a:ext cx="4787646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determinant becomes a construct scale → questionnaire sections.</a:t>
            </a:r>
            <a:endParaRPr lang="en-US" sz="1875" dirty="0"/>
          </a:p>
        </p:txBody>
      </p:sp>
      <p:sp>
        <p:nvSpPr>
          <p:cNvPr id="30" name="Shape 26"/>
          <p:cNvSpPr/>
          <p:nvPr/>
        </p:nvSpPr>
        <p:spPr>
          <a:xfrm>
            <a:off x="12039600" y="4917400"/>
            <a:ext cx="5334000" cy="2031683"/>
          </a:xfrm>
          <a:prstGeom prst="roundRect">
            <a:avLst>
              <a:gd name="adj" fmla="val 10314"/>
            </a:avLst>
          </a:prstGeom>
          <a:solidFill>
            <a:srgbClr val="F2FB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2382500" y="5241250"/>
            <a:ext cx="47876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 6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12382500" y="5610820"/>
            <a:ext cx="4787646" cy="1052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identify evidence-based recommendations for GRA service continuity.</a:t>
            </a:r>
            <a:endParaRPr lang="en-US" sz="1875" dirty="0"/>
          </a:p>
        </p:txBody>
      </p:sp>
      <p:sp>
        <p:nvSpPr>
          <p:cNvPr id="33" name="Text 29"/>
          <p:cNvSpPr/>
          <p:nvPr/>
        </p:nvSpPr>
        <p:spPr>
          <a:xfrm>
            <a:off x="914400" y="8873490"/>
            <a:ext cx="16952976" cy="80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250" b="1" kern="0" spc="-13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artefact turns the theory into a deployable instrument that measures the exact evidence needed for Padna continuance.</a:t>
            </a:r>
            <a:endParaRPr lang="en-US" sz="2250" dirty="0"/>
          </a:p>
        </p:txBody>
      </p:sp>
      <p:sp>
        <p:nvSpPr>
          <p:cNvPr id="34" name="Text 30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06A · EVALUATION INSTRUMENT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5062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Construct-to-question mapping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1272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146102"/>
            <a:ext cx="16952976" cy="416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questionnaire · 5-point Likert scale · </a:t>
            </a:r>
            <a:r>
              <a:rPr lang="en-US" sz="21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~28 core items </a:t>
            </a:r>
            <a:r>
              <a:rPr lang="en-US" sz="21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(24 construct items + 4 screening / context items).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914400" y="2791420"/>
            <a:ext cx="16459200" cy="5901690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047750" y="3343870"/>
            <a:ext cx="3886200" cy="15240"/>
          </a:xfrm>
          <a:prstGeom prst="rect">
            <a:avLst/>
          </a:prstGeom>
          <a:solidFill>
            <a:srgbClr val="B7E7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295400" y="2924770"/>
            <a:ext cx="35074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933950" y="3343870"/>
            <a:ext cx="8096250" cy="15240"/>
          </a:xfrm>
          <a:prstGeom prst="rect">
            <a:avLst/>
          </a:prstGeom>
          <a:solidFill>
            <a:srgbClr val="B7E7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181600" y="2924770"/>
            <a:ext cx="78438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ITEM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3030200" y="3343870"/>
            <a:ext cx="4210050" cy="15240"/>
          </a:xfrm>
          <a:prstGeom prst="rect">
            <a:avLst/>
          </a:prstGeom>
          <a:solidFill>
            <a:srgbClr val="B7E7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3277850" y="2924770"/>
            <a:ext cx="38410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047750" y="4043958"/>
            <a:ext cx="388620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295400" y="3540085"/>
            <a:ext cx="3507486" cy="360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Confirmation</a:t>
            </a:r>
            <a:endParaRPr lang="en-US" sz="1875" dirty="0"/>
          </a:p>
        </p:txBody>
      </p:sp>
      <p:sp>
        <p:nvSpPr>
          <p:cNvPr id="18" name="Shape 14"/>
          <p:cNvSpPr/>
          <p:nvPr/>
        </p:nvSpPr>
        <p:spPr>
          <a:xfrm>
            <a:off x="4933950" y="4043958"/>
            <a:ext cx="809625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181600" y="3540085"/>
            <a:ext cx="7843838" cy="360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experience with Padna matched what I expected.</a:t>
            </a:r>
            <a:endParaRPr lang="en-US" sz="1875" dirty="0"/>
          </a:p>
        </p:txBody>
      </p:sp>
      <p:sp>
        <p:nvSpPr>
          <p:cNvPr id="20" name="Shape 16"/>
          <p:cNvSpPr/>
          <p:nvPr/>
        </p:nvSpPr>
        <p:spPr>
          <a:xfrm>
            <a:off x="13030200" y="4043958"/>
            <a:ext cx="421005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3277850" y="3540085"/>
            <a:ext cx="3841051" cy="360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Bhattacherjee (2001)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047750" y="4051578"/>
            <a:ext cx="16192500" cy="963930"/>
          </a:xfrm>
          <a:prstGeom prst="rect">
            <a:avLst/>
          </a:prstGeom>
          <a:solidFill>
            <a:srgbClr val="F2FB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1047750" y="5007888"/>
            <a:ext cx="388620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1295400" y="4232553"/>
            <a:ext cx="350748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Perceived usefulness</a:t>
            </a:r>
            <a:endParaRPr lang="en-US" sz="1875" dirty="0"/>
          </a:p>
        </p:txBody>
      </p:sp>
      <p:sp>
        <p:nvSpPr>
          <p:cNvPr id="25" name="Shape 21"/>
          <p:cNvSpPr/>
          <p:nvPr/>
        </p:nvSpPr>
        <p:spPr>
          <a:xfrm>
            <a:off x="4933950" y="5007888"/>
            <a:ext cx="809625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181600" y="4232553"/>
            <a:ext cx="784383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helps me complete tax-related tasks more efficiently.</a:t>
            </a:r>
            <a:endParaRPr lang="en-US" sz="1875" dirty="0"/>
          </a:p>
        </p:txBody>
      </p:sp>
      <p:sp>
        <p:nvSpPr>
          <p:cNvPr id="27" name="Shape 23"/>
          <p:cNvSpPr/>
          <p:nvPr/>
        </p:nvSpPr>
        <p:spPr>
          <a:xfrm>
            <a:off x="13030200" y="5007888"/>
            <a:ext cx="421005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13277850" y="4232553"/>
            <a:ext cx="3841051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Davis (1989); Bhattacherjee (2001)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047750" y="5696545"/>
            <a:ext cx="388620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1295400" y="5196483"/>
            <a:ext cx="350748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</a:t>
            </a:r>
            <a:endParaRPr lang="en-US" sz="1875" dirty="0"/>
          </a:p>
        </p:txBody>
      </p:sp>
      <p:sp>
        <p:nvSpPr>
          <p:cNvPr id="31" name="Shape 27"/>
          <p:cNvSpPr/>
          <p:nvPr/>
        </p:nvSpPr>
        <p:spPr>
          <a:xfrm>
            <a:off x="4933950" y="5696545"/>
            <a:ext cx="809625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181600" y="5196483"/>
            <a:ext cx="78438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Overall, I am satisfied with my experience using Padna.</a:t>
            </a:r>
            <a:endParaRPr lang="en-US" sz="1875" dirty="0"/>
          </a:p>
        </p:txBody>
      </p:sp>
      <p:sp>
        <p:nvSpPr>
          <p:cNvPr id="33" name="Shape 29"/>
          <p:cNvSpPr/>
          <p:nvPr/>
        </p:nvSpPr>
        <p:spPr>
          <a:xfrm>
            <a:off x="13030200" y="5696545"/>
            <a:ext cx="421005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13277850" y="5196483"/>
            <a:ext cx="384105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Bhattacherjee (2001)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1047750" y="5704165"/>
            <a:ext cx="16192500" cy="963930"/>
          </a:xfrm>
          <a:prstGeom prst="rect">
            <a:avLst/>
          </a:prstGeom>
          <a:solidFill>
            <a:srgbClr val="F2FB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1047750" y="6660475"/>
            <a:ext cx="388620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295400" y="5885140"/>
            <a:ext cx="350748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&amp; security perception</a:t>
            </a:r>
            <a:endParaRPr lang="en-US" sz="1875" dirty="0"/>
          </a:p>
        </p:txBody>
      </p:sp>
      <p:sp>
        <p:nvSpPr>
          <p:cNvPr id="38" name="Shape 34"/>
          <p:cNvSpPr/>
          <p:nvPr/>
        </p:nvSpPr>
        <p:spPr>
          <a:xfrm>
            <a:off x="4933950" y="6660475"/>
            <a:ext cx="809625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5181600" y="5885140"/>
            <a:ext cx="784383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believe Padna protects my tax-related information.</a:t>
            </a:r>
            <a:endParaRPr lang="en-US" sz="1875" dirty="0"/>
          </a:p>
        </p:txBody>
      </p:sp>
      <p:sp>
        <p:nvSpPr>
          <p:cNvPr id="40" name="Shape 36"/>
          <p:cNvSpPr/>
          <p:nvPr/>
        </p:nvSpPr>
        <p:spPr>
          <a:xfrm>
            <a:off x="13030200" y="6660475"/>
            <a:ext cx="421005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13277850" y="5885140"/>
            <a:ext cx="3841051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Carter &amp; Bélanger (2005); Bélanger &amp; Carter (2008)</a:t>
            </a:r>
            <a:endParaRPr lang="en-US" sz="1800" dirty="0"/>
          </a:p>
        </p:txBody>
      </p:sp>
      <p:sp>
        <p:nvSpPr>
          <p:cNvPr id="42" name="Shape 38"/>
          <p:cNvSpPr/>
          <p:nvPr/>
        </p:nvSpPr>
        <p:spPr>
          <a:xfrm>
            <a:off x="1047750" y="7668220"/>
            <a:ext cx="388620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1295400" y="6849070"/>
            <a:ext cx="350748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Facilitating conditions</a:t>
            </a:r>
            <a:endParaRPr lang="en-US" sz="1875" dirty="0"/>
          </a:p>
        </p:txBody>
      </p:sp>
      <p:sp>
        <p:nvSpPr>
          <p:cNvPr id="44" name="Shape 40"/>
          <p:cNvSpPr/>
          <p:nvPr/>
        </p:nvSpPr>
        <p:spPr>
          <a:xfrm>
            <a:off x="4933950" y="7668220"/>
            <a:ext cx="809625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5181600" y="6849070"/>
            <a:ext cx="784383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have the device, internet access and support needed to use Padna.</a:t>
            </a:r>
            <a:endParaRPr lang="en-US" sz="1875" dirty="0"/>
          </a:p>
        </p:txBody>
      </p:sp>
      <p:sp>
        <p:nvSpPr>
          <p:cNvPr id="46" name="Shape 42"/>
          <p:cNvSpPr/>
          <p:nvPr/>
        </p:nvSpPr>
        <p:spPr>
          <a:xfrm>
            <a:off x="13030200" y="7668220"/>
            <a:ext cx="4210050" cy="9525"/>
          </a:xfrm>
          <a:prstGeom prst="rect">
            <a:avLst/>
          </a:prstGeom>
          <a:solidFill>
            <a:srgbClr val="D9D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13277850" y="6849070"/>
            <a:ext cx="3841051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Venkatesh et al. (2012)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1047750" y="7675840"/>
            <a:ext cx="16192500" cy="960120"/>
          </a:xfrm>
          <a:prstGeom prst="rect">
            <a:avLst/>
          </a:prstGeom>
          <a:solidFill>
            <a:srgbClr val="F2FB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1295400" y="7856815"/>
            <a:ext cx="3507486" cy="636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Continuance intention</a:t>
            </a:r>
            <a:endParaRPr lang="en-US" sz="1875" dirty="0"/>
          </a:p>
        </p:txBody>
      </p:sp>
      <p:sp>
        <p:nvSpPr>
          <p:cNvPr id="50" name="Text 46"/>
          <p:cNvSpPr/>
          <p:nvPr/>
        </p:nvSpPr>
        <p:spPr>
          <a:xfrm>
            <a:off x="5181600" y="7856815"/>
            <a:ext cx="7843838" cy="636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intend to use Padna again when I have a relevant tax task.</a:t>
            </a:r>
            <a:endParaRPr lang="en-US" sz="1875" dirty="0"/>
          </a:p>
        </p:txBody>
      </p:sp>
      <p:sp>
        <p:nvSpPr>
          <p:cNvPr id="51" name="Text 47"/>
          <p:cNvSpPr/>
          <p:nvPr/>
        </p:nvSpPr>
        <p:spPr>
          <a:xfrm>
            <a:off x="13277850" y="7856815"/>
            <a:ext cx="3841051" cy="636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Bhattacherjee (2001); Roca et al. (2006), adapted</a:t>
            </a:r>
            <a:endParaRPr lang="en-US" sz="1800" dirty="0"/>
          </a:p>
        </p:txBody>
      </p:sp>
      <p:sp>
        <p:nvSpPr>
          <p:cNvPr id="52" name="Text 48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53" name="Text 49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06B · EVALUATION, ETHICS &amp; ANALYSIS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5062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 evaluation, ethics and analysis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1272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0" y="2336602"/>
            <a:ext cx="5308521" cy="3066097"/>
          </a:xfrm>
          <a:prstGeom prst="roundRect">
            <a:avLst>
              <a:gd name="adj" fmla="val 6834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914400" y="2336602"/>
            <a:ext cx="5308521" cy="53340"/>
          </a:xfrm>
          <a:prstGeom prst="rect">
            <a:avLst/>
          </a:prstGeom>
          <a:solidFill>
            <a:srgbClr val="127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257300" y="2713792"/>
            <a:ext cx="476140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&amp; RELIABILITY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38262" y="3159562"/>
            <a:ext cx="4617958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6688" indent="-166688" algn="l">
              <a:lnSpc>
                <a:spcPct val="142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with 20–30 prior users</a:t>
            </a:r>
            <a:endParaRPr lang="en-US" sz="1875" dirty="0"/>
          </a:p>
          <a:p>
            <a:pPr marL="166688" indent="-166688" algn="l">
              <a:lnSpc>
                <a:spcPct val="142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 unclear wording only</a:t>
            </a:r>
            <a:endParaRPr lang="en-US" sz="1875" dirty="0"/>
          </a:p>
          <a:p>
            <a:pPr marL="166688" indent="-166688" algn="l">
              <a:lnSpc>
                <a:spcPct val="142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Cronbach's alpha ≥ .70</a:t>
            </a:r>
            <a:endParaRPr lang="en-US" sz="1875" dirty="0"/>
          </a:p>
        </p:txBody>
      </p:sp>
      <p:sp>
        <p:nvSpPr>
          <p:cNvPr id="12" name="Shape 8"/>
          <p:cNvSpPr/>
          <p:nvPr/>
        </p:nvSpPr>
        <p:spPr>
          <a:xfrm>
            <a:off x="6489621" y="2336602"/>
            <a:ext cx="5308640" cy="3066097"/>
          </a:xfrm>
          <a:prstGeom prst="roundRect">
            <a:avLst>
              <a:gd name="adj" fmla="val 6834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489621" y="2336602"/>
            <a:ext cx="5308640" cy="53340"/>
          </a:xfrm>
          <a:prstGeom prst="rect">
            <a:avLst/>
          </a:prstGeom>
          <a:solidFill>
            <a:srgbClr val="F06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832521" y="2713792"/>
            <a:ext cx="47615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06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VALIDITY &amp; ANALYSIS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913483" y="3159562"/>
            <a:ext cx="4618077" cy="16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6688" indent="-166688" algn="l">
              <a:lnSpc>
                <a:spcPct val="142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statistics and cross-tabs</a:t>
            </a:r>
            <a:endParaRPr lang="en-US" sz="1875" dirty="0"/>
          </a:p>
          <a:p>
            <a:pPr marL="166688" indent="-166688" algn="l">
              <a:lnSpc>
                <a:spcPct val="142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 ≥ .70, AVE ≥ .50, HTMT check</a:t>
            </a:r>
            <a:endParaRPr lang="en-US" sz="1875" dirty="0"/>
          </a:p>
          <a:p>
            <a:pPr marL="166688" indent="-166688" algn="l">
              <a:lnSpc>
                <a:spcPct val="142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PLS-SEM / path testing if sample permits</a:t>
            </a:r>
            <a:endParaRPr lang="en-US" sz="1875" dirty="0"/>
          </a:p>
        </p:txBody>
      </p:sp>
      <p:sp>
        <p:nvSpPr>
          <p:cNvPr id="16" name="Shape 12"/>
          <p:cNvSpPr/>
          <p:nvPr/>
        </p:nvSpPr>
        <p:spPr>
          <a:xfrm>
            <a:off x="12064960" y="2336602"/>
            <a:ext cx="5308640" cy="3066097"/>
          </a:xfrm>
          <a:prstGeom prst="roundRect">
            <a:avLst>
              <a:gd name="adj" fmla="val 6834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2064960" y="2336602"/>
            <a:ext cx="5308640" cy="53340"/>
          </a:xfrm>
          <a:prstGeom prst="rect">
            <a:avLst/>
          </a:prstGeom>
          <a:solidFill>
            <a:srgbClr val="D8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2407860" y="2713792"/>
            <a:ext cx="47615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D83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2488823" y="3159562"/>
            <a:ext cx="4618077" cy="1957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6688" indent="-166688" algn="l">
              <a:lnSpc>
                <a:spcPct val="142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Informed consent</a:t>
            </a:r>
            <a:endParaRPr lang="en-US" sz="1875" dirty="0"/>
          </a:p>
          <a:p>
            <a:pPr marL="166688" indent="-166688" algn="l">
              <a:lnSpc>
                <a:spcPct val="142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Anonymous and confidential responses</a:t>
            </a:r>
            <a:endParaRPr lang="en-US" sz="1875" dirty="0"/>
          </a:p>
          <a:p>
            <a:pPr marL="166688" indent="-166688" algn="l">
              <a:lnSpc>
                <a:spcPct val="142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unnecessary sensitive data such as race or exact TIN</a:t>
            </a:r>
            <a:endParaRPr lang="en-US" sz="1875" dirty="0"/>
          </a:p>
        </p:txBody>
      </p:sp>
      <p:sp>
        <p:nvSpPr>
          <p:cNvPr id="20" name="Shape 16"/>
          <p:cNvSpPr/>
          <p:nvPr/>
        </p:nvSpPr>
        <p:spPr>
          <a:xfrm>
            <a:off x="914400" y="5802749"/>
            <a:ext cx="16459200" cy="1755458"/>
          </a:xfrm>
          <a:prstGeom prst="roundRect">
            <a:avLst>
              <a:gd name="adj" fmla="val 11937"/>
            </a:avLst>
          </a:prstGeom>
          <a:solidFill>
            <a:srgbClr val="F2FB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295400" y="6107549"/>
            <a:ext cx="1616811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CLAIM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295400" y="6496169"/>
            <a:ext cx="16168116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instrument is </a:t>
            </a:r>
            <a:r>
              <a:rPr lang="en-US" sz="21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</a:t>
            </a:r>
            <a:r>
              <a:rPr lang="en-US" sz="21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items consistently measure their constructs, and </a:t>
            </a:r>
            <a:r>
              <a:rPr lang="en-US" sz="21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</a:t>
            </a:r>
            <a:r>
              <a:rPr lang="en-US" sz="21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measurement model supports the construct structure.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E9F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CONSTRAINTS &amp; RESPONSIBLE CLAIMS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5062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Constraints and responsible claims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1272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0" y="2317552"/>
            <a:ext cx="8105775" cy="1709499"/>
          </a:xfrm>
          <a:prstGeom prst="roundRect">
            <a:avLst>
              <a:gd name="adj" fmla="val 1225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257300" y="2641402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3F6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219200" y="2641402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1981200" y="2641402"/>
            <a:ext cx="6896957" cy="347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100" b="1" kern="0" spc="-1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use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981200" y="3026926"/>
            <a:ext cx="6896957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Tax-related use may be periodic, so findings speak to intention to reuse when needed.</a:t>
            </a:r>
            <a:endParaRPr lang="en-US" sz="1875" dirty="0"/>
          </a:p>
        </p:txBody>
      </p:sp>
      <p:sp>
        <p:nvSpPr>
          <p:cNvPr id="13" name="Shape 9"/>
          <p:cNvSpPr/>
          <p:nvPr/>
        </p:nvSpPr>
        <p:spPr>
          <a:xfrm>
            <a:off x="9267825" y="2317552"/>
            <a:ext cx="8105775" cy="1709499"/>
          </a:xfrm>
          <a:prstGeom prst="roundRect">
            <a:avLst>
              <a:gd name="adj" fmla="val 1225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610725" y="2641402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3F6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572625" y="2641402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10334625" y="2641402"/>
            <a:ext cx="6896957" cy="347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100" b="1" kern="0" spc="-1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Sampling and access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10334625" y="3026926"/>
            <a:ext cx="6896957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sampling may overrepresent connected and digitally literate users.</a:t>
            </a:r>
            <a:endParaRPr lang="en-US" sz="1875" dirty="0"/>
          </a:p>
        </p:txBody>
      </p:sp>
      <p:sp>
        <p:nvSpPr>
          <p:cNvPr id="18" name="Shape 14"/>
          <p:cNvSpPr/>
          <p:nvPr/>
        </p:nvSpPr>
        <p:spPr>
          <a:xfrm>
            <a:off x="914400" y="4274701"/>
            <a:ext cx="8105775" cy="1709499"/>
          </a:xfrm>
          <a:prstGeom prst="roundRect">
            <a:avLst>
              <a:gd name="adj" fmla="val 1225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257300" y="4598551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3F6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1219200" y="4598551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950" dirty="0"/>
          </a:p>
        </p:txBody>
      </p:sp>
      <p:sp>
        <p:nvSpPr>
          <p:cNvPr id="21" name="Text 17"/>
          <p:cNvSpPr/>
          <p:nvPr/>
        </p:nvSpPr>
        <p:spPr>
          <a:xfrm>
            <a:off x="1981200" y="4598551"/>
            <a:ext cx="6896957" cy="347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100" b="1" kern="0" spc="-1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 limits</a:t>
            </a:r>
            <a:endParaRPr lang="en-US" sz="2100" dirty="0"/>
          </a:p>
        </p:txBody>
      </p:sp>
      <p:sp>
        <p:nvSpPr>
          <p:cNvPr id="22" name="Text 18"/>
          <p:cNvSpPr/>
          <p:nvPr/>
        </p:nvSpPr>
        <p:spPr>
          <a:xfrm>
            <a:off x="1981200" y="4984075"/>
            <a:ext cx="6896957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Questionnaires provide broad, self-reported evidence but limited depth.</a:t>
            </a:r>
            <a:endParaRPr lang="en-US" sz="1875" dirty="0"/>
          </a:p>
        </p:txBody>
      </p:sp>
      <p:sp>
        <p:nvSpPr>
          <p:cNvPr id="23" name="Shape 19"/>
          <p:cNvSpPr/>
          <p:nvPr/>
        </p:nvSpPr>
        <p:spPr>
          <a:xfrm>
            <a:off x="9267825" y="4274701"/>
            <a:ext cx="8105775" cy="1709499"/>
          </a:xfrm>
          <a:prstGeom prst="roundRect">
            <a:avLst>
              <a:gd name="adj" fmla="val 1225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9610725" y="4598551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3F6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572625" y="4598551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7A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950" dirty="0"/>
          </a:p>
        </p:txBody>
      </p:sp>
      <p:sp>
        <p:nvSpPr>
          <p:cNvPr id="26" name="Text 22"/>
          <p:cNvSpPr/>
          <p:nvPr/>
        </p:nvSpPr>
        <p:spPr>
          <a:xfrm>
            <a:off x="10334625" y="4598551"/>
            <a:ext cx="6896957" cy="347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100" b="1" kern="0" spc="-1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limits</a:t>
            </a:r>
            <a:endParaRPr lang="en-US" sz="2100" dirty="0"/>
          </a:p>
        </p:txBody>
      </p:sp>
      <p:sp>
        <p:nvSpPr>
          <p:cNvPr id="27" name="Text 23"/>
          <p:cNvSpPr/>
          <p:nvPr/>
        </p:nvSpPr>
        <p:spPr>
          <a:xfrm>
            <a:off x="10334625" y="4984075"/>
            <a:ext cx="6896957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ECM–UTAUT2–trust explains behavioural intention, not all operational or policy causes.</a:t>
            </a:r>
            <a:endParaRPr lang="en-US" sz="1875" dirty="0"/>
          </a:p>
        </p:txBody>
      </p:sp>
      <p:sp>
        <p:nvSpPr>
          <p:cNvPr id="28" name="Shape 24"/>
          <p:cNvSpPr/>
          <p:nvPr/>
        </p:nvSpPr>
        <p:spPr>
          <a:xfrm>
            <a:off x="914400" y="6403300"/>
            <a:ext cx="16459200" cy="1740217"/>
          </a:xfrm>
          <a:prstGeom prst="roundRect">
            <a:avLst>
              <a:gd name="adj" fmla="val 12042"/>
            </a:avLst>
          </a:prstGeom>
          <a:solidFill>
            <a:srgbClr val="0B3D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295400" y="6708100"/>
            <a:ext cx="1616811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DC9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RESPONSIBLE CLAIM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1295400" y="7058620"/>
            <a:ext cx="16168116" cy="818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study can identify statistically supported determinants of Padna continuance intention among surveyed prior users.</a:t>
            </a:r>
            <a:endParaRPr lang="en-US" sz="2400" dirty="0"/>
          </a:p>
        </p:txBody>
      </p:sp>
      <p:sp>
        <p:nvSpPr>
          <p:cNvPr id="31" name="Text 27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14097000" y="60960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58149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· NOT PART OF 7 MINS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150620"/>
            <a:ext cx="12950190" cy="49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4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914400" y="1812727"/>
            <a:ext cx="914400" cy="47625"/>
          </a:xfrm>
          <a:prstGeom prst="roundRect">
            <a:avLst>
              <a:gd name="adj" fmla="val 50000"/>
            </a:avLst>
          </a:prstGeom>
          <a:solidFill>
            <a:srgbClr val="14B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649700" y="742950"/>
            <a:ext cx="723900" cy="72390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0B3D1E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700" y="742950"/>
            <a:ext cx="723900" cy="723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3950" y="2241352"/>
            <a:ext cx="7992237" cy="66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Bélanger, F., &amp; Carter, L. (2008).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and risk in e-government adoption. </a:t>
            </a:r>
            <a:r>
              <a:rPr lang="en-US" sz="1800" i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 of Strategic Information Systems, 17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(2), 165–176.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123950" y="3024545"/>
            <a:ext cx="7992237" cy="98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Bhattacherjee, A. (2001).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information systems continuance: An expectation-confirmation model. </a:t>
            </a:r>
            <a:r>
              <a:rPr lang="en-US" sz="1800" i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Quarterly, 25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(3), 351–370.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123950" y="4123134"/>
            <a:ext cx="7992237" cy="66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Carter, L., &amp; Bélanger, F. (2005).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utilization of e-government services. </a:t>
            </a:r>
            <a:r>
              <a:rPr lang="en-US" sz="1800" i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Systems Journal, 15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(1), 5–25.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23950" y="4906328"/>
            <a:ext cx="7992237" cy="66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Davis, F. D. (1989).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Perceived usefulness, perceived ease of use, and user acceptance of IT. </a:t>
            </a:r>
            <a:r>
              <a:rPr lang="en-US" sz="1800" i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Quarterly, 13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(3), 319–340.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23950" y="5689521"/>
            <a:ext cx="7992237" cy="98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Dwivedi, Y. K., et al. (2017).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 government research: review and future research agenda. </a:t>
            </a:r>
            <a:r>
              <a:rPr lang="en-US" sz="1800" i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Information Quarterly, 34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(3), 346–361.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23950" y="6788111"/>
            <a:ext cx="7992237" cy="66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Gefen, D., Karahanna, E., &amp; Straub, D. W. (2003).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and TAM in online shopping. </a:t>
            </a:r>
            <a:r>
              <a:rPr lang="en-US" sz="1800" i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Quarterly, 27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(1), 51–90.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23950" y="7571304"/>
            <a:ext cx="7992237" cy="66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GRIF. (2022).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ICT Access and E-Services for Hinterland, Poor and Remote Communities: Final Project Report.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620250" y="2241352"/>
            <a:ext cx="7992237" cy="98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Hair, J. F., Hult, G. T. M., Ringle, C. M., &amp; Sarstedt, M. (2022).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Primer on Partial Least Squares Structural Equation Modeling (PLS-SEM) (3rd ed.). Sage.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620250" y="3339941"/>
            <a:ext cx="7992237" cy="66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Limayem, M., Hirt, S. G., &amp; Cheung, C. M. K. (2007).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habit limits the predictive power of intention. </a:t>
            </a:r>
            <a:r>
              <a:rPr lang="en-US" sz="1800" i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Quarterly, 31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(4), 705–737.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9620250" y="4123134"/>
            <a:ext cx="7992237" cy="98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Rana, N. P., Dwivedi, Y. K., &amp; Williams, M. D. (2015).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 adoption of e-government: meta-analysis. </a:t>
            </a:r>
            <a:r>
              <a:rPr lang="en-US" sz="1800" i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Systems Frontiers, 17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(3), 547–563.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9620250" y="5221724"/>
            <a:ext cx="7992237" cy="66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Roca, J. C., Chiu, C. M., &amp; Martínez, F. J. (2006).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e-learning continuance intention. </a:t>
            </a:r>
            <a:r>
              <a:rPr lang="en-US" sz="1800" i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IJHCS, 64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(8), 683–696.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9620250" y="6004917"/>
            <a:ext cx="7992237" cy="353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UNDP. (2023).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Readiness Assessment: Guyana.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9620250" y="6472714"/>
            <a:ext cx="7992237" cy="66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United Nations DESA. (2024).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E-Government Survey 2024: Accelerating Digital Transformation for Sustainable Development.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620250" y="7255907"/>
            <a:ext cx="7992237" cy="98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Venkatesh, V., Morris, M. G., Davis, G. B., &amp; Davis, F. D. (2003).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acceptance of IT: Toward a unified view. </a:t>
            </a:r>
            <a:r>
              <a:rPr lang="en-US" sz="1800" i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Quarterly, 27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(3), 425–478.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9620250" y="8354496"/>
            <a:ext cx="7992237" cy="66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Venkatesh, V., Thong, J. Y. L., &amp; Xu, X. (2012). 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acceptance and use of IT: Extending UTAUT. </a:t>
            </a:r>
            <a:r>
              <a:rPr lang="en-US" sz="1800" i="1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 Quarterly, 36</a:t>
            </a:r>
            <a:r>
              <a:rPr lang="en-US" sz="1800" dirty="0">
                <a:solidFill>
                  <a:srgbClr val="2B31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(1), 157–178.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914400" y="9650730"/>
            <a:ext cx="24793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PADNA · ARTEFACT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7077730" y="9650730"/>
            <a:ext cx="3720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2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1797</Words>
  <Application>Microsoft Office PowerPoint</Application>
  <PresentationFormat>Custom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Gai Clark</cp:lastModifiedBy>
  <cp:revision>2</cp:revision>
  <dcterms:created xsi:type="dcterms:W3CDTF">2026-06-04T17:45:06Z</dcterms:created>
  <dcterms:modified xsi:type="dcterms:W3CDTF">2026-06-05T19:47:07Z</dcterms:modified>
</cp:coreProperties>
</file>