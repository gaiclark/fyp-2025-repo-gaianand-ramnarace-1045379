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3969" autoAdjust="0"/>
  </p:normalViewPr>
  <p:slideViewPr>
    <p:cSldViewPr snapToGrid="0" snapToObjects="1">
      <p:cViewPr varScale="1">
        <p:scale>
          <a:sx n="43" d="100"/>
          <a:sy n="43" d="100"/>
        </p:scale>
        <p:origin x="936" y="30"/>
      </p:cViewPr>
      <p:guideLst/>
    </p:cSldViewPr>
  </p:slideViewPr>
  <p:notesTextViewPr>
    <p:cViewPr>
      <p:scale>
        <a:sx n="1" d="1"/>
        <a:sy n="1" d="1"/>
      </p:scale>
      <p:origin x="0" y="-125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785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Good afternoon. My name is </a:t>
            </a:r>
            <a:r>
              <a:rPr lang="en-US" sz="1200" kern="1200" dirty="0" err="1">
                <a:solidFill>
                  <a:schemeClr val="tx1"/>
                </a:solidFill>
                <a:effectLst/>
                <a:latin typeface="+mn-lt"/>
                <a:ea typeface="+mn-ea"/>
                <a:cs typeface="+mn-cs"/>
              </a:rPr>
              <a:t>Gaianand</a:t>
            </a:r>
            <a:r>
              <a:rPr lang="en-US" sz="1200" kern="1200" dirty="0">
                <a:solidFill>
                  <a:schemeClr val="tx1"/>
                </a:solidFill>
                <a:effectLst/>
                <a:latin typeface="+mn-lt"/>
                <a:ea typeface="+mn-ea"/>
                <a:cs typeface="+mn-cs"/>
              </a:rPr>
              <a:t> Ramnarace and this presentation reports the results of my final year research project. The study is titled Factors Influencing Continuance Intention Toward the GRA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App Among Guyanese Taxpayers. The focus is on prior users of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and their intention to continue using the app when they next have a tax-related task. The central research question is: what factors influence Guyanese taxpayers’ intention to continue using the GRA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App? This topic is relevant to Information Systems because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is a public sector digital service. Its value depends not only on availability, but on whether users return to the system after experience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research problem is that the usefulness of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as a digital tax service depends on sustained use by taxpayers. It is not enough for the system to exist. Users must see enough value in the system to return to it for future filing or tax-related activities. The purpose of this study is therefore to identify the factors that explain continuance intention among prior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users. The objectives are compressed into three areas for this presentation. First, the study tests the Expectation-Confirmation Model factors. Second, it tests selected UTAUT2 and trust-related extensions. Third, it uses the findings to make recommendations for improving long-term engagement with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slide shows the conceptual model used in the study. The core model is the Expectation-Confirmation Model, which explains post-adoption </a:t>
            </a:r>
            <a:r>
              <a:rPr lang="en-US" sz="1200" kern="1200" dirty="0" err="1">
                <a:solidFill>
                  <a:schemeClr val="tx1"/>
                </a:solidFill>
                <a:effectLst/>
                <a:latin typeface="+mn-lt"/>
                <a:ea typeface="+mn-ea"/>
                <a:cs typeface="+mn-cs"/>
              </a:rPr>
              <a:t>behaviour</a:t>
            </a:r>
            <a:r>
              <a:rPr lang="en-US" sz="1200" kern="1200" dirty="0">
                <a:solidFill>
                  <a:schemeClr val="tx1"/>
                </a:solidFill>
                <a:effectLst/>
                <a:latin typeface="+mn-lt"/>
                <a:ea typeface="+mn-ea"/>
                <a:cs typeface="+mn-cs"/>
              </a:rPr>
              <a:t> through confirmation, perceived usefulness, satisfaction and continuance intention. This was extended with selected UTAUT2 constructs: habit, social influence and facilitating conditions. Trust and security perception was also included because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handles tax-related information and users must feel that their data is protected. The model contains nine hypotheses. H1 to H5 represent the ECM relationships. H6 to H9 test the added trust, </a:t>
            </a:r>
            <a:r>
              <a:rPr lang="en-US" sz="1200" kern="1200" dirty="0" err="1">
                <a:solidFill>
                  <a:schemeClr val="tx1"/>
                </a:solidFill>
                <a:effectLst/>
                <a:latin typeface="+mn-lt"/>
                <a:ea typeface="+mn-ea"/>
                <a:cs typeface="+mn-cs"/>
              </a:rPr>
              <a:t>behavioural</a:t>
            </a:r>
            <a:r>
              <a:rPr lang="en-US" sz="1200" kern="1200" dirty="0">
                <a:solidFill>
                  <a:schemeClr val="tx1"/>
                </a:solidFill>
                <a:effectLst/>
                <a:latin typeface="+mn-lt"/>
                <a:ea typeface="+mn-ea"/>
                <a:cs typeface="+mn-cs"/>
              </a:rPr>
              <a:t>, social and support factors. This structure allows the study to evaluate both user experience and contextual conditions affecting continuance intention.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study used a quantitative, cross-sectional and explanatory survey design. Data were collected through a Google Forms questionnaire because the constructs were measured using Likert-scale items and the aim was to test relationships among variables. The analysis was completed in </a:t>
            </a:r>
            <a:r>
              <a:rPr lang="en-US" sz="1200" kern="1200" dirty="0" err="1">
                <a:solidFill>
                  <a:schemeClr val="tx1"/>
                </a:solidFill>
                <a:effectLst/>
                <a:latin typeface="+mn-lt"/>
                <a:ea typeface="+mn-ea"/>
                <a:cs typeface="+mn-cs"/>
              </a:rPr>
              <a:t>SmartPLS</a:t>
            </a:r>
            <a:r>
              <a:rPr lang="en-US" sz="1200" kern="1200" dirty="0">
                <a:solidFill>
                  <a:schemeClr val="tx1"/>
                </a:solidFill>
                <a:effectLst/>
                <a:latin typeface="+mn-lt"/>
                <a:ea typeface="+mn-ea"/>
                <a:cs typeface="+mn-cs"/>
              </a:rPr>
              <a:t> 4. The survey received 160 responses. After screening and cleaning, 123 responses were retained for analysis. One response was excluded due to lack of consent, 34 were excluded because the respondent did not confirm prior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use and two were excluded because the main Likert-scale items were incomplete. The final sample therefore consists of 123 prior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users, which matches the study’s focus on continuance intention.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profile results provide important context for interpreting continuance intention. The analysis shows that 79.67 per cent of respondents last used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during the 2026 filing period for the 2025 income year. A further 71.54 per cent reported using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mainly during tax season. Also, 85.37 per cent stated that their main purpose was filing or submitting a tax return. These results show that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is not normally used like a daily or monthly consumer application. It is mainly a seasonal and tax-task-based service. Therefore, continuance intention should be understood as the intention to return to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when a future tax-related need arises.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measurement model was assessed before interpreting the structural paths. The main adjustment was the removal of FC1 from Facilitating Conditions. FC1 had a very low outer loading of approximately 0.142 and it caused the construct reliability to fall below the acceptable level. Conceptually, the item appeared to measure basic device and internet access, while the remaining items measured help, resources and support. After FC1 was removed, all retained indicators loaded above the accepted threshold. Cronbach’s alpha, composite reliability and AVE values were also acceptable across all constructs. One limitation remains: HTMT indicated possible overlap between perceived usefulness and satisfaction. However, both constructs were retained because ECM treats them as theoretically different.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structural model showed strong explanatory power. The R-square value for perceived usefulness was 0.828, while satisfaction had an R-square value of 0.924. Most importantly, continuance intention had an R-square value of 0.877. This means the model explained 87.7 per cent of the variance in continuance intention, which is substantial. Five hypotheses were supported: H1, H2, H3, H4 and H7. Three were not supported: H5, H6 and H9. H8 was significant, but it was negative, so it was not supported in the expected direction. The strongest direct predictor of continuance intention was habit. Perceived usefulness was the second significant direct predictor.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kern="1200" dirty="0">
                <a:solidFill>
                  <a:schemeClr val="tx1"/>
                </a:solidFill>
                <a:effectLst/>
                <a:latin typeface="+mn-lt"/>
                <a:ea typeface="+mn-ea"/>
                <a:cs typeface="+mn-cs"/>
              </a:rPr>
              <a:t>The results answer the research question by showing that continuance intention is mainly explained by habit and perceived usefulness. Habit was the strongest predictor, which suggests that taxpayers are more likely to continue using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when it becomes their normal option for tax-related tasks. Perceived usefulness was also significant, meaning that users are more likely to return when they believe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helps them complete tax tasks efficiently. Confirmation strongly influenced perceived usefulness and satisfaction, showing the importance of meeting user expectations. The study also has limitations. It uses self-reported data, it is cross-sectional and it reflects surveyed prior users rather than all taxpayers. Overall, the conclusion is that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continuance depends mainly on usefulness and repeated task-based use.</a:t>
            </a:r>
          </a:p>
          <a:p>
            <a:pPr marL="0" indent="0">
              <a:buFontTx/>
              <a:buNone/>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One hundred and nineteen substantive comments were coded using thematic analysis, and responses could receive more than one theme. The strongest positive themes were convenience and time saving, at forty-two point nine percent, and usefulness for tax-related tasks, at thirty-nine point five percent. These comments support the PLS result that perceived usefulness matters for continuance. However, the comments also identified barriers that the quantitative model does not fully explain. Technical and login problems appeared in sixteen percent of substantive comments, accuracy and status concerns in fifteen point one percent, and support or guidance gaps in thirteen point four percent. Therefore, the conclusion is balanced. Users are more likely to continue using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when it is useful and becomes their normal option for tax tasks, but continuance can be weakened by reliability, support and transparency problems. The study is limited by self-reported data, a cross-sectional design, a sample of prior users only, the HTMT concern between perceived usefulness and satisfaction, and high VIF values. Overall, the study answers the research question by showing that habit and perceived usefulness are the main drivers of </a:t>
            </a:r>
            <a:r>
              <a:rPr lang="en-US" sz="1200" kern="1200" dirty="0" err="1">
                <a:solidFill>
                  <a:schemeClr val="tx1"/>
                </a:solidFill>
                <a:effectLst/>
                <a:latin typeface="+mn-lt"/>
                <a:ea typeface="+mn-ea"/>
                <a:cs typeface="+mn-cs"/>
              </a:rPr>
              <a:t>Padna</a:t>
            </a:r>
            <a:r>
              <a:rPr lang="en-US" sz="1200" kern="1200" dirty="0">
                <a:solidFill>
                  <a:schemeClr val="tx1"/>
                </a:solidFill>
                <a:effectLst/>
                <a:latin typeface="+mn-lt"/>
                <a:ea typeface="+mn-ea"/>
                <a:cs typeface="+mn-cs"/>
              </a:rPr>
              <a:t> continuance intention.</a:t>
            </a:r>
          </a:p>
          <a:p>
            <a:pPr marL="0" indent="0">
              <a:buFontTx/>
              <a:buNone/>
            </a:pP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png"/><Relationship Id="rId7"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svg"/><Relationship Id="rId3" Type="http://schemas.openxmlformats.org/officeDocument/2006/relationships/image" Target="../media/image1.png"/><Relationship Id="rId7" Type="http://schemas.openxmlformats.org/officeDocument/2006/relationships/image" Target="../media/image16.svg"/><Relationship Id="rId12" Type="http://schemas.openxmlformats.org/officeDocument/2006/relationships/image" Target="../media/image21.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svg"/><Relationship Id="rId11" Type="http://schemas.openxmlformats.org/officeDocument/2006/relationships/image" Target="../media/image20.svg"/><Relationship Id="rId5" Type="http://schemas.openxmlformats.org/officeDocument/2006/relationships/image" Target="../media/image14.svg"/><Relationship Id="rId15" Type="http://schemas.openxmlformats.org/officeDocument/2006/relationships/image" Target="../media/image24.sv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svg"/><Relationship Id="rId14" Type="http://schemas.openxmlformats.org/officeDocument/2006/relationships/image" Target="../media/image23.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5000"/>
          </a:blip>
          <a:stretch>
            <a:fillRect/>
          </a:stretch>
        </p:blipFill>
        <p:spPr>
          <a:xfrm>
            <a:off x="12382500" y="1143000"/>
            <a:ext cx="7239000" cy="7239000"/>
          </a:xfrm>
          <a:prstGeom prst="rect">
            <a:avLst/>
          </a:prstGeom>
        </p:spPr>
      </p:pic>
      <p:sp>
        <p:nvSpPr>
          <p:cNvPr id="3" name="Shape 0"/>
          <p:cNvSpPr/>
          <p:nvPr/>
        </p:nvSpPr>
        <p:spPr>
          <a:xfrm>
            <a:off x="209550" y="0"/>
            <a:ext cx="76200" cy="10287000"/>
          </a:xfrm>
          <a:prstGeom prst="rect">
            <a:avLst/>
          </a:prstGeom>
          <a:gradFill rotWithShape="1">
            <a:gsLst>
              <a:gs pos="0">
                <a:srgbClr val="14B24B">
                  <a:alpha val="100000"/>
                </a:srgbClr>
              </a:gs>
              <a:gs pos="100000">
                <a:srgbClr val="0B3D1E">
                  <a:alpha val="100000"/>
                </a:srgbClr>
              </a:gs>
            </a:gsLst>
            <a:lin ang="5400000" scaled="0"/>
          </a:gradFill>
          <a:ln/>
        </p:spPr>
        <p:txBody>
          <a:bodyPr/>
          <a:lstStyle/>
          <a:p>
            <a:endParaRPr lang="en-US"/>
          </a:p>
        </p:txBody>
      </p:sp>
      <p:pic>
        <p:nvPicPr>
          <p:cNvPr id="4" name="Image 1" descr="preencoded.png"/>
          <p:cNvPicPr>
            <a:picLocks noChangeAspect="1"/>
          </p:cNvPicPr>
          <p:nvPr/>
        </p:nvPicPr>
        <p:blipFill>
          <a:blip r:embed="rId3"/>
          <a:stretch>
            <a:fillRect/>
          </a:stretch>
        </p:blipFill>
        <p:spPr>
          <a:xfrm>
            <a:off x="1143000" y="838200"/>
            <a:ext cx="609600" cy="609600"/>
          </a:xfrm>
          <a:prstGeom prst="rect">
            <a:avLst/>
          </a:prstGeom>
        </p:spPr>
      </p:pic>
      <p:sp>
        <p:nvSpPr>
          <p:cNvPr id="5" name="Text 1"/>
          <p:cNvSpPr/>
          <p:nvPr/>
        </p:nvSpPr>
        <p:spPr>
          <a:xfrm>
            <a:off x="1905000" y="852488"/>
            <a:ext cx="1426774" cy="419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000" b="1" kern="0" spc="-60" dirty="0">
                <a:solidFill>
                  <a:srgbClr val="0F5A2C"/>
                </a:solidFill>
                <a:latin typeface="Arial" pitchFamily="34" charset="0"/>
                <a:ea typeface="Arial" pitchFamily="34" charset="-122"/>
                <a:cs typeface="Arial" pitchFamily="34" charset="-120"/>
              </a:rPr>
              <a:t>padna</a:t>
            </a:r>
            <a:endParaRPr lang="en-US" sz="3000" dirty="0"/>
          </a:p>
        </p:txBody>
      </p:sp>
      <p:sp>
        <p:nvSpPr>
          <p:cNvPr id="6" name="Text 2"/>
          <p:cNvSpPr/>
          <p:nvPr/>
        </p:nvSpPr>
        <p:spPr>
          <a:xfrm>
            <a:off x="1905000" y="1281113"/>
            <a:ext cx="1426774" cy="190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1200" b="1" kern="0" spc="24" dirty="0">
                <a:solidFill>
                  <a:srgbClr val="8A929C"/>
                </a:solidFill>
                <a:latin typeface="Arial" pitchFamily="34" charset="0"/>
                <a:ea typeface="Arial" pitchFamily="34" charset="-122"/>
                <a:cs typeface="Arial" pitchFamily="34" charset="-120"/>
              </a:rPr>
              <a:t>Your GRA connect</a:t>
            </a:r>
            <a:endParaRPr lang="en-US" sz="1200" dirty="0"/>
          </a:p>
        </p:txBody>
      </p:sp>
      <p:sp>
        <p:nvSpPr>
          <p:cNvPr id="7" name="Text 3"/>
          <p:cNvSpPr/>
          <p:nvPr/>
        </p:nvSpPr>
        <p:spPr>
          <a:xfrm>
            <a:off x="1143000" y="3403283"/>
            <a:ext cx="9824976" cy="188976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500" b="1" kern="0" spc="-67" dirty="0">
                <a:solidFill>
                  <a:srgbClr val="111418"/>
                </a:solidFill>
                <a:latin typeface="Arial" pitchFamily="34" charset="0"/>
                <a:ea typeface="Arial" pitchFamily="34" charset="-122"/>
                <a:cs typeface="Arial" pitchFamily="34" charset="-120"/>
              </a:rPr>
              <a:t>Factors Influencing Continuance Intention Toward the GRA Padna App Among Guyanese Taxpayers</a:t>
            </a:r>
            <a:endParaRPr lang="en-US" sz="4500" dirty="0"/>
          </a:p>
        </p:txBody>
      </p:sp>
      <p:sp>
        <p:nvSpPr>
          <p:cNvPr id="8" name="Shape 4"/>
          <p:cNvSpPr/>
          <p:nvPr/>
        </p:nvSpPr>
        <p:spPr>
          <a:xfrm>
            <a:off x="1143000" y="5578793"/>
            <a:ext cx="914400" cy="66675"/>
          </a:xfrm>
          <a:prstGeom prst="roundRect">
            <a:avLst>
              <a:gd name="adj" fmla="val 50000"/>
            </a:avLst>
          </a:prstGeom>
          <a:gradFill rotWithShape="1">
            <a:gsLst>
              <a:gs pos="0">
                <a:srgbClr val="14B24B">
                  <a:alpha val="100000"/>
                </a:srgbClr>
              </a:gs>
              <a:gs pos="100000">
                <a:srgbClr val="0F5A2C">
                  <a:alpha val="100000"/>
                </a:srgbClr>
              </a:gs>
            </a:gsLst>
            <a:lin ang="0" scaled="0"/>
          </a:gradFill>
          <a:ln/>
        </p:spPr>
        <p:txBody>
          <a:bodyPr/>
          <a:lstStyle/>
          <a:p>
            <a:endParaRPr lang="en-US"/>
          </a:p>
        </p:txBody>
      </p:sp>
      <p:sp>
        <p:nvSpPr>
          <p:cNvPr id="9" name="Shape 5"/>
          <p:cNvSpPr/>
          <p:nvPr/>
        </p:nvSpPr>
        <p:spPr>
          <a:xfrm>
            <a:off x="1143000" y="5971223"/>
            <a:ext cx="47625" cy="247650"/>
          </a:xfrm>
          <a:prstGeom prst="roundRect">
            <a:avLst>
              <a:gd name="adj" fmla="val 50000"/>
            </a:avLst>
          </a:prstGeom>
          <a:gradFill rotWithShape="1">
            <a:gsLst>
              <a:gs pos="0">
                <a:srgbClr val="14B24B">
                  <a:alpha val="100000"/>
                </a:srgbClr>
              </a:gs>
              <a:gs pos="100000">
                <a:srgbClr val="0F5A2C">
                  <a:alpha val="100000"/>
                </a:srgbClr>
              </a:gs>
            </a:gsLst>
            <a:lin ang="5400000" scaled="0"/>
          </a:gradFill>
          <a:ln/>
        </p:spPr>
        <p:txBody>
          <a:bodyPr/>
          <a:lstStyle/>
          <a:p>
            <a:endParaRPr lang="en-US"/>
          </a:p>
        </p:txBody>
      </p:sp>
      <p:sp>
        <p:nvSpPr>
          <p:cNvPr id="10" name="Text 6"/>
          <p:cNvSpPr/>
          <p:nvPr/>
        </p:nvSpPr>
        <p:spPr>
          <a:xfrm>
            <a:off x="1304925" y="5969318"/>
            <a:ext cx="2103882" cy="289560"/>
          </a:xfrm>
          <a:prstGeom prst="rect">
            <a:avLst/>
          </a:prstGeom>
          <a:noFill/>
          <a:ln/>
        </p:spPr>
        <p:txBody>
          <a:bodyPr wrap="square" lIns="25400" tIns="25400" rIns="25400" bIns="25400" rtlCol="0" anchor="t">
            <a:normAutofit lnSpcReduction="10000"/>
          </a:bodyPr>
          <a:lstStyle/>
          <a:p>
            <a:pPr marL="0" indent="0" algn="l">
              <a:buNone/>
            </a:pPr>
            <a:r>
              <a:rPr lang="en-US" sz="1725" b="1" kern="0" spc="17" dirty="0">
                <a:solidFill>
                  <a:srgbClr val="127A38"/>
                </a:solidFill>
                <a:latin typeface="Arial" pitchFamily="34" charset="0"/>
                <a:ea typeface="Arial" pitchFamily="34" charset="-122"/>
                <a:cs typeface="Arial" pitchFamily="34" charset="-120"/>
              </a:rPr>
              <a:t>Research Question</a:t>
            </a:r>
            <a:endParaRPr lang="en-US" sz="1725" dirty="0"/>
          </a:p>
        </p:txBody>
      </p:sp>
      <p:sp>
        <p:nvSpPr>
          <p:cNvPr id="11" name="Text 7"/>
          <p:cNvSpPr/>
          <p:nvPr/>
        </p:nvSpPr>
        <p:spPr>
          <a:xfrm>
            <a:off x="1143000" y="6373178"/>
            <a:ext cx="8829675" cy="81153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75" dirty="0">
                <a:solidFill>
                  <a:srgbClr val="2B3139"/>
                </a:solidFill>
                <a:latin typeface="Arial" pitchFamily="34" charset="0"/>
                <a:ea typeface="Arial" pitchFamily="34" charset="-122"/>
                <a:cs typeface="Arial" pitchFamily="34" charset="-120"/>
              </a:rPr>
              <a:t>What factors influence Guyanese taxpayers’ intention to continue using the GRA Padna App?</a:t>
            </a:r>
            <a:endParaRPr lang="en-US" sz="2175" dirty="0"/>
          </a:p>
        </p:txBody>
      </p:sp>
      <p:sp>
        <p:nvSpPr>
          <p:cNvPr id="12" name="Shape 8"/>
          <p:cNvSpPr/>
          <p:nvPr/>
        </p:nvSpPr>
        <p:spPr>
          <a:xfrm>
            <a:off x="11291412" y="4236958"/>
            <a:ext cx="6005870" cy="2075974"/>
          </a:xfrm>
          <a:prstGeom prst="roundRect">
            <a:avLst>
              <a:gd name="adj" fmla="val 12847"/>
            </a:avLst>
          </a:prstGeom>
          <a:solidFill>
            <a:srgbClr val="0F5A2C"/>
          </a:solidFill>
          <a:ln/>
          <a:effectLst>
            <a:outerShdw blurRad="438150" dist="190500" dir="5400000" algn="bl" rotWithShape="0">
              <a:srgbClr val="0B3D1E">
                <a:alpha val="24000"/>
              </a:srgbClr>
            </a:outerShdw>
          </a:effectLst>
        </p:spPr>
        <p:txBody>
          <a:bodyPr/>
          <a:lstStyle/>
          <a:p>
            <a:endParaRPr lang="en-US"/>
          </a:p>
        </p:txBody>
      </p:sp>
      <p:pic>
        <p:nvPicPr>
          <p:cNvPr id="13" name="Image 2" descr="preencoded.png"/>
          <p:cNvPicPr>
            <a:picLocks noChangeAspect="1"/>
          </p:cNvPicPr>
          <p:nvPr/>
        </p:nvPicPr>
        <p:blipFill>
          <a:blip r:embed="rId3">
            <a:alphaModFix amt="14000"/>
          </a:blip>
          <a:stretch>
            <a:fillRect/>
          </a:stretch>
        </p:blipFill>
        <p:spPr>
          <a:xfrm>
            <a:off x="15544681" y="4560332"/>
            <a:ext cx="2286000" cy="2286000"/>
          </a:xfrm>
          <a:prstGeom prst="rect">
            <a:avLst/>
          </a:prstGeom>
        </p:spPr>
      </p:pic>
      <p:sp>
        <p:nvSpPr>
          <p:cNvPr id="14" name="Text 9"/>
          <p:cNvSpPr/>
          <p:nvPr/>
        </p:nvSpPr>
        <p:spPr>
          <a:xfrm>
            <a:off x="11691462" y="4682728"/>
            <a:ext cx="2282130" cy="205740"/>
          </a:xfrm>
          <a:prstGeom prst="rect">
            <a:avLst/>
          </a:prstGeom>
          <a:noFill/>
          <a:ln/>
        </p:spPr>
        <p:txBody>
          <a:bodyPr wrap="square" lIns="25400" tIns="25400" rIns="25400" bIns="25400" rtlCol="0" anchor="t">
            <a:normAutofit fontScale="92500" lnSpcReduction="10000"/>
          </a:bodyPr>
          <a:lstStyle/>
          <a:p>
            <a:pPr marL="0" indent="0" algn="l">
              <a:buNone/>
            </a:pPr>
            <a:r>
              <a:rPr lang="en-US" sz="1200" b="1" kern="0" spc="168" dirty="0">
                <a:solidFill>
                  <a:srgbClr val="4DC97A"/>
                </a:solidFill>
                <a:latin typeface="Arial" pitchFamily="34" charset="0"/>
                <a:ea typeface="Arial" pitchFamily="34" charset="-122"/>
                <a:cs typeface="Arial" pitchFamily="34" charset="-120"/>
              </a:rPr>
              <a:t>FOCUS OF THE STUDY</a:t>
            </a:r>
            <a:endParaRPr lang="en-US" sz="1200" dirty="0"/>
          </a:p>
        </p:txBody>
      </p:sp>
      <p:sp>
        <p:nvSpPr>
          <p:cNvPr id="15" name="Text 10"/>
          <p:cNvSpPr/>
          <p:nvPr/>
        </p:nvSpPr>
        <p:spPr>
          <a:xfrm>
            <a:off x="11691462" y="5010388"/>
            <a:ext cx="5726347" cy="443389"/>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2850" b="1" dirty="0">
                <a:solidFill>
                  <a:srgbClr val="FFFFFF"/>
                </a:solidFill>
                <a:latin typeface="Arial" pitchFamily="34" charset="0"/>
                <a:ea typeface="Arial" pitchFamily="34" charset="-122"/>
                <a:cs typeface="Arial" pitchFamily="34" charset="-120"/>
              </a:rPr>
              <a:t>Continuance Intention</a:t>
            </a:r>
            <a:endParaRPr lang="en-US" sz="2850" dirty="0"/>
          </a:p>
        </p:txBody>
      </p:sp>
      <p:sp>
        <p:nvSpPr>
          <p:cNvPr id="16" name="Text 11"/>
          <p:cNvSpPr/>
          <p:nvPr/>
        </p:nvSpPr>
        <p:spPr>
          <a:xfrm>
            <a:off x="11691462" y="5568077"/>
            <a:ext cx="5726347" cy="34480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725" dirty="0">
                <a:solidFill>
                  <a:srgbClr val="B7E7C4"/>
                </a:solidFill>
                <a:latin typeface="Arial" pitchFamily="34" charset="0"/>
                <a:ea typeface="Arial" pitchFamily="34" charset="-122"/>
                <a:cs typeface="Arial" pitchFamily="34" charset="-120"/>
              </a:rPr>
              <a:t>Future use when a tax-related need arises</a:t>
            </a:r>
            <a:endParaRPr lang="en-US" sz="1725" dirty="0"/>
          </a:p>
        </p:txBody>
      </p:sp>
      <p:sp>
        <p:nvSpPr>
          <p:cNvPr id="17" name="Shape 12"/>
          <p:cNvSpPr/>
          <p:nvPr/>
        </p:nvSpPr>
        <p:spPr>
          <a:xfrm>
            <a:off x="1143000" y="9102090"/>
            <a:ext cx="16154400" cy="9525"/>
          </a:xfrm>
          <a:prstGeom prst="rect">
            <a:avLst/>
          </a:prstGeom>
          <a:solidFill>
            <a:srgbClr val="D9DDE2"/>
          </a:solidFill>
          <a:ln/>
        </p:spPr>
        <p:txBody>
          <a:bodyPr/>
          <a:lstStyle/>
          <a:p>
            <a:endParaRPr lang="en-US"/>
          </a:p>
        </p:txBody>
      </p:sp>
      <p:sp>
        <p:nvSpPr>
          <p:cNvPr id="18" name="Text 13"/>
          <p:cNvSpPr/>
          <p:nvPr/>
        </p:nvSpPr>
        <p:spPr>
          <a:xfrm>
            <a:off x="1143000" y="9357360"/>
            <a:ext cx="9229106"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5C6570"/>
                </a:solidFill>
                <a:latin typeface="Arial" pitchFamily="34" charset="0"/>
                <a:ea typeface="Arial" pitchFamily="34" charset="-122"/>
                <a:cs typeface="Arial" pitchFamily="34" charset="-120"/>
              </a:rPr>
              <a:t>Gaianand Ramnarace | Bachelor of Science in Information Systems | University of Guyana</a:t>
            </a:r>
            <a:endParaRPr lang="en-US" sz="1650" dirty="0"/>
          </a:p>
        </p:txBody>
      </p:sp>
      <p:sp>
        <p:nvSpPr>
          <p:cNvPr id="19" name="Text 14"/>
          <p:cNvSpPr/>
          <p:nvPr/>
        </p:nvSpPr>
        <p:spPr>
          <a:xfrm>
            <a:off x="13481447" y="9380220"/>
            <a:ext cx="4197548"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8A929C"/>
                </a:solidFill>
                <a:latin typeface="Arial" pitchFamily="34" charset="0"/>
                <a:ea typeface="Arial" pitchFamily="34" charset="-122"/>
                <a:cs typeface="Arial" pitchFamily="34" charset="-120"/>
              </a:rPr>
              <a:t>Gaianand Ramnarace | Final Presentation | 1</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4000"/>
          </a:blip>
          <a:stretch>
            <a:fillRect/>
          </a:stretch>
        </p:blipFill>
        <p:spPr>
          <a:xfrm>
            <a:off x="15163800" y="7162800"/>
            <a:ext cx="3810000" cy="3810000"/>
          </a:xfrm>
          <a:prstGeom prst="rect">
            <a:avLst/>
          </a:prstGeom>
        </p:spPr>
      </p:pic>
      <p:sp>
        <p:nvSpPr>
          <p:cNvPr id="3" name="Text 0"/>
          <p:cNvSpPr/>
          <p:nvPr/>
        </p:nvSpPr>
        <p:spPr>
          <a:xfrm>
            <a:off x="914400" y="609600"/>
            <a:ext cx="8803982" cy="53185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600" b="1" kern="0" spc="-36" dirty="0">
                <a:solidFill>
                  <a:srgbClr val="111418"/>
                </a:solidFill>
                <a:latin typeface="Arial" pitchFamily="34" charset="0"/>
                <a:ea typeface="Arial" pitchFamily="34" charset="-122"/>
                <a:cs typeface="Arial" pitchFamily="34" charset="-120"/>
              </a:rPr>
              <a:t>Problem, Purpose and Objectives</a:t>
            </a:r>
            <a:endParaRPr lang="en-US" sz="3600" dirty="0"/>
          </a:p>
        </p:txBody>
      </p:sp>
      <p:sp>
        <p:nvSpPr>
          <p:cNvPr id="4" name="Text 1"/>
          <p:cNvSpPr/>
          <p:nvPr/>
        </p:nvSpPr>
        <p:spPr>
          <a:xfrm>
            <a:off x="914400" y="1217652"/>
            <a:ext cx="8803982" cy="359569"/>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5C6570"/>
                </a:solidFill>
                <a:latin typeface="Arial" pitchFamily="34" charset="0"/>
                <a:ea typeface="Arial" pitchFamily="34" charset="-122"/>
                <a:cs typeface="Arial" pitchFamily="34" charset="-120"/>
              </a:rPr>
              <a:t>The presentation links the problem to measurable research objectives.</a:t>
            </a:r>
            <a:endParaRPr lang="en-US" sz="1875" dirty="0"/>
          </a:p>
        </p:txBody>
      </p:sp>
      <p:sp>
        <p:nvSpPr>
          <p:cNvPr id="5" name="Text 2"/>
          <p:cNvSpPr/>
          <p:nvPr/>
        </p:nvSpPr>
        <p:spPr>
          <a:xfrm>
            <a:off x="16543854" y="763905"/>
            <a:ext cx="334447"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99" dirty="0">
                <a:solidFill>
                  <a:srgbClr val="B5BCC4"/>
                </a:solidFill>
                <a:latin typeface="Arial" pitchFamily="34" charset="0"/>
                <a:ea typeface="Arial" pitchFamily="34" charset="-122"/>
                <a:cs typeface="Arial" pitchFamily="34" charset="-120"/>
              </a:rPr>
              <a:t>02</a:t>
            </a:r>
            <a:endParaRPr lang="en-US" sz="1650" dirty="0"/>
          </a:p>
        </p:txBody>
      </p:sp>
      <p:pic>
        <p:nvPicPr>
          <p:cNvPr id="6" name="Image 1" descr="preencoded.png"/>
          <p:cNvPicPr>
            <a:picLocks noChangeAspect="1"/>
          </p:cNvPicPr>
          <p:nvPr/>
        </p:nvPicPr>
        <p:blipFill>
          <a:blip r:embed="rId3"/>
          <a:stretch>
            <a:fillRect/>
          </a:stretch>
        </p:blipFill>
        <p:spPr>
          <a:xfrm>
            <a:off x="16935450" y="666750"/>
            <a:ext cx="438150" cy="438150"/>
          </a:xfrm>
          <a:prstGeom prst="rect">
            <a:avLst/>
          </a:prstGeom>
        </p:spPr>
      </p:pic>
      <p:sp>
        <p:nvSpPr>
          <p:cNvPr id="7" name="Shape 3"/>
          <p:cNvSpPr/>
          <p:nvPr/>
        </p:nvSpPr>
        <p:spPr>
          <a:xfrm>
            <a:off x="914400" y="1767721"/>
            <a:ext cx="16459200" cy="9525"/>
          </a:xfrm>
          <a:prstGeom prst="rect">
            <a:avLst/>
          </a:prstGeom>
          <a:solidFill>
            <a:srgbClr val="D9DDE2"/>
          </a:solidFill>
          <a:ln/>
        </p:spPr>
        <p:txBody>
          <a:bodyPr/>
          <a:lstStyle/>
          <a:p>
            <a:endParaRPr lang="en-US"/>
          </a:p>
        </p:txBody>
      </p:sp>
      <p:sp>
        <p:nvSpPr>
          <p:cNvPr id="8" name="Shape 4"/>
          <p:cNvSpPr/>
          <p:nvPr/>
        </p:nvSpPr>
        <p:spPr>
          <a:xfrm>
            <a:off x="914400" y="3824169"/>
            <a:ext cx="47625" cy="247650"/>
          </a:xfrm>
          <a:prstGeom prst="roundRect">
            <a:avLst>
              <a:gd name="adj" fmla="val 50000"/>
            </a:avLst>
          </a:prstGeom>
          <a:gradFill rotWithShape="1">
            <a:gsLst>
              <a:gs pos="0">
                <a:srgbClr val="14B24B">
                  <a:alpha val="100000"/>
                </a:srgbClr>
              </a:gs>
              <a:gs pos="100000">
                <a:srgbClr val="0F5A2C">
                  <a:alpha val="100000"/>
                </a:srgbClr>
              </a:gs>
            </a:gsLst>
            <a:lin ang="5400000" scaled="0"/>
          </a:gradFill>
          <a:ln/>
        </p:spPr>
        <p:txBody>
          <a:bodyPr/>
          <a:lstStyle/>
          <a:p>
            <a:endParaRPr lang="en-US"/>
          </a:p>
        </p:txBody>
      </p:sp>
      <p:sp>
        <p:nvSpPr>
          <p:cNvPr id="9" name="Text 5"/>
          <p:cNvSpPr/>
          <p:nvPr/>
        </p:nvSpPr>
        <p:spPr>
          <a:xfrm>
            <a:off x="1076325" y="3822263"/>
            <a:ext cx="892016" cy="289560"/>
          </a:xfrm>
          <a:prstGeom prst="rect">
            <a:avLst/>
          </a:prstGeom>
          <a:noFill/>
          <a:ln/>
        </p:spPr>
        <p:txBody>
          <a:bodyPr wrap="square" lIns="25400" tIns="25400" rIns="25400" bIns="25400" rtlCol="0" anchor="t">
            <a:normAutofit fontScale="92500" lnSpcReduction="10000"/>
          </a:bodyPr>
          <a:lstStyle/>
          <a:p>
            <a:pPr marL="0" indent="0" algn="l">
              <a:buNone/>
            </a:pPr>
            <a:r>
              <a:rPr lang="en-US" sz="1725" b="1" dirty="0">
                <a:solidFill>
                  <a:srgbClr val="127A38"/>
                </a:solidFill>
                <a:latin typeface="Arial" pitchFamily="34" charset="0"/>
                <a:ea typeface="Arial" pitchFamily="34" charset="-122"/>
                <a:cs typeface="Arial" pitchFamily="34" charset="-120"/>
              </a:rPr>
              <a:t>Problem</a:t>
            </a:r>
            <a:endParaRPr lang="en-US" sz="1725" dirty="0"/>
          </a:p>
        </p:txBody>
      </p:sp>
      <p:sp>
        <p:nvSpPr>
          <p:cNvPr id="10" name="Text 6"/>
          <p:cNvSpPr/>
          <p:nvPr/>
        </p:nvSpPr>
        <p:spPr>
          <a:xfrm>
            <a:off x="914400" y="4226123"/>
            <a:ext cx="8201787" cy="80962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025" dirty="0">
                <a:solidFill>
                  <a:srgbClr val="2B3139"/>
                </a:solidFill>
                <a:latin typeface="Arial" pitchFamily="34" charset="0"/>
                <a:ea typeface="Arial" pitchFamily="34" charset="-122"/>
                <a:cs typeface="Arial" pitchFamily="34" charset="-120"/>
              </a:rPr>
              <a:t>Padna supports digital tax services, but its long-term value depends on sustained use by taxpayers.</a:t>
            </a:r>
            <a:endParaRPr lang="en-US" sz="2025" dirty="0"/>
          </a:p>
        </p:txBody>
      </p:sp>
      <p:sp>
        <p:nvSpPr>
          <p:cNvPr id="11" name="Shape 7"/>
          <p:cNvSpPr/>
          <p:nvPr/>
        </p:nvSpPr>
        <p:spPr>
          <a:xfrm>
            <a:off x="914400" y="5323404"/>
            <a:ext cx="47625" cy="247650"/>
          </a:xfrm>
          <a:prstGeom prst="roundRect">
            <a:avLst>
              <a:gd name="adj" fmla="val 50000"/>
            </a:avLst>
          </a:prstGeom>
          <a:gradFill rotWithShape="1">
            <a:gsLst>
              <a:gs pos="0">
                <a:srgbClr val="14B24B">
                  <a:alpha val="100000"/>
                </a:srgbClr>
              </a:gs>
              <a:gs pos="100000">
                <a:srgbClr val="0F5A2C">
                  <a:alpha val="100000"/>
                </a:srgbClr>
              </a:gs>
            </a:gsLst>
            <a:lin ang="5400000" scaled="0"/>
          </a:gradFill>
          <a:ln/>
        </p:spPr>
        <p:txBody>
          <a:bodyPr/>
          <a:lstStyle/>
          <a:p>
            <a:endParaRPr lang="en-US"/>
          </a:p>
        </p:txBody>
      </p:sp>
      <p:sp>
        <p:nvSpPr>
          <p:cNvPr id="12" name="Text 8"/>
          <p:cNvSpPr/>
          <p:nvPr/>
        </p:nvSpPr>
        <p:spPr>
          <a:xfrm>
            <a:off x="1076325" y="5321498"/>
            <a:ext cx="892254" cy="289560"/>
          </a:xfrm>
          <a:prstGeom prst="rect">
            <a:avLst/>
          </a:prstGeom>
          <a:noFill/>
          <a:ln/>
        </p:spPr>
        <p:txBody>
          <a:bodyPr wrap="square" lIns="25400" tIns="25400" rIns="25400" bIns="25400" rtlCol="0" anchor="t">
            <a:normAutofit fontScale="92500" lnSpcReduction="10000"/>
          </a:bodyPr>
          <a:lstStyle/>
          <a:p>
            <a:pPr marL="0" indent="0" algn="l">
              <a:buNone/>
            </a:pPr>
            <a:r>
              <a:rPr lang="en-US" sz="1725" b="1" dirty="0">
                <a:solidFill>
                  <a:srgbClr val="127A38"/>
                </a:solidFill>
                <a:latin typeface="Arial" pitchFamily="34" charset="0"/>
                <a:ea typeface="Arial" pitchFamily="34" charset="-122"/>
                <a:cs typeface="Arial" pitchFamily="34" charset="-120"/>
              </a:rPr>
              <a:t>Purpose</a:t>
            </a:r>
            <a:endParaRPr lang="en-US" sz="1725" dirty="0"/>
          </a:p>
        </p:txBody>
      </p:sp>
      <p:sp>
        <p:nvSpPr>
          <p:cNvPr id="13" name="Text 9"/>
          <p:cNvSpPr/>
          <p:nvPr/>
        </p:nvSpPr>
        <p:spPr>
          <a:xfrm>
            <a:off x="914400" y="5725359"/>
            <a:ext cx="8201787" cy="80962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025" dirty="0">
                <a:solidFill>
                  <a:srgbClr val="2B3139"/>
                </a:solidFill>
                <a:latin typeface="Arial" pitchFamily="34" charset="0"/>
                <a:ea typeface="Arial" pitchFamily="34" charset="-122"/>
                <a:cs typeface="Arial" pitchFamily="34" charset="-120"/>
              </a:rPr>
              <a:t>To identify the factors that explain continuance intention among Guyanese taxpayers who have used Padna.</a:t>
            </a:r>
            <a:endParaRPr lang="en-US" sz="2025" dirty="0"/>
          </a:p>
        </p:txBody>
      </p:sp>
      <p:sp>
        <p:nvSpPr>
          <p:cNvPr id="14" name="Shape 10"/>
          <p:cNvSpPr/>
          <p:nvPr/>
        </p:nvSpPr>
        <p:spPr>
          <a:xfrm>
            <a:off x="9410700" y="2064901"/>
            <a:ext cx="47625" cy="247650"/>
          </a:xfrm>
          <a:prstGeom prst="roundRect">
            <a:avLst>
              <a:gd name="adj" fmla="val 50000"/>
            </a:avLst>
          </a:prstGeom>
          <a:gradFill rotWithShape="1">
            <a:gsLst>
              <a:gs pos="0">
                <a:srgbClr val="14B24B">
                  <a:alpha val="100000"/>
                </a:srgbClr>
              </a:gs>
              <a:gs pos="100000">
                <a:srgbClr val="0F5A2C">
                  <a:alpha val="100000"/>
                </a:srgbClr>
              </a:gs>
            </a:gsLst>
            <a:lin ang="5400000" scaled="0"/>
          </a:gradFill>
          <a:ln/>
        </p:spPr>
        <p:txBody>
          <a:bodyPr/>
          <a:lstStyle/>
          <a:p>
            <a:endParaRPr lang="en-US"/>
          </a:p>
        </p:txBody>
      </p:sp>
      <p:sp>
        <p:nvSpPr>
          <p:cNvPr id="15" name="Text 11"/>
          <p:cNvSpPr/>
          <p:nvPr/>
        </p:nvSpPr>
        <p:spPr>
          <a:xfrm>
            <a:off x="9572625" y="2062996"/>
            <a:ext cx="2504777" cy="289560"/>
          </a:xfrm>
          <a:prstGeom prst="rect">
            <a:avLst/>
          </a:prstGeom>
          <a:noFill/>
          <a:ln/>
        </p:spPr>
        <p:txBody>
          <a:bodyPr wrap="square" lIns="25400" tIns="25400" rIns="25400" bIns="25400" rtlCol="0" anchor="t">
            <a:normAutofit fontScale="92500" lnSpcReduction="10000"/>
          </a:bodyPr>
          <a:lstStyle/>
          <a:p>
            <a:pPr marL="0" indent="0" algn="l">
              <a:buNone/>
            </a:pPr>
            <a:r>
              <a:rPr lang="en-US" sz="1725" b="1" dirty="0">
                <a:solidFill>
                  <a:srgbClr val="127A38"/>
                </a:solidFill>
                <a:latin typeface="Arial" pitchFamily="34" charset="0"/>
                <a:ea typeface="Arial" pitchFamily="34" charset="-122"/>
                <a:cs typeface="Arial" pitchFamily="34" charset="-120"/>
              </a:rPr>
              <a:t>Compressed objectives</a:t>
            </a:r>
            <a:endParaRPr lang="en-US" sz="1725" dirty="0"/>
          </a:p>
        </p:txBody>
      </p:sp>
      <p:sp>
        <p:nvSpPr>
          <p:cNvPr id="16" name="Shape 12"/>
          <p:cNvSpPr/>
          <p:nvPr/>
        </p:nvSpPr>
        <p:spPr>
          <a:xfrm>
            <a:off x="9410700" y="2524006"/>
            <a:ext cx="7962900" cy="1021080"/>
          </a:xfrm>
          <a:prstGeom prst="roundRect">
            <a:avLst>
              <a:gd name="adj" fmla="val 18657"/>
            </a:avLst>
          </a:prstGeom>
          <a:solidFill>
            <a:srgbClr val="FFFFFF">
              <a:alpha val="85000"/>
            </a:srgbClr>
          </a:solidFill>
          <a:ln w="7620">
            <a:solidFill>
              <a:srgbClr val="FFFFFF">
                <a:alpha val="90000"/>
              </a:srgbClr>
            </a:solidFill>
            <a:prstDash val="solid"/>
          </a:ln>
          <a:effectLst>
            <a:outerShdw blurRad="19050" dist="9525" dir="5400000" algn="bl" rotWithShape="0">
              <a:srgbClr val="0B3D1E">
                <a:alpha val="4000"/>
              </a:srgbClr>
            </a:outerShdw>
          </a:effectLst>
        </p:spPr>
        <p:txBody>
          <a:bodyPr/>
          <a:lstStyle/>
          <a:p>
            <a:endParaRPr lang="en-US"/>
          </a:p>
        </p:txBody>
      </p:sp>
      <p:sp>
        <p:nvSpPr>
          <p:cNvPr id="17" name="Shape 13"/>
          <p:cNvSpPr/>
          <p:nvPr/>
        </p:nvSpPr>
        <p:spPr>
          <a:xfrm>
            <a:off x="9665970" y="2767846"/>
            <a:ext cx="533400" cy="533400"/>
          </a:xfrm>
          <a:prstGeom prst="ellipse">
            <a:avLst/>
          </a:prstGeom>
          <a:gradFill rotWithShape="1">
            <a:gsLst>
              <a:gs pos="0">
                <a:srgbClr val="14B24B">
                  <a:alpha val="100000"/>
                </a:srgbClr>
              </a:gs>
              <a:gs pos="100000">
                <a:srgbClr val="0F5A2C">
                  <a:alpha val="100000"/>
                </a:srgbClr>
              </a:gs>
            </a:gsLst>
            <a:lin ang="3600000" scaled="0"/>
          </a:gradFill>
          <a:ln/>
        </p:spPr>
        <p:txBody>
          <a:bodyPr/>
          <a:lstStyle/>
          <a:p>
            <a:endParaRPr lang="en-US"/>
          </a:p>
        </p:txBody>
      </p:sp>
      <p:sp>
        <p:nvSpPr>
          <p:cNvPr id="18" name="Text 14"/>
          <p:cNvSpPr/>
          <p:nvPr/>
        </p:nvSpPr>
        <p:spPr>
          <a:xfrm>
            <a:off x="9627870" y="2767846"/>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FFFFFF"/>
                </a:solidFill>
                <a:latin typeface="Arial" pitchFamily="34" charset="0"/>
                <a:ea typeface="Arial" pitchFamily="34" charset="-122"/>
                <a:cs typeface="Arial" pitchFamily="34" charset="-120"/>
              </a:rPr>
              <a:t>1</a:t>
            </a:r>
            <a:endParaRPr lang="en-US" sz="1950" dirty="0"/>
          </a:p>
        </p:txBody>
      </p:sp>
      <p:sp>
        <p:nvSpPr>
          <p:cNvPr id="19" name="Text 15"/>
          <p:cNvSpPr/>
          <p:nvPr/>
        </p:nvSpPr>
        <p:spPr>
          <a:xfrm>
            <a:off x="10408920" y="2741176"/>
            <a:ext cx="6910693" cy="624840"/>
          </a:xfrm>
          <a:prstGeom prst="rect">
            <a:avLst/>
          </a:prstGeom>
          <a:noFill/>
          <a:ln/>
        </p:spPr>
        <p:txBody>
          <a:bodyPr wrap="square" lIns="25400" tIns="25400" rIns="25400" bIns="25400" rtlCol="0" anchor="t">
            <a:normAutofit/>
          </a:bodyPr>
          <a:lstStyle/>
          <a:p>
            <a:pPr marL="0" indent="0" algn="l">
              <a:lnSpc>
                <a:spcPct val="140000"/>
              </a:lnSpc>
              <a:buNone/>
            </a:pPr>
            <a:r>
              <a:rPr lang="en-US" sz="1650" dirty="0">
                <a:solidFill>
                  <a:srgbClr val="2B3139"/>
                </a:solidFill>
                <a:latin typeface="Arial" pitchFamily="34" charset="0"/>
                <a:ea typeface="Arial" pitchFamily="34" charset="-122"/>
                <a:cs typeface="Arial" pitchFamily="34" charset="-120"/>
              </a:rPr>
              <a:t>Test ECM factors: confirmation, perceived usefulness and satisfaction</a:t>
            </a:r>
            <a:endParaRPr lang="en-US" sz="1650" dirty="0"/>
          </a:p>
        </p:txBody>
      </p:sp>
      <p:sp>
        <p:nvSpPr>
          <p:cNvPr id="20" name="Shape 16"/>
          <p:cNvSpPr/>
          <p:nvPr/>
        </p:nvSpPr>
        <p:spPr>
          <a:xfrm>
            <a:off x="9410700" y="3697486"/>
            <a:ext cx="7962900" cy="1021080"/>
          </a:xfrm>
          <a:prstGeom prst="roundRect">
            <a:avLst>
              <a:gd name="adj" fmla="val 18657"/>
            </a:avLst>
          </a:prstGeom>
          <a:solidFill>
            <a:srgbClr val="FFFFFF">
              <a:alpha val="85000"/>
            </a:srgbClr>
          </a:solidFill>
          <a:ln w="7620">
            <a:solidFill>
              <a:srgbClr val="FFFFFF">
                <a:alpha val="90000"/>
              </a:srgbClr>
            </a:solidFill>
            <a:prstDash val="solid"/>
          </a:ln>
          <a:effectLst>
            <a:outerShdw blurRad="19050" dist="9525" dir="5400000" algn="bl" rotWithShape="0">
              <a:srgbClr val="0B3D1E">
                <a:alpha val="4000"/>
              </a:srgbClr>
            </a:outerShdw>
          </a:effectLst>
        </p:spPr>
        <p:txBody>
          <a:bodyPr/>
          <a:lstStyle/>
          <a:p>
            <a:endParaRPr lang="en-US"/>
          </a:p>
        </p:txBody>
      </p:sp>
      <p:sp>
        <p:nvSpPr>
          <p:cNvPr id="21" name="Shape 17"/>
          <p:cNvSpPr/>
          <p:nvPr/>
        </p:nvSpPr>
        <p:spPr>
          <a:xfrm>
            <a:off x="9665970" y="3941326"/>
            <a:ext cx="533400" cy="533400"/>
          </a:xfrm>
          <a:prstGeom prst="ellipse">
            <a:avLst/>
          </a:prstGeom>
          <a:gradFill rotWithShape="1">
            <a:gsLst>
              <a:gs pos="0">
                <a:srgbClr val="14B24B">
                  <a:alpha val="100000"/>
                </a:srgbClr>
              </a:gs>
              <a:gs pos="100000">
                <a:srgbClr val="0F5A2C">
                  <a:alpha val="100000"/>
                </a:srgbClr>
              </a:gs>
            </a:gsLst>
            <a:lin ang="3600000" scaled="0"/>
          </a:gradFill>
          <a:ln/>
        </p:spPr>
        <p:txBody>
          <a:bodyPr/>
          <a:lstStyle/>
          <a:p>
            <a:endParaRPr lang="en-US"/>
          </a:p>
        </p:txBody>
      </p:sp>
      <p:sp>
        <p:nvSpPr>
          <p:cNvPr id="22" name="Text 18"/>
          <p:cNvSpPr/>
          <p:nvPr/>
        </p:nvSpPr>
        <p:spPr>
          <a:xfrm>
            <a:off x="9627870" y="3941326"/>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FFFFFF"/>
                </a:solidFill>
                <a:latin typeface="Arial" pitchFamily="34" charset="0"/>
                <a:ea typeface="Arial" pitchFamily="34" charset="-122"/>
                <a:cs typeface="Arial" pitchFamily="34" charset="-120"/>
              </a:rPr>
              <a:t>2</a:t>
            </a:r>
            <a:endParaRPr lang="en-US" sz="1950" dirty="0"/>
          </a:p>
        </p:txBody>
      </p:sp>
      <p:sp>
        <p:nvSpPr>
          <p:cNvPr id="23" name="Text 19"/>
          <p:cNvSpPr/>
          <p:nvPr/>
        </p:nvSpPr>
        <p:spPr>
          <a:xfrm>
            <a:off x="10408920" y="3914656"/>
            <a:ext cx="6910693" cy="6248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dirty="0">
                <a:solidFill>
                  <a:srgbClr val="2B3139"/>
                </a:solidFill>
                <a:latin typeface="Arial" pitchFamily="34" charset="0"/>
                <a:ea typeface="Arial" pitchFamily="34" charset="-122"/>
                <a:cs typeface="Arial" pitchFamily="34" charset="-120"/>
              </a:rPr>
              <a:t>Test UTAUT2 and trust extensions: habit, social influence, facilitating conditions and trust/security</a:t>
            </a:r>
            <a:endParaRPr lang="en-US" sz="1650" dirty="0"/>
          </a:p>
        </p:txBody>
      </p:sp>
      <p:sp>
        <p:nvSpPr>
          <p:cNvPr id="24" name="Shape 20"/>
          <p:cNvSpPr/>
          <p:nvPr/>
        </p:nvSpPr>
        <p:spPr>
          <a:xfrm>
            <a:off x="9410700" y="4870966"/>
            <a:ext cx="7962900" cy="1021080"/>
          </a:xfrm>
          <a:prstGeom prst="roundRect">
            <a:avLst>
              <a:gd name="adj" fmla="val 18657"/>
            </a:avLst>
          </a:prstGeom>
          <a:solidFill>
            <a:srgbClr val="FFFFFF">
              <a:alpha val="85000"/>
            </a:srgbClr>
          </a:solidFill>
          <a:ln w="7620">
            <a:solidFill>
              <a:srgbClr val="FFFFFF">
                <a:alpha val="90000"/>
              </a:srgbClr>
            </a:solidFill>
            <a:prstDash val="solid"/>
          </a:ln>
          <a:effectLst>
            <a:outerShdw blurRad="19050" dist="9525" dir="5400000" algn="bl" rotWithShape="0">
              <a:srgbClr val="0B3D1E">
                <a:alpha val="4000"/>
              </a:srgbClr>
            </a:outerShdw>
          </a:effectLst>
        </p:spPr>
        <p:txBody>
          <a:bodyPr/>
          <a:lstStyle/>
          <a:p>
            <a:endParaRPr lang="en-US"/>
          </a:p>
        </p:txBody>
      </p:sp>
      <p:sp>
        <p:nvSpPr>
          <p:cNvPr id="25" name="Shape 21"/>
          <p:cNvSpPr/>
          <p:nvPr/>
        </p:nvSpPr>
        <p:spPr>
          <a:xfrm>
            <a:off x="9665970" y="5114806"/>
            <a:ext cx="533400" cy="533400"/>
          </a:xfrm>
          <a:prstGeom prst="ellipse">
            <a:avLst/>
          </a:prstGeom>
          <a:gradFill rotWithShape="1">
            <a:gsLst>
              <a:gs pos="0">
                <a:srgbClr val="14B24B">
                  <a:alpha val="100000"/>
                </a:srgbClr>
              </a:gs>
              <a:gs pos="100000">
                <a:srgbClr val="0F5A2C">
                  <a:alpha val="100000"/>
                </a:srgbClr>
              </a:gs>
            </a:gsLst>
            <a:lin ang="3600000" scaled="0"/>
          </a:gradFill>
          <a:ln/>
        </p:spPr>
        <p:txBody>
          <a:bodyPr/>
          <a:lstStyle/>
          <a:p>
            <a:endParaRPr lang="en-US"/>
          </a:p>
        </p:txBody>
      </p:sp>
      <p:sp>
        <p:nvSpPr>
          <p:cNvPr id="26" name="Text 22"/>
          <p:cNvSpPr/>
          <p:nvPr/>
        </p:nvSpPr>
        <p:spPr>
          <a:xfrm>
            <a:off x="9627870" y="5114806"/>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FFFFFF"/>
                </a:solidFill>
                <a:latin typeface="Arial" pitchFamily="34" charset="0"/>
                <a:ea typeface="Arial" pitchFamily="34" charset="-122"/>
                <a:cs typeface="Arial" pitchFamily="34" charset="-120"/>
              </a:rPr>
              <a:t>3</a:t>
            </a:r>
            <a:endParaRPr lang="en-US" sz="1950" dirty="0"/>
          </a:p>
        </p:txBody>
      </p:sp>
      <p:sp>
        <p:nvSpPr>
          <p:cNvPr id="27" name="Text 23"/>
          <p:cNvSpPr/>
          <p:nvPr/>
        </p:nvSpPr>
        <p:spPr>
          <a:xfrm>
            <a:off x="10408920" y="5088136"/>
            <a:ext cx="6910693" cy="62484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650" dirty="0">
                <a:solidFill>
                  <a:srgbClr val="2B3139"/>
                </a:solidFill>
                <a:latin typeface="Arial" pitchFamily="34" charset="0"/>
                <a:ea typeface="Arial" pitchFamily="34" charset="-122"/>
                <a:cs typeface="Arial" pitchFamily="34" charset="-120"/>
              </a:rPr>
              <a:t>Provide evidence-based recommendations for improving long-term engagement</a:t>
            </a:r>
            <a:endParaRPr lang="en-US" sz="1650" dirty="0"/>
          </a:p>
        </p:txBody>
      </p:sp>
      <p:sp>
        <p:nvSpPr>
          <p:cNvPr id="28" name="Shape 24"/>
          <p:cNvSpPr/>
          <p:nvPr/>
        </p:nvSpPr>
        <p:spPr>
          <a:xfrm>
            <a:off x="914400" y="8522970"/>
            <a:ext cx="16459200" cy="838200"/>
          </a:xfrm>
          <a:prstGeom prst="roundRect">
            <a:avLst>
              <a:gd name="adj" fmla="val 22727"/>
            </a:avLst>
          </a:prstGeom>
          <a:solidFill>
            <a:srgbClr val="E3F6E9"/>
          </a:solidFill>
          <a:ln/>
        </p:spPr>
        <p:txBody>
          <a:bodyPr/>
          <a:lstStyle/>
          <a:p>
            <a:endParaRPr lang="en-US"/>
          </a:p>
        </p:txBody>
      </p:sp>
      <p:sp>
        <p:nvSpPr>
          <p:cNvPr id="29" name="Shape 25"/>
          <p:cNvSpPr/>
          <p:nvPr/>
        </p:nvSpPr>
        <p:spPr>
          <a:xfrm>
            <a:off x="1200150" y="8751570"/>
            <a:ext cx="381000" cy="381000"/>
          </a:xfrm>
          <a:prstGeom prst="ellipse">
            <a:avLst/>
          </a:prstGeom>
          <a:solidFill>
            <a:srgbClr val="0E9F43"/>
          </a:solidFill>
          <a:ln/>
        </p:spPr>
        <p:txBody>
          <a:bodyPr/>
          <a:lstStyle/>
          <a:p>
            <a:endParaRPr lang="en-US"/>
          </a:p>
        </p:txBody>
      </p:sp>
      <p:pic>
        <p:nvPicPr>
          <p:cNvPr id="3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85875" y="8837295"/>
            <a:ext cx="209550" cy="209550"/>
          </a:xfrm>
          <a:prstGeom prst="rect">
            <a:avLst/>
          </a:prstGeom>
        </p:spPr>
      </p:pic>
      <p:sp>
        <p:nvSpPr>
          <p:cNvPr id="31" name="Text 26"/>
          <p:cNvSpPr/>
          <p:nvPr/>
        </p:nvSpPr>
        <p:spPr>
          <a:xfrm>
            <a:off x="1752600" y="8788718"/>
            <a:ext cx="12511837" cy="34480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725" b="1" dirty="0">
                <a:solidFill>
                  <a:srgbClr val="0F5A2C"/>
                </a:solidFill>
                <a:latin typeface="Arial" pitchFamily="34" charset="0"/>
                <a:ea typeface="Arial" pitchFamily="34" charset="-122"/>
                <a:cs typeface="Arial" pitchFamily="34" charset="-120"/>
              </a:rPr>
              <a:t>Link to the research question: these objectives identify what most strongly explains intention to continue using Padna.</a:t>
            </a:r>
            <a:endParaRPr lang="en-US" sz="1725" dirty="0"/>
          </a:p>
        </p:txBody>
      </p:sp>
      <p:sp>
        <p:nvSpPr>
          <p:cNvPr id="32" name="Text 27"/>
          <p:cNvSpPr/>
          <p:nvPr/>
        </p:nvSpPr>
        <p:spPr>
          <a:xfrm>
            <a:off x="914400" y="9570720"/>
            <a:ext cx="18105120"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8A929C"/>
                </a:solidFill>
                <a:latin typeface="Arial" pitchFamily="34" charset="0"/>
                <a:ea typeface="Arial" pitchFamily="34" charset="-122"/>
                <a:cs typeface="Arial" pitchFamily="34" charset="-120"/>
              </a:rPr>
              <a:t>Gaianand Ramnarace | Final Presentation | 2</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4000"/>
          </a:blip>
          <a:stretch>
            <a:fillRect/>
          </a:stretch>
        </p:blipFill>
        <p:spPr>
          <a:xfrm>
            <a:off x="15354300" y="7353300"/>
            <a:ext cx="3619500" cy="3619500"/>
          </a:xfrm>
          <a:prstGeom prst="rect">
            <a:avLst/>
          </a:prstGeom>
        </p:spPr>
      </p:pic>
      <p:sp>
        <p:nvSpPr>
          <p:cNvPr id="3" name="Text 0"/>
          <p:cNvSpPr/>
          <p:nvPr/>
        </p:nvSpPr>
        <p:spPr>
          <a:xfrm>
            <a:off x="914400" y="609600"/>
            <a:ext cx="9792927" cy="53185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600" b="1" kern="0" spc="-36" dirty="0">
                <a:solidFill>
                  <a:srgbClr val="111418"/>
                </a:solidFill>
                <a:latin typeface="Arial" pitchFamily="34" charset="0"/>
                <a:ea typeface="Arial" pitchFamily="34" charset="-122"/>
                <a:cs typeface="Arial" pitchFamily="34" charset="-120"/>
              </a:rPr>
              <a:t>Conceptual Model</a:t>
            </a:r>
            <a:endParaRPr lang="en-US" sz="3600" dirty="0"/>
          </a:p>
        </p:txBody>
      </p:sp>
      <p:sp>
        <p:nvSpPr>
          <p:cNvPr id="4" name="Text 1"/>
          <p:cNvSpPr/>
          <p:nvPr/>
        </p:nvSpPr>
        <p:spPr>
          <a:xfrm>
            <a:off x="914400" y="1217652"/>
            <a:ext cx="9792927" cy="359569"/>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5C6570"/>
                </a:solidFill>
                <a:latin typeface="Arial" pitchFamily="34" charset="0"/>
                <a:ea typeface="Arial" pitchFamily="34" charset="-122"/>
                <a:cs typeface="Arial" pitchFamily="34" charset="-120"/>
              </a:rPr>
              <a:t>ECM was extended with selected UTAUT2 and e-government trust constructs.</a:t>
            </a:r>
            <a:endParaRPr lang="en-US" sz="1875" dirty="0"/>
          </a:p>
        </p:txBody>
      </p:sp>
      <p:sp>
        <p:nvSpPr>
          <p:cNvPr id="5" name="Text 2"/>
          <p:cNvSpPr/>
          <p:nvPr/>
        </p:nvSpPr>
        <p:spPr>
          <a:xfrm>
            <a:off x="16543854" y="763905"/>
            <a:ext cx="334447"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99" dirty="0">
                <a:solidFill>
                  <a:srgbClr val="B5BCC4"/>
                </a:solidFill>
                <a:latin typeface="Arial" pitchFamily="34" charset="0"/>
                <a:ea typeface="Arial" pitchFamily="34" charset="-122"/>
                <a:cs typeface="Arial" pitchFamily="34" charset="-120"/>
              </a:rPr>
              <a:t>03</a:t>
            </a:r>
            <a:endParaRPr lang="en-US" sz="1650" dirty="0"/>
          </a:p>
        </p:txBody>
      </p:sp>
      <p:pic>
        <p:nvPicPr>
          <p:cNvPr id="6" name="Image 1" descr="preencoded.png"/>
          <p:cNvPicPr>
            <a:picLocks noChangeAspect="1"/>
          </p:cNvPicPr>
          <p:nvPr/>
        </p:nvPicPr>
        <p:blipFill>
          <a:blip r:embed="rId3"/>
          <a:stretch>
            <a:fillRect/>
          </a:stretch>
        </p:blipFill>
        <p:spPr>
          <a:xfrm>
            <a:off x="16935450" y="666750"/>
            <a:ext cx="438150" cy="438150"/>
          </a:xfrm>
          <a:prstGeom prst="rect">
            <a:avLst/>
          </a:prstGeom>
        </p:spPr>
      </p:pic>
      <p:pic>
        <p:nvPicPr>
          <p:cNvPr id="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0"/>
            <a:ext cx="18288000" cy="10287000"/>
          </a:xfrm>
          <a:prstGeom prst="rect">
            <a:avLst/>
          </a:prstGeom>
        </p:spPr>
      </p:pic>
      <p:sp>
        <p:nvSpPr>
          <p:cNvPr id="8" name="Shape 3"/>
          <p:cNvSpPr/>
          <p:nvPr/>
        </p:nvSpPr>
        <p:spPr>
          <a:xfrm>
            <a:off x="1428750" y="3829050"/>
            <a:ext cx="2152650" cy="990600"/>
          </a:xfrm>
          <a:prstGeom prst="roundRect">
            <a:avLst>
              <a:gd name="adj" fmla="val 19231"/>
            </a:avLst>
          </a:prstGeom>
          <a:solidFill>
            <a:srgbClr val="FFFFFF"/>
          </a:solidFill>
          <a:ln w="7620">
            <a:solidFill>
              <a:srgbClr val="B7E7C4"/>
            </a:solidFill>
            <a:prstDash val="solid"/>
          </a:ln>
          <a:effectLst>
            <a:outerShdw blurRad="209550" dist="76200" dir="5400000" algn="bl" rotWithShape="0">
              <a:srgbClr val="0B3D1E">
                <a:alpha val="8000"/>
              </a:srgbClr>
            </a:outerShdw>
          </a:effectLst>
        </p:spPr>
        <p:txBody>
          <a:bodyPr/>
          <a:lstStyle/>
          <a:p>
            <a:endParaRPr lang="en-US"/>
          </a:p>
        </p:txBody>
      </p:sp>
      <p:sp>
        <p:nvSpPr>
          <p:cNvPr id="9" name="Text 4"/>
          <p:cNvSpPr/>
          <p:nvPr/>
        </p:nvSpPr>
        <p:spPr>
          <a:xfrm>
            <a:off x="1821948" y="4087654"/>
            <a:ext cx="1366135" cy="279083"/>
          </a:xfrm>
          <a:prstGeom prst="rect">
            <a:avLst/>
          </a:prstGeom>
          <a:noFill/>
          <a:ln/>
        </p:spPr>
        <p:txBody>
          <a:bodyPr wrap="square" lIns="25400" tIns="25400" rIns="25400" bIns="25400" rtlCol="0" anchor="t">
            <a:normAutofit fontScale="92500" lnSpcReduction="20000"/>
          </a:bodyPr>
          <a:lstStyle/>
          <a:p>
            <a:pPr marL="0" indent="0" algn="ctr">
              <a:lnSpc>
                <a:spcPct val="110000"/>
              </a:lnSpc>
              <a:buNone/>
            </a:pPr>
            <a:r>
              <a:rPr lang="en-US" sz="1725" b="1" dirty="0">
                <a:solidFill>
                  <a:srgbClr val="111418"/>
                </a:solidFill>
                <a:latin typeface="Arial" pitchFamily="34" charset="0"/>
                <a:ea typeface="Arial" pitchFamily="34" charset="-122"/>
                <a:cs typeface="Arial" pitchFamily="34" charset="-120"/>
              </a:rPr>
              <a:t>Confirmation</a:t>
            </a:r>
            <a:endParaRPr lang="en-US" sz="1725" dirty="0"/>
          </a:p>
        </p:txBody>
      </p:sp>
      <p:sp>
        <p:nvSpPr>
          <p:cNvPr id="10" name="Text 5"/>
          <p:cNvSpPr/>
          <p:nvPr/>
        </p:nvSpPr>
        <p:spPr>
          <a:xfrm>
            <a:off x="2279333" y="4385786"/>
            <a:ext cx="451485" cy="213360"/>
          </a:xfrm>
          <a:prstGeom prst="rect">
            <a:avLst/>
          </a:prstGeom>
          <a:noFill/>
          <a:ln/>
        </p:spPr>
        <p:txBody>
          <a:bodyPr wrap="square" lIns="25400" tIns="25400" rIns="25400" bIns="25400" rtlCol="0" anchor="t">
            <a:normAutofit fontScale="92500" lnSpcReduction="10000"/>
          </a:bodyPr>
          <a:lstStyle/>
          <a:p>
            <a:pPr marL="0" indent="0" algn="ctr">
              <a:buNone/>
            </a:pPr>
            <a:r>
              <a:rPr lang="en-US" sz="1200" b="1" kern="0" spc="96" dirty="0">
                <a:solidFill>
                  <a:srgbClr val="0E9F43"/>
                </a:solidFill>
                <a:latin typeface="Arial" pitchFamily="34" charset="0"/>
                <a:ea typeface="Arial" pitchFamily="34" charset="-122"/>
                <a:cs typeface="Arial" pitchFamily="34" charset="-120"/>
              </a:rPr>
              <a:t>CON</a:t>
            </a:r>
            <a:endParaRPr lang="en-US" sz="1200" dirty="0"/>
          </a:p>
        </p:txBody>
      </p:sp>
      <p:sp>
        <p:nvSpPr>
          <p:cNvPr id="11" name="Shape 6"/>
          <p:cNvSpPr/>
          <p:nvPr/>
        </p:nvSpPr>
        <p:spPr>
          <a:xfrm>
            <a:off x="5391150" y="3143250"/>
            <a:ext cx="2381250" cy="1028700"/>
          </a:xfrm>
          <a:prstGeom prst="roundRect">
            <a:avLst>
              <a:gd name="adj" fmla="val 18519"/>
            </a:avLst>
          </a:prstGeom>
          <a:solidFill>
            <a:srgbClr val="FFFFFF"/>
          </a:solidFill>
          <a:ln w="7620">
            <a:solidFill>
              <a:srgbClr val="B7E7C4"/>
            </a:solidFill>
            <a:prstDash val="solid"/>
          </a:ln>
          <a:effectLst>
            <a:outerShdw blurRad="209550" dist="76200" dir="5400000" algn="bl" rotWithShape="0">
              <a:srgbClr val="0B3D1E">
                <a:alpha val="8000"/>
              </a:srgbClr>
            </a:outerShdw>
          </a:effectLst>
        </p:spPr>
        <p:txBody>
          <a:bodyPr/>
          <a:lstStyle/>
          <a:p>
            <a:endParaRPr lang="en-US"/>
          </a:p>
        </p:txBody>
      </p:sp>
      <p:sp>
        <p:nvSpPr>
          <p:cNvPr id="12" name="Text 7"/>
          <p:cNvSpPr/>
          <p:nvPr/>
        </p:nvSpPr>
        <p:spPr>
          <a:xfrm>
            <a:off x="5467100" y="3420904"/>
            <a:ext cx="2229350" cy="279083"/>
          </a:xfrm>
          <a:prstGeom prst="rect">
            <a:avLst/>
          </a:prstGeom>
          <a:noFill/>
          <a:ln/>
        </p:spPr>
        <p:txBody>
          <a:bodyPr wrap="square" lIns="25400" tIns="25400" rIns="25400" bIns="25400" rtlCol="0" anchor="t">
            <a:normAutofit fontScale="92500" lnSpcReduction="20000"/>
          </a:bodyPr>
          <a:lstStyle/>
          <a:p>
            <a:pPr marL="0" indent="0" algn="ctr">
              <a:lnSpc>
                <a:spcPct val="115000"/>
              </a:lnSpc>
              <a:buNone/>
            </a:pPr>
            <a:r>
              <a:rPr lang="en-US" sz="1650" b="1" dirty="0">
                <a:solidFill>
                  <a:srgbClr val="111418"/>
                </a:solidFill>
                <a:latin typeface="Arial" pitchFamily="34" charset="0"/>
                <a:ea typeface="Arial" pitchFamily="34" charset="-122"/>
                <a:cs typeface="Arial" pitchFamily="34" charset="-120"/>
              </a:rPr>
              <a:t>Perceived Usefulness</a:t>
            </a:r>
            <a:endParaRPr lang="en-US" sz="1650" dirty="0"/>
          </a:p>
        </p:txBody>
      </p:sp>
      <p:sp>
        <p:nvSpPr>
          <p:cNvPr id="13" name="Text 8"/>
          <p:cNvSpPr/>
          <p:nvPr/>
        </p:nvSpPr>
        <p:spPr>
          <a:xfrm>
            <a:off x="6425565" y="3719036"/>
            <a:ext cx="312301" cy="213360"/>
          </a:xfrm>
          <a:prstGeom prst="rect">
            <a:avLst/>
          </a:prstGeom>
          <a:noFill/>
          <a:ln/>
        </p:spPr>
        <p:txBody>
          <a:bodyPr wrap="square" lIns="25400" tIns="25400" rIns="25400" bIns="25400" rtlCol="0" anchor="t">
            <a:normAutofit fontScale="92500" lnSpcReduction="10000"/>
          </a:bodyPr>
          <a:lstStyle/>
          <a:p>
            <a:pPr marL="0" indent="0" algn="ctr">
              <a:buNone/>
            </a:pPr>
            <a:r>
              <a:rPr lang="en-US" sz="1200" b="1" kern="0" spc="96" dirty="0">
                <a:solidFill>
                  <a:srgbClr val="0E9F43"/>
                </a:solidFill>
                <a:latin typeface="Arial" pitchFamily="34" charset="0"/>
                <a:ea typeface="Arial" pitchFamily="34" charset="-122"/>
                <a:cs typeface="Arial" pitchFamily="34" charset="-120"/>
              </a:rPr>
              <a:t>PU</a:t>
            </a:r>
            <a:endParaRPr lang="en-US" sz="1200" dirty="0"/>
          </a:p>
        </p:txBody>
      </p:sp>
      <p:sp>
        <p:nvSpPr>
          <p:cNvPr id="14" name="Shape 9"/>
          <p:cNvSpPr/>
          <p:nvPr/>
        </p:nvSpPr>
        <p:spPr>
          <a:xfrm>
            <a:off x="5391150" y="5143500"/>
            <a:ext cx="2381250" cy="1028700"/>
          </a:xfrm>
          <a:prstGeom prst="roundRect">
            <a:avLst>
              <a:gd name="adj" fmla="val 18519"/>
            </a:avLst>
          </a:prstGeom>
          <a:solidFill>
            <a:srgbClr val="FFFFFF"/>
          </a:solidFill>
          <a:ln w="7620">
            <a:solidFill>
              <a:srgbClr val="B7E7C4"/>
            </a:solidFill>
            <a:prstDash val="solid"/>
          </a:ln>
          <a:effectLst>
            <a:outerShdw blurRad="209550" dist="76200" dir="5400000" algn="bl" rotWithShape="0">
              <a:srgbClr val="0B3D1E">
                <a:alpha val="8000"/>
              </a:srgbClr>
            </a:outerShdw>
          </a:effectLst>
        </p:spPr>
        <p:txBody>
          <a:bodyPr/>
          <a:lstStyle/>
          <a:p>
            <a:endParaRPr lang="en-US"/>
          </a:p>
        </p:txBody>
      </p:sp>
      <p:sp>
        <p:nvSpPr>
          <p:cNvPr id="15" name="Text 10"/>
          <p:cNvSpPr/>
          <p:nvPr/>
        </p:nvSpPr>
        <p:spPr>
          <a:xfrm>
            <a:off x="5977414" y="5421154"/>
            <a:ext cx="1208723" cy="279083"/>
          </a:xfrm>
          <a:prstGeom prst="rect">
            <a:avLst/>
          </a:prstGeom>
          <a:noFill/>
          <a:ln/>
        </p:spPr>
        <p:txBody>
          <a:bodyPr wrap="square" lIns="25400" tIns="25400" rIns="25400" bIns="25400" rtlCol="0" anchor="t">
            <a:normAutofit fontScale="92500" lnSpcReduction="20000"/>
          </a:bodyPr>
          <a:lstStyle/>
          <a:p>
            <a:pPr marL="0" indent="0" algn="ctr">
              <a:lnSpc>
                <a:spcPct val="110000"/>
              </a:lnSpc>
              <a:buNone/>
            </a:pPr>
            <a:r>
              <a:rPr lang="en-US" sz="1725" b="1" dirty="0">
                <a:solidFill>
                  <a:srgbClr val="111418"/>
                </a:solidFill>
                <a:latin typeface="Arial" pitchFamily="34" charset="0"/>
                <a:ea typeface="Arial" pitchFamily="34" charset="-122"/>
                <a:cs typeface="Arial" pitchFamily="34" charset="-120"/>
              </a:rPr>
              <a:t>Satisfaction</a:t>
            </a:r>
            <a:endParaRPr lang="en-US" sz="1725" dirty="0"/>
          </a:p>
        </p:txBody>
      </p:sp>
      <p:sp>
        <p:nvSpPr>
          <p:cNvPr id="16" name="Text 11"/>
          <p:cNvSpPr/>
          <p:nvPr/>
        </p:nvSpPr>
        <p:spPr>
          <a:xfrm>
            <a:off x="6382821" y="5719286"/>
            <a:ext cx="397907" cy="213360"/>
          </a:xfrm>
          <a:prstGeom prst="rect">
            <a:avLst/>
          </a:prstGeom>
          <a:noFill/>
          <a:ln/>
        </p:spPr>
        <p:txBody>
          <a:bodyPr wrap="square" lIns="25400" tIns="25400" rIns="25400" bIns="25400" rtlCol="0" anchor="t">
            <a:normAutofit fontScale="92500" lnSpcReduction="10000"/>
          </a:bodyPr>
          <a:lstStyle/>
          <a:p>
            <a:pPr marL="0" indent="0" algn="ctr">
              <a:buNone/>
            </a:pPr>
            <a:r>
              <a:rPr lang="en-US" sz="1200" b="1" kern="0" spc="96" dirty="0">
                <a:solidFill>
                  <a:srgbClr val="0E9F43"/>
                </a:solidFill>
                <a:latin typeface="Arial" pitchFamily="34" charset="0"/>
                <a:ea typeface="Arial" pitchFamily="34" charset="-122"/>
                <a:cs typeface="Arial" pitchFamily="34" charset="-120"/>
              </a:rPr>
              <a:t>SAT</a:t>
            </a:r>
            <a:endParaRPr lang="en-US" sz="1200" dirty="0"/>
          </a:p>
        </p:txBody>
      </p:sp>
      <p:sp>
        <p:nvSpPr>
          <p:cNvPr id="17" name="Shape 12"/>
          <p:cNvSpPr/>
          <p:nvPr/>
        </p:nvSpPr>
        <p:spPr>
          <a:xfrm>
            <a:off x="11811000" y="3752850"/>
            <a:ext cx="2552700" cy="1600200"/>
          </a:xfrm>
          <a:prstGeom prst="roundRect">
            <a:avLst>
              <a:gd name="adj" fmla="val 13095"/>
            </a:avLst>
          </a:prstGeom>
          <a:solidFill>
            <a:srgbClr val="0F5A2C"/>
          </a:solidFill>
          <a:ln/>
          <a:effectLst>
            <a:outerShdw blurRad="323850" dist="152400" dir="5400000" algn="bl" rotWithShape="0">
              <a:srgbClr val="0B3D1E">
                <a:alpha val="24000"/>
              </a:srgbClr>
            </a:outerShdw>
          </a:effectLst>
        </p:spPr>
        <p:txBody>
          <a:bodyPr/>
          <a:lstStyle/>
          <a:p>
            <a:endParaRPr lang="en-US"/>
          </a:p>
        </p:txBody>
      </p:sp>
      <p:sp>
        <p:nvSpPr>
          <p:cNvPr id="18" name="Text 13"/>
          <p:cNvSpPr/>
          <p:nvPr/>
        </p:nvSpPr>
        <p:spPr>
          <a:xfrm>
            <a:off x="11863977" y="4295775"/>
            <a:ext cx="2446627" cy="300990"/>
          </a:xfrm>
          <a:prstGeom prst="rect">
            <a:avLst/>
          </a:prstGeom>
          <a:noFill/>
          <a:ln/>
        </p:spPr>
        <p:txBody>
          <a:bodyPr wrap="square" lIns="25400" tIns="25400" rIns="25400" bIns="25400" rtlCol="0" anchor="t">
            <a:normAutofit fontScale="92500" lnSpcReduction="20000"/>
          </a:bodyPr>
          <a:lstStyle/>
          <a:p>
            <a:pPr marL="0" indent="0" algn="ctr">
              <a:lnSpc>
                <a:spcPct val="115000"/>
              </a:lnSpc>
              <a:buNone/>
            </a:pPr>
            <a:r>
              <a:rPr lang="en-US" sz="1800" b="1" dirty="0">
                <a:solidFill>
                  <a:srgbClr val="FFFFFF"/>
                </a:solidFill>
                <a:latin typeface="Arial" pitchFamily="34" charset="0"/>
                <a:ea typeface="Arial" pitchFamily="34" charset="-122"/>
                <a:cs typeface="Arial" pitchFamily="34" charset="-120"/>
              </a:rPr>
              <a:t>Continuance Intention</a:t>
            </a:r>
            <a:endParaRPr lang="en-US" sz="1800" dirty="0"/>
          </a:p>
        </p:txBody>
      </p:sp>
      <p:sp>
        <p:nvSpPr>
          <p:cNvPr id="19" name="Text 14"/>
          <p:cNvSpPr/>
          <p:nvPr/>
        </p:nvSpPr>
        <p:spPr>
          <a:xfrm>
            <a:off x="12957810" y="4634865"/>
            <a:ext cx="259080" cy="213360"/>
          </a:xfrm>
          <a:prstGeom prst="rect">
            <a:avLst/>
          </a:prstGeom>
          <a:noFill/>
          <a:ln/>
        </p:spPr>
        <p:txBody>
          <a:bodyPr wrap="square" lIns="25400" tIns="25400" rIns="25400" bIns="25400" rtlCol="0" anchor="t">
            <a:normAutofit fontScale="92500" lnSpcReduction="10000"/>
          </a:bodyPr>
          <a:lstStyle/>
          <a:p>
            <a:pPr marL="0" indent="0" algn="ctr">
              <a:buNone/>
            </a:pPr>
            <a:r>
              <a:rPr lang="en-US" sz="1200" b="1" kern="0" spc="120" dirty="0">
                <a:solidFill>
                  <a:srgbClr val="4DC97A"/>
                </a:solidFill>
                <a:latin typeface="Arial" pitchFamily="34" charset="0"/>
                <a:ea typeface="Arial" pitchFamily="34" charset="-122"/>
                <a:cs typeface="Arial" pitchFamily="34" charset="-120"/>
              </a:rPr>
              <a:t>CI</a:t>
            </a:r>
            <a:endParaRPr lang="en-US" sz="1200" dirty="0"/>
          </a:p>
        </p:txBody>
      </p:sp>
      <p:sp>
        <p:nvSpPr>
          <p:cNvPr id="20" name="Shape 15"/>
          <p:cNvSpPr/>
          <p:nvPr/>
        </p:nvSpPr>
        <p:spPr>
          <a:xfrm>
            <a:off x="1428750" y="7600950"/>
            <a:ext cx="2228850" cy="990600"/>
          </a:xfrm>
          <a:prstGeom prst="roundRect">
            <a:avLst>
              <a:gd name="adj" fmla="val 19231"/>
            </a:avLst>
          </a:prstGeom>
          <a:solidFill>
            <a:srgbClr val="FFFFFF"/>
          </a:solidFill>
          <a:ln w="7620">
            <a:solidFill>
              <a:srgbClr val="F7C9B8"/>
            </a:solidFill>
            <a:prstDash val="solid"/>
          </a:ln>
          <a:effectLst>
            <a:outerShdw blurRad="209550" dist="76200" dir="5400000" algn="bl" rotWithShape="0">
              <a:srgbClr val="0B3D1E">
                <a:alpha val="8000"/>
              </a:srgbClr>
            </a:outerShdw>
          </a:effectLst>
        </p:spPr>
        <p:txBody>
          <a:bodyPr/>
          <a:lstStyle/>
          <a:p>
            <a:endParaRPr lang="en-US"/>
          </a:p>
        </p:txBody>
      </p:sp>
      <p:sp>
        <p:nvSpPr>
          <p:cNvPr id="21" name="Text 16"/>
          <p:cNvSpPr/>
          <p:nvPr/>
        </p:nvSpPr>
        <p:spPr>
          <a:xfrm>
            <a:off x="1654552" y="7870031"/>
            <a:ext cx="1777246" cy="258128"/>
          </a:xfrm>
          <a:prstGeom prst="rect">
            <a:avLst/>
          </a:prstGeom>
          <a:noFill/>
          <a:ln/>
        </p:spPr>
        <p:txBody>
          <a:bodyPr wrap="square" lIns="25400" tIns="25400" rIns="25400" bIns="25400" rtlCol="0" anchor="t">
            <a:normAutofit fontScale="92500" lnSpcReduction="20000"/>
          </a:bodyPr>
          <a:lstStyle/>
          <a:p>
            <a:pPr marL="0" indent="0" algn="ctr">
              <a:lnSpc>
                <a:spcPct val="110000"/>
              </a:lnSpc>
              <a:buNone/>
            </a:pPr>
            <a:r>
              <a:rPr lang="en-US" sz="1575" b="1" dirty="0">
                <a:solidFill>
                  <a:srgbClr val="111418"/>
                </a:solidFill>
                <a:latin typeface="Arial" pitchFamily="34" charset="0"/>
                <a:ea typeface="Arial" pitchFamily="34" charset="-122"/>
                <a:cs typeface="Arial" pitchFamily="34" charset="-120"/>
              </a:rPr>
              <a:t>Trust and Security</a:t>
            </a:r>
            <a:endParaRPr lang="en-US" sz="1575" dirty="0"/>
          </a:p>
        </p:txBody>
      </p:sp>
      <p:sp>
        <p:nvSpPr>
          <p:cNvPr id="22" name="Text 17"/>
          <p:cNvSpPr/>
          <p:nvPr/>
        </p:nvSpPr>
        <p:spPr>
          <a:xfrm>
            <a:off x="2338507" y="8147209"/>
            <a:ext cx="409218" cy="213360"/>
          </a:xfrm>
          <a:prstGeom prst="rect">
            <a:avLst/>
          </a:prstGeom>
          <a:noFill/>
          <a:ln/>
        </p:spPr>
        <p:txBody>
          <a:bodyPr wrap="square" lIns="25400" tIns="25400" rIns="25400" bIns="25400" rtlCol="0" anchor="t">
            <a:normAutofit fontScale="92500" lnSpcReduction="10000"/>
          </a:bodyPr>
          <a:lstStyle/>
          <a:p>
            <a:pPr marL="0" indent="0" algn="ctr">
              <a:buNone/>
            </a:pPr>
            <a:r>
              <a:rPr lang="en-US" sz="1200" b="1" kern="0" spc="96" dirty="0">
                <a:solidFill>
                  <a:srgbClr val="F06A3B"/>
                </a:solidFill>
                <a:latin typeface="Arial" pitchFamily="34" charset="0"/>
                <a:ea typeface="Arial" pitchFamily="34" charset="-122"/>
                <a:cs typeface="Arial" pitchFamily="34" charset="-120"/>
              </a:rPr>
              <a:t>TSP</a:t>
            </a:r>
            <a:endParaRPr lang="en-US" sz="1200" dirty="0"/>
          </a:p>
        </p:txBody>
      </p:sp>
      <p:sp>
        <p:nvSpPr>
          <p:cNvPr id="23" name="Shape 18"/>
          <p:cNvSpPr/>
          <p:nvPr/>
        </p:nvSpPr>
        <p:spPr>
          <a:xfrm>
            <a:off x="4476750" y="7600950"/>
            <a:ext cx="2228850" cy="990600"/>
          </a:xfrm>
          <a:prstGeom prst="roundRect">
            <a:avLst>
              <a:gd name="adj" fmla="val 19231"/>
            </a:avLst>
          </a:prstGeom>
          <a:solidFill>
            <a:srgbClr val="FFFFFF"/>
          </a:solidFill>
          <a:ln w="7620">
            <a:solidFill>
              <a:srgbClr val="D9DDE2"/>
            </a:solidFill>
            <a:prstDash val="solid"/>
          </a:ln>
          <a:effectLst>
            <a:outerShdw blurRad="209550" dist="76200" dir="5400000" algn="bl" rotWithShape="0">
              <a:srgbClr val="0B3D1E">
                <a:alpha val="6000"/>
              </a:srgbClr>
            </a:outerShdw>
          </a:effectLst>
        </p:spPr>
        <p:txBody>
          <a:bodyPr/>
          <a:lstStyle/>
          <a:p>
            <a:endParaRPr lang="en-US"/>
          </a:p>
        </p:txBody>
      </p:sp>
      <p:sp>
        <p:nvSpPr>
          <p:cNvPr id="24" name="Text 19"/>
          <p:cNvSpPr/>
          <p:nvPr/>
        </p:nvSpPr>
        <p:spPr>
          <a:xfrm>
            <a:off x="5297329" y="7859554"/>
            <a:ext cx="587693" cy="279083"/>
          </a:xfrm>
          <a:prstGeom prst="rect">
            <a:avLst/>
          </a:prstGeom>
          <a:noFill/>
          <a:ln/>
        </p:spPr>
        <p:txBody>
          <a:bodyPr wrap="square" lIns="25400" tIns="25400" rIns="25400" bIns="25400" rtlCol="0" anchor="t">
            <a:normAutofit fontScale="92500" lnSpcReduction="20000"/>
          </a:bodyPr>
          <a:lstStyle/>
          <a:p>
            <a:pPr marL="0" indent="0" algn="ctr">
              <a:lnSpc>
                <a:spcPct val="110000"/>
              </a:lnSpc>
              <a:buNone/>
            </a:pPr>
            <a:r>
              <a:rPr lang="en-US" sz="1725" b="1" dirty="0">
                <a:solidFill>
                  <a:srgbClr val="111418"/>
                </a:solidFill>
                <a:latin typeface="Arial" pitchFamily="34" charset="0"/>
                <a:ea typeface="Arial" pitchFamily="34" charset="-122"/>
                <a:cs typeface="Arial" pitchFamily="34" charset="-120"/>
              </a:rPr>
              <a:t>Habit</a:t>
            </a:r>
            <a:endParaRPr lang="en-US" sz="1725" dirty="0"/>
          </a:p>
        </p:txBody>
      </p:sp>
      <p:sp>
        <p:nvSpPr>
          <p:cNvPr id="25" name="Text 20"/>
          <p:cNvSpPr/>
          <p:nvPr/>
        </p:nvSpPr>
        <p:spPr>
          <a:xfrm>
            <a:off x="5378053" y="8157686"/>
            <a:ext cx="426244" cy="213360"/>
          </a:xfrm>
          <a:prstGeom prst="rect">
            <a:avLst/>
          </a:prstGeom>
          <a:noFill/>
          <a:ln/>
        </p:spPr>
        <p:txBody>
          <a:bodyPr wrap="square" lIns="25400" tIns="25400" rIns="25400" bIns="25400" rtlCol="0" anchor="t">
            <a:normAutofit fontScale="92500" lnSpcReduction="10000"/>
          </a:bodyPr>
          <a:lstStyle/>
          <a:p>
            <a:pPr marL="0" indent="0" algn="ctr">
              <a:buNone/>
            </a:pPr>
            <a:r>
              <a:rPr lang="en-US" sz="1200" b="1" kern="0" spc="96" dirty="0">
                <a:solidFill>
                  <a:srgbClr val="5C6570"/>
                </a:solidFill>
                <a:latin typeface="Arial" pitchFamily="34" charset="0"/>
                <a:ea typeface="Arial" pitchFamily="34" charset="-122"/>
                <a:cs typeface="Arial" pitchFamily="34" charset="-120"/>
              </a:rPr>
              <a:t>HAB</a:t>
            </a:r>
            <a:endParaRPr lang="en-US" sz="1200" dirty="0"/>
          </a:p>
        </p:txBody>
      </p:sp>
      <p:sp>
        <p:nvSpPr>
          <p:cNvPr id="26" name="Shape 21"/>
          <p:cNvSpPr/>
          <p:nvPr/>
        </p:nvSpPr>
        <p:spPr>
          <a:xfrm>
            <a:off x="7524750" y="7600950"/>
            <a:ext cx="2228850" cy="990600"/>
          </a:xfrm>
          <a:prstGeom prst="roundRect">
            <a:avLst>
              <a:gd name="adj" fmla="val 19231"/>
            </a:avLst>
          </a:prstGeom>
          <a:solidFill>
            <a:srgbClr val="FFFFFF"/>
          </a:solidFill>
          <a:ln w="7620">
            <a:solidFill>
              <a:srgbClr val="D9DDE2"/>
            </a:solidFill>
            <a:prstDash val="solid"/>
          </a:ln>
          <a:effectLst>
            <a:outerShdw blurRad="209550" dist="76200" dir="5400000" algn="bl" rotWithShape="0">
              <a:srgbClr val="0B3D1E">
                <a:alpha val="6000"/>
              </a:srgbClr>
            </a:outerShdw>
          </a:effectLst>
        </p:spPr>
        <p:txBody>
          <a:bodyPr/>
          <a:lstStyle/>
          <a:p>
            <a:endParaRPr lang="en-US"/>
          </a:p>
        </p:txBody>
      </p:sp>
      <p:sp>
        <p:nvSpPr>
          <p:cNvPr id="27" name="Text 22"/>
          <p:cNvSpPr/>
          <p:nvPr/>
        </p:nvSpPr>
        <p:spPr>
          <a:xfrm>
            <a:off x="7825466" y="7864793"/>
            <a:ext cx="1627418" cy="268605"/>
          </a:xfrm>
          <a:prstGeom prst="rect">
            <a:avLst/>
          </a:prstGeom>
          <a:noFill/>
          <a:ln/>
        </p:spPr>
        <p:txBody>
          <a:bodyPr wrap="square" lIns="25400" tIns="25400" rIns="25400" bIns="25400" rtlCol="0" anchor="t">
            <a:normAutofit fontScale="92500" lnSpcReduction="20000"/>
          </a:bodyPr>
          <a:lstStyle/>
          <a:p>
            <a:pPr marL="0" indent="0" algn="ctr">
              <a:lnSpc>
                <a:spcPct val="110000"/>
              </a:lnSpc>
              <a:buNone/>
            </a:pPr>
            <a:r>
              <a:rPr lang="en-US" sz="1650" b="1" dirty="0">
                <a:solidFill>
                  <a:srgbClr val="111418"/>
                </a:solidFill>
                <a:latin typeface="Arial" pitchFamily="34" charset="0"/>
                <a:ea typeface="Arial" pitchFamily="34" charset="-122"/>
                <a:cs typeface="Arial" pitchFamily="34" charset="-120"/>
              </a:rPr>
              <a:t>Social Influence</a:t>
            </a:r>
            <a:endParaRPr lang="en-US" sz="1650" dirty="0"/>
          </a:p>
        </p:txBody>
      </p:sp>
      <p:sp>
        <p:nvSpPr>
          <p:cNvPr id="28" name="Text 23"/>
          <p:cNvSpPr/>
          <p:nvPr/>
        </p:nvSpPr>
        <p:spPr>
          <a:xfrm>
            <a:off x="8516779" y="8152448"/>
            <a:ext cx="244673" cy="213360"/>
          </a:xfrm>
          <a:prstGeom prst="rect">
            <a:avLst/>
          </a:prstGeom>
          <a:noFill/>
          <a:ln/>
        </p:spPr>
        <p:txBody>
          <a:bodyPr wrap="square" lIns="25400" tIns="25400" rIns="25400" bIns="25400" rtlCol="0" anchor="t">
            <a:normAutofit fontScale="92500" lnSpcReduction="10000"/>
          </a:bodyPr>
          <a:lstStyle/>
          <a:p>
            <a:pPr marL="0" indent="0" algn="ctr">
              <a:buNone/>
            </a:pPr>
            <a:r>
              <a:rPr lang="en-US" sz="1200" b="1" kern="0" spc="96" dirty="0">
                <a:solidFill>
                  <a:srgbClr val="5C6570"/>
                </a:solidFill>
                <a:latin typeface="Arial" pitchFamily="34" charset="0"/>
                <a:ea typeface="Arial" pitchFamily="34" charset="-122"/>
                <a:cs typeface="Arial" pitchFamily="34" charset="-120"/>
              </a:rPr>
              <a:t>SI</a:t>
            </a:r>
            <a:endParaRPr lang="en-US" sz="1200" dirty="0"/>
          </a:p>
        </p:txBody>
      </p:sp>
      <p:sp>
        <p:nvSpPr>
          <p:cNvPr id="29" name="Shape 24"/>
          <p:cNvSpPr/>
          <p:nvPr/>
        </p:nvSpPr>
        <p:spPr>
          <a:xfrm>
            <a:off x="10572750" y="7600950"/>
            <a:ext cx="2228850" cy="990600"/>
          </a:xfrm>
          <a:prstGeom prst="roundRect">
            <a:avLst>
              <a:gd name="adj" fmla="val 19231"/>
            </a:avLst>
          </a:prstGeom>
          <a:solidFill>
            <a:srgbClr val="FFFFFF"/>
          </a:solidFill>
          <a:ln w="7620">
            <a:solidFill>
              <a:srgbClr val="D9DDE2"/>
            </a:solidFill>
            <a:prstDash val="solid"/>
          </a:ln>
          <a:effectLst>
            <a:outerShdw blurRad="209550" dist="76200" dir="5400000" algn="bl" rotWithShape="0">
              <a:srgbClr val="0B3D1E">
                <a:alpha val="6000"/>
              </a:srgbClr>
            </a:outerShdw>
          </a:effectLst>
        </p:spPr>
        <p:txBody>
          <a:bodyPr/>
          <a:lstStyle/>
          <a:p>
            <a:endParaRPr lang="en-US"/>
          </a:p>
        </p:txBody>
      </p:sp>
      <p:sp>
        <p:nvSpPr>
          <p:cNvPr id="30" name="Text 25"/>
          <p:cNvSpPr/>
          <p:nvPr/>
        </p:nvSpPr>
        <p:spPr>
          <a:xfrm>
            <a:off x="10610880" y="7870031"/>
            <a:ext cx="2152471" cy="258128"/>
          </a:xfrm>
          <a:prstGeom prst="rect">
            <a:avLst/>
          </a:prstGeom>
          <a:noFill/>
          <a:ln/>
        </p:spPr>
        <p:txBody>
          <a:bodyPr wrap="square" lIns="25400" tIns="25400" rIns="25400" bIns="25400" rtlCol="0" anchor="t">
            <a:normAutofit fontScale="92500" lnSpcReduction="20000"/>
          </a:bodyPr>
          <a:lstStyle/>
          <a:p>
            <a:pPr marL="0" indent="0" algn="ctr">
              <a:lnSpc>
                <a:spcPct val="110000"/>
              </a:lnSpc>
              <a:buNone/>
            </a:pPr>
            <a:r>
              <a:rPr lang="en-US" sz="1575" b="1" dirty="0">
                <a:solidFill>
                  <a:srgbClr val="111418"/>
                </a:solidFill>
                <a:latin typeface="Arial" pitchFamily="34" charset="0"/>
                <a:ea typeface="Arial" pitchFamily="34" charset="-122"/>
                <a:cs typeface="Arial" pitchFamily="34" charset="-120"/>
              </a:rPr>
              <a:t>Facilitating Conditions</a:t>
            </a:r>
            <a:endParaRPr lang="en-US" sz="1575" dirty="0"/>
          </a:p>
        </p:txBody>
      </p:sp>
      <p:sp>
        <p:nvSpPr>
          <p:cNvPr id="31" name="Text 26"/>
          <p:cNvSpPr/>
          <p:nvPr/>
        </p:nvSpPr>
        <p:spPr>
          <a:xfrm>
            <a:off x="11535252" y="8147209"/>
            <a:ext cx="303847" cy="213360"/>
          </a:xfrm>
          <a:prstGeom prst="rect">
            <a:avLst/>
          </a:prstGeom>
          <a:noFill/>
          <a:ln/>
        </p:spPr>
        <p:txBody>
          <a:bodyPr wrap="square" lIns="25400" tIns="25400" rIns="25400" bIns="25400" rtlCol="0" anchor="t">
            <a:normAutofit fontScale="92500" lnSpcReduction="10000"/>
          </a:bodyPr>
          <a:lstStyle/>
          <a:p>
            <a:pPr marL="0" indent="0" algn="ctr">
              <a:buNone/>
            </a:pPr>
            <a:r>
              <a:rPr lang="en-US" sz="1200" b="1" kern="0" spc="96" dirty="0">
                <a:solidFill>
                  <a:srgbClr val="5C6570"/>
                </a:solidFill>
                <a:latin typeface="Arial" pitchFamily="34" charset="0"/>
                <a:ea typeface="Arial" pitchFamily="34" charset="-122"/>
                <a:cs typeface="Arial" pitchFamily="34" charset="-120"/>
              </a:rPr>
              <a:t>FC</a:t>
            </a:r>
            <a:endParaRPr lang="en-US" sz="1200" dirty="0"/>
          </a:p>
        </p:txBody>
      </p:sp>
      <p:sp>
        <p:nvSpPr>
          <p:cNvPr id="32" name="Shape 27"/>
          <p:cNvSpPr/>
          <p:nvPr/>
        </p:nvSpPr>
        <p:spPr>
          <a:xfrm>
            <a:off x="914400" y="9195435"/>
            <a:ext cx="133350" cy="133350"/>
          </a:xfrm>
          <a:prstGeom prst="ellipse">
            <a:avLst/>
          </a:prstGeom>
          <a:solidFill>
            <a:srgbClr val="0E9F43"/>
          </a:solidFill>
          <a:ln/>
        </p:spPr>
        <p:txBody>
          <a:bodyPr/>
          <a:lstStyle/>
          <a:p>
            <a:endParaRPr lang="en-US"/>
          </a:p>
        </p:txBody>
      </p:sp>
      <p:sp>
        <p:nvSpPr>
          <p:cNvPr id="33" name="Text 28"/>
          <p:cNvSpPr/>
          <p:nvPr/>
        </p:nvSpPr>
        <p:spPr>
          <a:xfrm>
            <a:off x="1143000" y="9151620"/>
            <a:ext cx="923092" cy="259080"/>
          </a:xfrm>
          <a:prstGeom prst="rect">
            <a:avLst/>
          </a:prstGeom>
          <a:noFill/>
          <a:ln/>
        </p:spPr>
        <p:txBody>
          <a:bodyPr wrap="square" lIns="25400" tIns="25400" rIns="25400" bIns="25400" rtlCol="0" anchor="t">
            <a:normAutofit fontScale="92500" lnSpcReduction="10000"/>
          </a:bodyPr>
          <a:lstStyle/>
          <a:p>
            <a:pPr marL="0" indent="0" algn="l">
              <a:buNone/>
            </a:pPr>
            <a:r>
              <a:rPr lang="en-US" sz="1500" b="1" dirty="0">
                <a:solidFill>
                  <a:srgbClr val="2B3139"/>
                </a:solidFill>
                <a:latin typeface="Arial" pitchFamily="34" charset="0"/>
                <a:ea typeface="Arial" pitchFamily="34" charset="-122"/>
                <a:cs typeface="Arial" pitchFamily="34" charset="-120"/>
              </a:rPr>
              <a:t>ECM core</a:t>
            </a:r>
            <a:endParaRPr lang="en-US" sz="1500" dirty="0"/>
          </a:p>
        </p:txBody>
      </p:sp>
      <p:sp>
        <p:nvSpPr>
          <p:cNvPr id="34" name="Shape 29"/>
          <p:cNvSpPr/>
          <p:nvPr/>
        </p:nvSpPr>
        <p:spPr>
          <a:xfrm>
            <a:off x="2275642" y="9195435"/>
            <a:ext cx="133350" cy="133350"/>
          </a:xfrm>
          <a:prstGeom prst="ellipse">
            <a:avLst/>
          </a:prstGeom>
          <a:solidFill>
            <a:srgbClr val="9AA6B2"/>
          </a:solidFill>
          <a:ln/>
        </p:spPr>
        <p:txBody>
          <a:bodyPr/>
          <a:lstStyle/>
          <a:p>
            <a:endParaRPr lang="en-US"/>
          </a:p>
        </p:txBody>
      </p:sp>
      <p:sp>
        <p:nvSpPr>
          <p:cNvPr id="35" name="Text 30"/>
          <p:cNvSpPr/>
          <p:nvPr/>
        </p:nvSpPr>
        <p:spPr>
          <a:xfrm>
            <a:off x="2504242" y="9151620"/>
            <a:ext cx="1754719"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2B3139"/>
                </a:solidFill>
                <a:latin typeface="Arial" pitchFamily="34" charset="0"/>
                <a:ea typeface="Arial" pitchFamily="34" charset="-122"/>
                <a:cs typeface="Arial" pitchFamily="34" charset="-120"/>
              </a:rPr>
              <a:t>UTAUT2 extension</a:t>
            </a:r>
            <a:endParaRPr lang="en-US" sz="1500" dirty="0"/>
          </a:p>
        </p:txBody>
      </p:sp>
      <p:sp>
        <p:nvSpPr>
          <p:cNvPr id="36" name="Shape 31"/>
          <p:cNvSpPr/>
          <p:nvPr/>
        </p:nvSpPr>
        <p:spPr>
          <a:xfrm>
            <a:off x="4385191" y="9195435"/>
            <a:ext cx="133350" cy="133350"/>
          </a:xfrm>
          <a:prstGeom prst="ellipse">
            <a:avLst/>
          </a:prstGeom>
          <a:solidFill>
            <a:srgbClr val="F06A3B"/>
          </a:solidFill>
          <a:ln/>
        </p:spPr>
        <p:txBody>
          <a:bodyPr/>
          <a:lstStyle/>
          <a:p>
            <a:endParaRPr lang="en-US"/>
          </a:p>
        </p:txBody>
      </p:sp>
      <p:sp>
        <p:nvSpPr>
          <p:cNvPr id="37" name="Text 32"/>
          <p:cNvSpPr/>
          <p:nvPr/>
        </p:nvSpPr>
        <p:spPr>
          <a:xfrm>
            <a:off x="4613791" y="9151620"/>
            <a:ext cx="1424809" cy="259080"/>
          </a:xfrm>
          <a:prstGeom prst="rect">
            <a:avLst/>
          </a:prstGeom>
          <a:noFill/>
          <a:ln/>
        </p:spPr>
        <p:txBody>
          <a:bodyPr wrap="square" lIns="25400" tIns="25400" rIns="25400" bIns="25400" rtlCol="0" anchor="t">
            <a:normAutofit fontScale="92500" lnSpcReduction="10000"/>
          </a:bodyPr>
          <a:lstStyle/>
          <a:p>
            <a:pPr marL="0" indent="0" algn="l">
              <a:buNone/>
            </a:pPr>
            <a:r>
              <a:rPr lang="en-US" sz="1500" b="1" dirty="0">
                <a:solidFill>
                  <a:srgbClr val="2B3139"/>
                </a:solidFill>
                <a:latin typeface="Arial" pitchFamily="34" charset="0"/>
                <a:ea typeface="Arial" pitchFamily="34" charset="-122"/>
                <a:cs typeface="Arial" pitchFamily="34" charset="-120"/>
              </a:rPr>
              <a:t>Trust extension</a:t>
            </a:r>
            <a:endParaRPr lang="en-US" sz="1500" dirty="0"/>
          </a:p>
        </p:txBody>
      </p:sp>
      <p:sp>
        <p:nvSpPr>
          <p:cNvPr id="38" name="Text 33"/>
          <p:cNvSpPr/>
          <p:nvPr/>
        </p:nvSpPr>
        <p:spPr>
          <a:xfrm>
            <a:off x="12269986" y="9144000"/>
            <a:ext cx="5613975" cy="274320"/>
          </a:xfrm>
          <a:prstGeom prst="rect">
            <a:avLst/>
          </a:prstGeom>
          <a:noFill/>
          <a:ln/>
        </p:spPr>
        <p:txBody>
          <a:bodyPr wrap="square" lIns="25400" tIns="25400" rIns="25400" bIns="25400" rtlCol="0" anchor="t">
            <a:normAutofit lnSpcReduction="10000"/>
          </a:bodyPr>
          <a:lstStyle/>
          <a:p>
            <a:pPr marL="0" indent="0" algn="l">
              <a:buNone/>
            </a:pPr>
            <a:r>
              <a:rPr lang="en-US" sz="1575" b="1" dirty="0">
                <a:solidFill>
                  <a:srgbClr val="5C6570"/>
                </a:solidFill>
                <a:latin typeface="Arial" pitchFamily="34" charset="0"/>
                <a:ea typeface="Arial" pitchFamily="34" charset="-122"/>
                <a:cs typeface="Arial" pitchFamily="34" charset="-120"/>
              </a:rPr>
              <a:t>Hypotheses: H1 to H9 test each path shown in the model.</a:t>
            </a:r>
            <a:endParaRPr lang="en-US" sz="1575" dirty="0"/>
          </a:p>
        </p:txBody>
      </p:sp>
      <p:sp>
        <p:nvSpPr>
          <p:cNvPr id="39" name="Text 34"/>
          <p:cNvSpPr/>
          <p:nvPr/>
        </p:nvSpPr>
        <p:spPr>
          <a:xfrm>
            <a:off x="914400" y="9570720"/>
            <a:ext cx="18105120"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8A929C"/>
                </a:solidFill>
                <a:latin typeface="Arial" pitchFamily="34" charset="0"/>
                <a:ea typeface="Arial" pitchFamily="34" charset="-122"/>
                <a:cs typeface="Arial" pitchFamily="34" charset="-120"/>
              </a:rPr>
              <a:t>Gaianand Ramnarace | Final Presentation | 3</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4000"/>
          </a:blip>
          <a:stretch>
            <a:fillRect/>
          </a:stretch>
        </p:blipFill>
        <p:spPr>
          <a:xfrm>
            <a:off x="15354300" y="7353300"/>
            <a:ext cx="3619500" cy="3619500"/>
          </a:xfrm>
          <a:prstGeom prst="rect">
            <a:avLst/>
          </a:prstGeom>
        </p:spPr>
      </p:pic>
      <p:sp>
        <p:nvSpPr>
          <p:cNvPr id="3" name="Text 0"/>
          <p:cNvSpPr/>
          <p:nvPr/>
        </p:nvSpPr>
        <p:spPr>
          <a:xfrm>
            <a:off x="914400" y="609600"/>
            <a:ext cx="7307140" cy="53185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600" b="1" kern="0" spc="-36" dirty="0">
                <a:solidFill>
                  <a:srgbClr val="111418"/>
                </a:solidFill>
                <a:latin typeface="Arial" pitchFamily="34" charset="0"/>
                <a:ea typeface="Arial" pitchFamily="34" charset="-122"/>
                <a:cs typeface="Arial" pitchFamily="34" charset="-120"/>
              </a:rPr>
              <a:t>Methodology and Sample</a:t>
            </a:r>
            <a:endParaRPr lang="en-US" sz="3600" dirty="0"/>
          </a:p>
        </p:txBody>
      </p:sp>
      <p:sp>
        <p:nvSpPr>
          <p:cNvPr id="4" name="Text 1"/>
          <p:cNvSpPr/>
          <p:nvPr/>
        </p:nvSpPr>
        <p:spPr>
          <a:xfrm>
            <a:off x="914400" y="1217652"/>
            <a:ext cx="7307140" cy="359569"/>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5C6570"/>
                </a:solidFill>
                <a:latin typeface="Arial" pitchFamily="34" charset="0"/>
                <a:ea typeface="Arial" pitchFamily="34" charset="-122"/>
                <a:cs typeface="Arial" pitchFamily="34" charset="-120"/>
              </a:rPr>
              <a:t>Quantitative survey data were analysed using SmartPLS 4.</a:t>
            </a:r>
            <a:endParaRPr lang="en-US" sz="1875" dirty="0"/>
          </a:p>
        </p:txBody>
      </p:sp>
      <p:sp>
        <p:nvSpPr>
          <p:cNvPr id="5" name="Text 2"/>
          <p:cNvSpPr/>
          <p:nvPr/>
        </p:nvSpPr>
        <p:spPr>
          <a:xfrm>
            <a:off x="16543854" y="763905"/>
            <a:ext cx="334447"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99" dirty="0">
                <a:solidFill>
                  <a:srgbClr val="B5BCC4"/>
                </a:solidFill>
                <a:latin typeface="Arial" pitchFamily="34" charset="0"/>
                <a:ea typeface="Arial" pitchFamily="34" charset="-122"/>
                <a:cs typeface="Arial" pitchFamily="34" charset="-120"/>
              </a:rPr>
              <a:t>04</a:t>
            </a:r>
            <a:endParaRPr lang="en-US" sz="1650" dirty="0"/>
          </a:p>
        </p:txBody>
      </p:sp>
      <p:pic>
        <p:nvPicPr>
          <p:cNvPr id="6" name="Image 1" descr="preencoded.png"/>
          <p:cNvPicPr>
            <a:picLocks noChangeAspect="1"/>
          </p:cNvPicPr>
          <p:nvPr/>
        </p:nvPicPr>
        <p:blipFill>
          <a:blip r:embed="rId3"/>
          <a:stretch>
            <a:fillRect/>
          </a:stretch>
        </p:blipFill>
        <p:spPr>
          <a:xfrm>
            <a:off x="16935450" y="666750"/>
            <a:ext cx="438150" cy="438150"/>
          </a:xfrm>
          <a:prstGeom prst="rect">
            <a:avLst/>
          </a:prstGeom>
        </p:spPr>
      </p:pic>
      <p:sp>
        <p:nvSpPr>
          <p:cNvPr id="7" name="Shape 3"/>
          <p:cNvSpPr/>
          <p:nvPr/>
        </p:nvSpPr>
        <p:spPr>
          <a:xfrm>
            <a:off x="914400" y="1767721"/>
            <a:ext cx="16459200" cy="9525"/>
          </a:xfrm>
          <a:prstGeom prst="rect">
            <a:avLst/>
          </a:prstGeom>
          <a:solidFill>
            <a:srgbClr val="D9DDE2"/>
          </a:solidFill>
          <a:ln/>
        </p:spPr>
        <p:txBody>
          <a:bodyPr/>
          <a:lstStyle/>
          <a:p>
            <a:endParaRPr lang="en-US"/>
          </a:p>
        </p:txBody>
      </p:sp>
      <p:sp>
        <p:nvSpPr>
          <p:cNvPr id="8" name="Shape 4"/>
          <p:cNvSpPr/>
          <p:nvPr/>
        </p:nvSpPr>
        <p:spPr>
          <a:xfrm>
            <a:off x="914400" y="3481269"/>
            <a:ext cx="47625" cy="228600"/>
          </a:xfrm>
          <a:prstGeom prst="roundRect">
            <a:avLst>
              <a:gd name="adj" fmla="val 50000"/>
            </a:avLst>
          </a:prstGeom>
          <a:gradFill rotWithShape="1">
            <a:gsLst>
              <a:gs pos="0">
                <a:srgbClr val="14B24B">
                  <a:alpha val="100000"/>
                </a:srgbClr>
              </a:gs>
              <a:gs pos="100000">
                <a:srgbClr val="0F5A2C">
                  <a:alpha val="100000"/>
                </a:srgbClr>
              </a:gs>
            </a:gsLst>
            <a:lin ang="5400000" scaled="0"/>
          </a:gradFill>
          <a:ln/>
        </p:spPr>
        <p:txBody>
          <a:bodyPr/>
          <a:lstStyle/>
          <a:p>
            <a:endParaRPr lang="en-US"/>
          </a:p>
        </p:txBody>
      </p:sp>
      <p:sp>
        <p:nvSpPr>
          <p:cNvPr id="9" name="Text 5"/>
          <p:cNvSpPr/>
          <p:nvPr/>
        </p:nvSpPr>
        <p:spPr>
          <a:xfrm>
            <a:off x="1076325" y="3473648"/>
            <a:ext cx="1729835"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27A38"/>
                </a:solidFill>
                <a:latin typeface="Arial" pitchFamily="34" charset="0"/>
                <a:ea typeface="Arial" pitchFamily="34" charset="-122"/>
                <a:cs typeface="Arial" pitchFamily="34" charset="-120"/>
              </a:rPr>
              <a:t>Research design</a:t>
            </a:r>
            <a:endParaRPr lang="en-US" sz="1650" dirty="0"/>
          </a:p>
        </p:txBody>
      </p:sp>
      <p:sp>
        <p:nvSpPr>
          <p:cNvPr id="10" name="Text 6"/>
          <p:cNvSpPr/>
          <p:nvPr/>
        </p:nvSpPr>
        <p:spPr>
          <a:xfrm>
            <a:off x="914400" y="3850838"/>
            <a:ext cx="8182165"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2B3139"/>
                </a:solidFill>
                <a:latin typeface="Arial" pitchFamily="34" charset="0"/>
                <a:ea typeface="Arial" pitchFamily="34" charset="-122"/>
                <a:cs typeface="Arial" pitchFamily="34" charset="-120"/>
              </a:rPr>
              <a:t>Quantitative, cross-sectional and explanatory design using a structured Google Forms questionnaire.</a:t>
            </a:r>
            <a:endParaRPr lang="en-US" sz="1800" dirty="0"/>
          </a:p>
        </p:txBody>
      </p:sp>
      <p:sp>
        <p:nvSpPr>
          <p:cNvPr id="11" name="Shape 7"/>
          <p:cNvSpPr/>
          <p:nvPr/>
        </p:nvSpPr>
        <p:spPr>
          <a:xfrm>
            <a:off x="914400" y="4788098"/>
            <a:ext cx="47625" cy="228600"/>
          </a:xfrm>
          <a:prstGeom prst="roundRect">
            <a:avLst>
              <a:gd name="adj" fmla="val 50000"/>
            </a:avLst>
          </a:prstGeom>
          <a:gradFill rotWithShape="1">
            <a:gsLst>
              <a:gs pos="0">
                <a:srgbClr val="14B24B">
                  <a:alpha val="100000"/>
                </a:srgbClr>
              </a:gs>
              <a:gs pos="100000">
                <a:srgbClr val="0F5A2C">
                  <a:alpha val="100000"/>
                </a:srgbClr>
              </a:gs>
            </a:gsLst>
            <a:lin ang="5400000" scaled="0"/>
          </a:gradFill>
          <a:ln/>
        </p:spPr>
        <p:txBody>
          <a:bodyPr/>
          <a:lstStyle/>
          <a:p>
            <a:endParaRPr lang="en-US"/>
          </a:p>
        </p:txBody>
      </p:sp>
      <p:sp>
        <p:nvSpPr>
          <p:cNvPr id="12" name="Text 8"/>
          <p:cNvSpPr/>
          <p:nvPr/>
        </p:nvSpPr>
        <p:spPr>
          <a:xfrm>
            <a:off x="1076325" y="4780479"/>
            <a:ext cx="1252657" cy="281940"/>
          </a:xfrm>
          <a:prstGeom prst="rect">
            <a:avLst/>
          </a:prstGeom>
          <a:noFill/>
          <a:ln/>
        </p:spPr>
        <p:txBody>
          <a:bodyPr wrap="square" lIns="25400" tIns="25400" rIns="25400" bIns="25400" rtlCol="0" anchor="t">
            <a:normAutofit fontScale="92500"/>
          </a:bodyPr>
          <a:lstStyle/>
          <a:p>
            <a:pPr marL="0" indent="0" algn="l">
              <a:buNone/>
            </a:pPr>
            <a:r>
              <a:rPr lang="en-US" sz="1650" b="1" dirty="0">
                <a:solidFill>
                  <a:srgbClr val="127A38"/>
                </a:solidFill>
                <a:latin typeface="Arial" pitchFamily="34" charset="0"/>
                <a:ea typeface="Arial" pitchFamily="34" charset="-122"/>
                <a:cs typeface="Arial" pitchFamily="34" charset="-120"/>
              </a:rPr>
              <a:t>Analysis tool</a:t>
            </a:r>
            <a:endParaRPr lang="en-US" sz="1650" dirty="0"/>
          </a:p>
        </p:txBody>
      </p:sp>
      <p:sp>
        <p:nvSpPr>
          <p:cNvPr id="13" name="Text 9"/>
          <p:cNvSpPr/>
          <p:nvPr/>
        </p:nvSpPr>
        <p:spPr>
          <a:xfrm>
            <a:off x="914400" y="5157668"/>
            <a:ext cx="8182165" cy="70104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2B3139"/>
                </a:solidFill>
                <a:latin typeface="Arial" pitchFamily="34" charset="0"/>
                <a:ea typeface="Arial" pitchFamily="34" charset="-122"/>
                <a:cs typeface="Arial" pitchFamily="34" charset="-120"/>
              </a:rPr>
              <a:t>SmartPLS 4 was used for measurement model and structural model evaluation.</a:t>
            </a:r>
            <a:endParaRPr lang="en-US" sz="1800" dirty="0"/>
          </a:p>
        </p:txBody>
      </p:sp>
      <p:sp>
        <p:nvSpPr>
          <p:cNvPr id="14" name="Shape 10"/>
          <p:cNvSpPr/>
          <p:nvPr/>
        </p:nvSpPr>
        <p:spPr>
          <a:xfrm>
            <a:off x="914400" y="6094929"/>
            <a:ext cx="47625" cy="228600"/>
          </a:xfrm>
          <a:prstGeom prst="roundRect">
            <a:avLst>
              <a:gd name="adj" fmla="val 50000"/>
            </a:avLst>
          </a:prstGeom>
          <a:gradFill rotWithShape="1">
            <a:gsLst>
              <a:gs pos="0">
                <a:srgbClr val="14B24B">
                  <a:alpha val="100000"/>
                </a:srgbClr>
              </a:gs>
              <a:gs pos="100000">
                <a:srgbClr val="0F5A2C">
                  <a:alpha val="100000"/>
                </a:srgbClr>
              </a:gs>
            </a:gsLst>
            <a:lin ang="5400000" scaled="0"/>
          </a:gradFill>
          <a:ln/>
        </p:spPr>
        <p:txBody>
          <a:bodyPr/>
          <a:lstStyle/>
          <a:p>
            <a:endParaRPr lang="en-US"/>
          </a:p>
        </p:txBody>
      </p:sp>
      <p:sp>
        <p:nvSpPr>
          <p:cNvPr id="15" name="Text 11"/>
          <p:cNvSpPr/>
          <p:nvPr/>
        </p:nvSpPr>
        <p:spPr>
          <a:xfrm>
            <a:off x="1076325" y="6087309"/>
            <a:ext cx="1576078" cy="281940"/>
          </a:xfrm>
          <a:prstGeom prst="rect">
            <a:avLst/>
          </a:prstGeom>
          <a:noFill/>
          <a:ln/>
        </p:spPr>
        <p:txBody>
          <a:bodyPr wrap="square" lIns="25400" tIns="25400" rIns="25400" bIns="25400" rtlCol="0" anchor="t">
            <a:normAutofit fontScale="92500"/>
          </a:bodyPr>
          <a:lstStyle/>
          <a:p>
            <a:pPr marL="0" indent="0" algn="l">
              <a:buNone/>
            </a:pPr>
            <a:r>
              <a:rPr lang="en-US" sz="1650" b="1" dirty="0">
                <a:solidFill>
                  <a:srgbClr val="127A38"/>
                </a:solidFill>
                <a:latin typeface="Arial" pitchFamily="34" charset="0"/>
                <a:ea typeface="Arial" pitchFamily="34" charset="-122"/>
                <a:cs typeface="Arial" pitchFamily="34" charset="-120"/>
              </a:rPr>
              <a:t>Screening logic</a:t>
            </a:r>
            <a:endParaRPr lang="en-US" sz="1650" dirty="0"/>
          </a:p>
        </p:txBody>
      </p:sp>
      <p:sp>
        <p:nvSpPr>
          <p:cNvPr id="16" name="Text 12"/>
          <p:cNvSpPr/>
          <p:nvPr/>
        </p:nvSpPr>
        <p:spPr>
          <a:xfrm>
            <a:off x="914400" y="6464498"/>
            <a:ext cx="8182165"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2B3139"/>
                </a:solidFill>
                <a:latin typeface="Arial" pitchFamily="34" charset="0"/>
                <a:ea typeface="Arial" pitchFamily="34" charset="-122"/>
                <a:cs typeface="Arial" pitchFamily="34" charset="-120"/>
              </a:rPr>
              <a:t>Only respondents who confirmed prior Padna use were retained for the main analysis.</a:t>
            </a:r>
            <a:endParaRPr lang="en-US" sz="1800" dirty="0"/>
          </a:p>
        </p:txBody>
      </p:sp>
      <p:sp>
        <p:nvSpPr>
          <p:cNvPr id="17" name="Shape 13"/>
          <p:cNvSpPr/>
          <p:nvPr/>
        </p:nvSpPr>
        <p:spPr>
          <a:xfrm>
            <a:off x="10829925" y="2957394"/>
            <a:ext cx="5143500" cy="781050"/>
          </a:xfrm>
          <a:prstGeom prst="roundRect">
            <a:avLst>
              <a:gd name="adj" fmla="val 21951"/>
            </a:avLst>
          </a:prstGeom>
          <a:solidFill>
            <a:srgbClr val="3A4550"/>
          </a:solidFill>
          <a:ln/>
          <a:effectLst>
            <a:outerShdw blurRad="228600" dist="95250" dir="5400000" algn="bl" rotWithShape="0">
              <a:srgbClr val="0B3D1E">
                <a:alpha val="12000"/>
              </a:srgbClr>
            </a:outerShdw>
          </a:effectLst>
        </p:spPr>
        <p:txBody>
          <a:bodyPr/>
          <a:lstStyle/>
          <a:p>
            <a:endParaRPr lang="en-US"/>
          </a:p>
        </p:txBody>
      </p:sp>
      <p:sp>
        <p:nvSpPr>
          <p:cNvPr id="18" name="Text 14"/>
          <p:cNvSpPr/>
          <p:nvPr/>
        </p:nvSpPr>
        <p:spPr>
          <a:xfrm>
            <a:off x="11115675" y="3128844"/>
            <a:ext cx="1200150" cy="4762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450" b="1" dirty="0">
                <a:solidFill>
                  <a:srgbClr val="FFFFFF"/>
                </a:solidFill>
                <a:latin typeface="Arial" pitchFamily="34" charset="0"/>
                <a:ea typeface="Arial" pitchFamily="34" charset="-122"/>
                <a:cs typeface="Arial" pitchFamily="34" charset="-120"/>
              </a:rPr>
              <a:t>160</a:t>
            </a:r>
            <a:endParaRPr lang="en-US" sz="3450" dirty="0"/>
          </a:p>
        </p:txBody>
      </p:sp>
      <p:sp>
        <p:nvSpPr>
          <p:cNvPr id="19" name="Text 15"/>
          <p:cNvSpPr/>
          <p:nvPr/>
        </p:nvSpPr>
        <p:spPr>
          <a:xfrm>
            <a:off x="12449175" y="3216950"/>
            <a:ext cx="2549831" cy="300038"/>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650" b="1" dirty="0">
                <a:solidFill>
                  <a:srgbClr val="FFFFFF">
                    <a:alpha val="92000"/>
                  </a:srgbClr>
                </a:solidFill>
                <a:latin typeface="Arial" pitchFamily="34" charset="0"/>
                <a:ea typeface="Arial" pitchFamily="34" charset="-122"/>
                <a:cs typeface="Arial" pitchFamily="34" charset="-120"/>
              </a:rPr>
              <a:t>Total responses received</a:t>
            </a:r>
            <a:endParaRPr lang="en-US" sz="1650" dirty="0"/>
          </a:p>
        </p:txBody>
      </p:sp>
      <p:pic>
        <p:nvPicPr>
          <p:cNvPr id="2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277850" y="3871794"/>
            <a:ext cx="247650" cy="190500"/>
          </a:xfrm>
          <a:prstGeom prst="rect">
            <a:avLst/>
          </a:prstGeom>
        </p:spPr>
      </p:pic>
      <p:sp>
        <p:nvSpPr>
          <p:cNvPr id="21" name="Shape 16"/>
          <p:cNvSpPr/>
          <p:nvPr/>
        </p:nvSpPr>
        <p:spPr>
          <a:xfrm>
            <a:off x="11144250" y="4195644"/>
            <a:ext cx="4514850" cy="866775"/>
          </a:xfrm>
          <a:prstGeom prst="roundRect">
            <a:avLst>
              <a:gd name="adj" fmla="val 19780"/>
            </a:avLst>
          </a:prstGeom>
          <a:solidFill>
            <a:srgbClr val="F06A3B"/>
          </a:solidFill>
          <a:ln/>
          <a:effectLst>
            <a:outerShdw blurRad="228600" dist="95250" dir="5400000" algn="bl" rotWithShape="0">
              <a:srgbClr val="F06A3B">
                <a:alpha val="20000"/>
              </a:srgbClr>
            </a:outerShdw>
          </a:effectLst>
        </p:spPr>
        <p:txBody>
          <a:bodyPr/>
          <a:lstStyle/>
          <a:p>
            <a:endParaRPr lang="en-US"/>
          </a:p>
        </p:txBody>
      </p:sp>
      <p:sp>
        <p:nvSpPr>
          <p:cNvPr id="22" name="Text 17"/>
          <p:cNvSpPr/>
          <p:nvPr/>
        </p:nvSpPr>
        <p:spPr>
          <a:xfrm>
            <a:off x="11430000" y="4409956"/>
            <a:ext cx="1200150" cy="4762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450" b="1" dirty="0">
                <a:solidFill>
                  <a:srgbClr val="FFFFFF"/>
                </a:solidFill>
                <a:latin typeface="Arial" pitchFamily="34" charset="0"/>
                <a:ea typeface="Arial" pitchFamily="34" charset="-122"/>
                <a:cs typeface="Arial" pitchFamily="34" charset="-120"/>
              </a:rPr>
              <a:t>37</a:t>
            </a:r>
            <a:endParaRPr lang="en-US" sz="3450" dirty="0"/>
          </a:p>
        </p:txBody>
      </p:sp>
      <p:sp>
        <p:nvSpPr>
          <p:cNvPr id="23" name="Text 18"/>
          <p:cNvSpPr/>
          <p:nvPr/>
        </p:nvSpPr>
        <p:spPr>
          <a:xfrm>
            <a:off x="12763500" y="4367094"/>
            <a:ext cx="2688145" cy="5619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650" b="1" dirty="0">
                <a:solidFill>
                  <a:srgbClr val="FFFFFF">
                    <a:alpha val="95000"/>
                  </a:srgbClr>
                </a:solidFill>
                <a:latin typeface="Arial" pitchFamily="34" charset="0"/>
                <a:ea typeface="Arial" pitchFamily="34" charset="-122"/>
                <a:cs typeface="Arial" pitchFamily="34" charset="-120"/>
              </a:rPr>
              <a:t>Excluded during screening or cleaning</a:t>
            </a:r>
            <a:endParaRPr lang="en-US" sz="1650" dirty="0"/>
          </a:p>
        </p:txBody>
      </p:sp>
      <p:pic>
        <p:nvPicPr>
          <p:cNvPr id="24"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277850" y="5195768"/>
            <a:ext cx="247650" cy="190500"/>
          </a:xfrm>
          <a:prstGeom prst="rect">
            <a:avLst/>
          </a:prstGeom>
        </p:spPr>
      </p:pic>
      <p:sp>
        <p:nvSpPr>
          <p:cNvPr id="25" name="Shape 19"/>
          <p:cNvSpPr/>
          <p:nvPr/>
        </p:nvSpPr>
        <p:spPr>
          <a:xfrm>
            <a:off x="11449050" y="5519618"/>
            <a:ext cx="3905250" cy="866775"/>
          </a:xfrm>
          <a:prstGeom prst="roundRect">
            <a:avLst>
              <a:gd name="adj" fmla="val 19780"/>
            </a:avLst>
          </a:prstGeom>
          <a:solidFill>
            <a:srgbClr val="0E9F43"/>
          </a:solidFill>
          <a:ln/>
          <a:effectLst>
            <a:outerShdw blurRad="228600" dist="95250" dir="5400000" algn="bl" rotWithShape="0">
              <a:srgbClr val="0E9F43">
                <a:alpha val="22000"/>
              </a:srgbClr>
            </a:outerShdw>
          </a:effectLst>
        </p:spPr>
        <p:txBody>
          <a:bodyPr/>
          <a:lstStyle/>
          <a:p>
            <a:endParaRPr lang="en-US"/>
          </a:p>
        </p:txBody>
      </p:sp>
      <p:sp>
        <p:nvSpPr>
          <p:cNvPr id="26" name="Text 20"/>
          <p:cNvSpPr/>
          <p:nvPr/>
        </p:nvSpPr>
        <p:spPr>
          <a:xfrm>
            <a:off x="11734800" y="5733931"/>
            <a:ext cx="1200150" cy="4762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450" b="1" dirty="0">
                <a:solidFill>
                  <a:srgbClr val="FFFFFF"/>
                </a:solidFill>
                <a:latin typeface="Arial" pitchFamily="34" charset="0"/>
                <a:ea typeface="Arial" pitchFamily="34" charset="-122"/>
                <a:cs typeface="Arial" pitchFamily="34" charset="-120"/>
              </a:rPr>
              <a:t>123</a:t>
            </a:r>
            <a:endParaRPr lang="en-US" sz="3450" dirty="0"/>
          </a:p>
        </p:txBody>
      </p:sp>
      <p:sp>
        <p:nvSpPr>
          <p:cNvPr id="27" name="Text 21"/>
          <p:cNvSpPr/>
          <p:nvPr/>
        </p:nvSpPr>
        <p:spPr>
          <a:xfrm>
            <a:off x="13068300" y="5691068"/>
            <a:ext cx="2076450" cy="561975"/>
          </a:xfrm>
          <a:prstGeom prst="rect">
            <a:avLst/>
          </a:prstGeom>
          <a:noFill/>
          <a:ln/>
        </p:spPr>
        <p:txBody>
          <a:bodyPr wrap="square" lIns="25400" tIns="25400" rIns="25400" bIns="25400" rtlCol="0" anchor="t">
            <a:normAutofit fontScale="92500"/>
          </a:bodyPr>
          <a:lstStyle/>
          <a:p>
            <a:pPr marL="0" indent="0" algn="l">
              <a:lnSpc>
                <a:spcPct val="125000"/>
              </a:lnSpc>
              <a:buNone/>
            </a:pPr>
            <a:r>
              <a:rPr lang="en-US" sz="1650" b="1" dirty="0">
                <a:solidFill>
                  <a:srgbClr val="FFFFFF">
                    <a:alpha val="95000"/>
                  </a:srgbClr>
                </a:solidFill>
                <a:latin typeface="Arial" pitchFamily="34" charset="0"/>
                <a:ea typeface="Arial" pitchFamily="34" charset="-122"/>
                <a:cs typeface="Arial" pitchFamily="34" charset="-120"/>
              </a:rPr>
              <a:t>Final analysis sample</a:t>
            </a:r>
            <a:endParaRPr lang="en-US" sz="1650" dirty="0"/>
          </a:p>
        </p:txBody>
      </p:sp>
      <p:pic>
        <p:nvPicPr>
          <p:cNvPr id="28"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277850" y="6519743"/>
            <a:ext cx="247650" cy="190500"/>
          </a:xfrm>
          <a:prstGeom prst="rect">
            <a:avLst/>
          </a:prstGeom>
        </p:spPr>
      </p:pic>
      <p:sp>
        <p:nvSpPr>
          <p:cNvPr id="29" name="Shape 22"/>
          <p:cNvSpPr/>
          <p:nvPr/>
        </p:nvSpPr>
        <p:spPr>
          <a:xfrm>
            <a:off x="11753850" y="6843593"/>
            <a:ext cx="3295650" cy="800100"/>
          </a:xfrm>
          <a:prstGeom prst="roundRect">
            <a:avLst>
              <a:gd name="adj" fmla="val 21429"/>
            </a:avLst>
          </a:prstGeom>
          <a:solidFill>
            <a:srgbClr val="0F5A2C"/>
          </a:solidFill>
          <a:ln/>
          <a:effectLst>
            <a:outerShdw blurRad="228600" dist="95250" dir="5400000" algn="bl" rotWithShape="0">
              <a:srgbClr val="0B3D1E">
                <a:alpha val="22000"/>
              </a:srgbClr>
            </a:outerShdw>
          </a:effectLst>
        </p:spPr>
        <p:txBody>
          <a:bodyPr/>
          <a:lstStyle/>
          <a:p>
            <a:endParaRPr lang="en-US"/>
          </a:p>
        </p:txBody>
      </p:sp>
      <p:sp>
        <p:nvSpPr>
          <p:cNvPr id="30" name="Text 23"/>
          <p:cNvSpPr/>
          <p:nvPr/>
        </p:nvSpPr>
        <p:spPr>
          <a:xfrm>
            <a:off x="12039600" y="7062668"/>
            <a:ext cx="1339548" cy="4000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850" b="1" dirty="0">
                <a:solidFill>
                  <a:srgbClr val="FFFFFF"/>
                </a:solidFill>
                <a:latin typeface="Arial" pitchFamily="34" charset="0"/>
                <a:ea typeface="Arial" pitchFamily="34" charset="-122"/>
                <a:cs typeface="Arial" pitchFamily="34" charset="-120"/>
              </a:rPr>
              <a:t>n = 123</a:t>
            </a:r>
            <a:endParaRPr lang="en-US" sz="2850" dirty="0"/>
          </a:p>
        </p:txBody>
      </p:sp>
      <p:sp>
        <p:nvSpPr>
          <p:cNvPr id="31" name="Text 24"/>
          <p:cNvSpPr/>
          <p:nvPr/>
        </p:nvSpPr>
        <p:spPr>
          <a:xfrm>
            <a:off x="13447871" y="7015043"/>
            <a:ext cx="1392079" cy="49530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1500" b="1" dirty="0">
                <a:solidFill>
                  <a:srgbClr val="B7E7C4"/>
                </a:solidFill>
                <a:latin typeface="Arial" pitchFamily="34" charset="0"/>
                <a:ea typeface="Arial" pitchFamily="34" charset="-122"/>
                <a:cs typeface="Arial" pitchFamily="34" charset="-120"/>
              </a:rPr>
              <a:t>Prior Padna users</a:t>
            </a:r>
            <a:endParaRPr lang="en-US" sz="1500" dirty="0"/>
          </a:p>
        </p:txBody>
      </p:sp>
      <p:sp>
        <p:nvSpPr>
          <p:cNvPr id="32" name="Shape 25"/>
          <p:cNvSpPr/>
          <p:nvPr/>
        </p:nvSpPr>
        <p:spPr>
          <a:xfrm>
            <a:off x="914400" y="8785860"/>
            <a:ext cx="16459200" cy="594360"/>
          </a:xfrm>
          <a:prstGeom prst="roundRect">
            <a:avLst>
              <a:gd name="adj" fmla="val 25641"/>
            </a:avLst>
          </a:prstGeom>
          <a:solidFill>
            <a:srgbClr val="FFFFFF">
              <a:alpha val="70000"/>
            </a:srgbClr>
          </a:solidFill>
          <a:ln w="7620">
            <a:solidFill>
              <a:srgbClr val="E7EBEF"/>
            </a:solidFill>
            <a:prstDash val="solid"/>
          </a:ln>
        </p:spPr>
        <p:txBody>
          <a:bodyPr/>
          <a:lstStyle/>
          <a:p>
            <a:endParaRPr lang="en-US"/>
          </a:p>
        </p:txBody>
      </p:sp>
      <p:sp>
        <p:nvSpPr>
          <p:cNvPr id="33" name="Shape 26"/>
          <p:cNvSpPr/>
          <p:nvPr/>
        </p:nvSpPr>
        <p:spPr>
          <a:xfrm>
            <a:off x="1169670" y="9025890"/>
            <a:ext cx="114300" cy="114300"/>
          </a:xfrm>
          <a:prstGeom prst="ellipse">
            <a:avLst/>
          </a:prstGeom>
          <a:solidFill>
            <a:srgbClr val="F06A3B"/>
          </a:solidFill>
          <a:ln/>
        </p:spPr>
        <p:txBody>
          <a:bodyPr/>
          <a:lstStyle/>
          <a:p>
            <a:endParaRPr lang="en-US"/>
          </a:p>
        </p:txBody>
      </p:sp>
      <p:sp>
        <p:nvSpPr>
          <p:cNvPr id="34" name="Text 27"/>
          <p:cNvSpPr/>
          <p:nvPr/>
        </p:nvSpPr>
        <p:spPr>
          <a:xfrm>
            <a:off x="1436370" y="8964930"/>
            <a:ext cx="8290453" cy="274320"/>
          </a:xfrm>
          <a:prstGeom prst="rect">
            <a:avLst/>
          </a:prstGeom>
          <a:noFill/>
          <a:ln/>
        </p:spPr>
        <p:txBody>
          <a:bodyPr wrap="square" lIns="25400" tIns="25400" rIns="25400" bIns="25400" rtlCol="0" anchor="t">
            <a:normAutofit lnSpcReduction="10000"/>
          </a:bodyPr>
          <a:lstStyle/>
          <a:p>
            <a:pPr marL="0" indent="0" algn="l">
              <a:buNone/>
            </a:pPr>
            <a:r>
              <a:rPr lang="en-US" sz="1575" dirty="0">
                <a:solidFill>
                  <a:srgbClr val="5C6570"/>
                </a:solidFill>
                <a:latin typeface="Arial" pitchFamily="34" charset="0"/>
                <a:ea typeface="Arial" pitchFamily="34" charset="-122"/>
                <a:cs typeface="Arial" pitchFamily="34" charset="-120"/>
              </a:rPr>
              <a:t>Excluded: no consent = 1 | no prior Padna use = 34 | incomplete main items = 2</a:t>
            </a:r>
            <a:endParaRPr lang="en-US" sz="1575" dirty="0"/>
          </a:p>
        </p:txBody>
      </p:sp>
      <p:sp>
        <p:nvSpPr>
          <p:cNvPr id="35" name="Text 28"/>
          <p:cNvSpPr/>
          <p:nvPr/>
        </p:nvSpPr>
        <p:spPr>
          <a:xfrm>
            <a:off x="914400" y="9570720"/>
            <a:ext cx="18105120"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8A929C"/>
                </a:solidFill>
                <a:latin typeface="Arial" pitchFamily="34" charset="0"/>
                <a:ea typeface="Arial" pitchFamily="34" charset="-122"/>
                <a:cs typeface="Arial" pitchFamily="34" charset="-120"/>
              </a:rPr>
              <a:t>Gaianand Ramnarace | Final Presentation | 4</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4000"/>
          </a:blip>
          <a:stretch>
            <a:fillRect/>
          </a:stretch>
        </p:blipFill>
        <p:spPr>
          <a:xfrm>
            <a:off x="15354300" y="7353300"/>
            <a:ext cx="3619500" cy="3619500"/>
          </a:xfrm>
          <a:prstGeom prst="rect">
            <a:avLst/>
          </a:prstGeom>
        </p:spPr>
      </p:pic>
      <p:sp>
        <p:nvSpPr>
          <p:cNvPr id="3" name="Text 0"/>
          <p:cNvSpPr/>
          <p:nvPr/>
        </p:nvSpPr>
        <p:spPr>
          <a:xfrm>
            <a:off x="914400" y="609600"/>
            <a:ext cx="10782527" cy="53185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600" b="1" kern="0" spc="-36" dirty="0">
                <a:solidFill>
                  <a:srgbClr val="111418"/>
                </a:solidFill>
                <a:latin typeface="Arial" pitchFamily="34" charset="0"/>
                <a:ea typeface="Arial" pitchFamily="34" charset="-122"/>
                <a:cs typeface="Arial" pitchFamily="34" charset="-120"/>
              </a:rPr>
              <a:t>Profile Results: Padna Use Pattern</a:t>
            </a:r>
            <a:endParaRPr lang="en-US" sz="3600" dirty="0"/>
          </a:p>
        </p:txBody>
      </p:sp>
      <p:sp>
        <p:nvSpPr>
          <p:cNvPr id="4" name="Text 1"/>
          <p:cNvSpPr/>
          <p:nvPr/>
        </p:nvSpPr>
        <p:spPr>
          <a:xfrm>
            <a:off x="914400" y="1217652"/>
            <a:ext cx="10782527" cy="359569"/>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5C6570"/>
                </a:solidFill>
                <a:latin typeface="Arial" pitchFamily="34" charset="0"/>
                <a:ea typeface="Arial" pitchFamily="34" charset="-122"/>
                <a:cs typeface="Arial" pitchFamily="34" charset="-120"/>
              </a:rPr>
              <a:t>The screened sample indicates that Padna use is mainly seasonal and tax-task-based.</a:t>
            </a:r>
            <a:endParaRPr lang="en-US" sz="1875" dirty="0"/>
          </a:p>
        </p:txBody>
      </p:sp>
      <p:sp>
        <p:nvSpPr>
          <p:cNvPr id="5" name="Text 2"/>
          <p:cNvSpPr/>
          <p:nvPr/>
        </p:nvSpPr>
        <p:spPr>
          <a:xfrm>
            <a:off x="16543854" y="763905"/>
            <a:ext cx="334447"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99" dirty="0">
                <a:solidFill>
                  <a:srgbClr val="B5BCC4"/>
                </a:solidFill>
                <a:latin typeface="Arial" pitchFamily="34" charset="0"/>
                <a:ea typeface="Arial" pitchFamily="34" charset="-122"/>
                <a:cs typeface="Arial" pitchFamily="34" charset="-120"/>
              </a:rPr>
              <a:t>05</a:t>
            </a:r>
            <a:endParaRPr lang="en-US" sz="1650" dirty="0"/>
          </a:p>
        </p:txBody>
      </p:sp>
      <p:pic>
        <p:nvPicPr>
          <p:cNvPr id="6" name="Image 1" descr="preencoded.png"/>
          <p:cNvPicPr>
            <a:picLocks noChangeAspect="1"/>
          </p:cNvPicPr>
          <p:nvPr/>
        </p:nvPicPr>
        <p:blipFill>
          <a:blip r:embed="rId3"/>
          <a:stretch>
            <a:fillRect/>
          </a:stretch>
        </p:blipFill>
        <p:spPr>
          <a:xfrm>
            <a:off x="16935450" y="666750"/>
            <a:ext cx="438150" cy="438150"/>
          </a:xfrm>
          <a:prstGeom prst="rect">
            <a:avLst/>
          </a:prstGeom>
        </p:spPr>
      </p:pic>
      <p:sp>
        <p:nvSpPr>
          <p:cNvPr id="7" name="Shape 3"/>
          <p:cNvSpPr/>
          <p:nvPr/>
        </p:nvSpPr>
        <p:spPr>
          <a:xfrm>
            <a:off x="914400" y="1767721"/>
            <a:ext cx="16459200" cy="9525"/>
          </a:xfrm>
          <a:prstGeom prst="rect">
            <a:avLst/>
          </a:prstGeom>
          <a:solidFill>
            <a:srgbClr val="D9DDE2"/>
          </a:solidFill>
          <a:ln/>
        </p:spPr>
        <p:txBody>
          <a:bodyPr/>
          <a:lstStyle/>
          <a:p>
            <a:endParaRPr lang="en-US"/>
          </a:p>
        </p:txBody>
      </p:sp>
      <p:sp>
        <p:nvSpPr>
          <p:cNvPr id="8" name="Shape 4"/>
          <p:cNvSpPr/>
          <p:nvPr/>
        </p:nvSpPr>
        <p:spPr>
          <a:xfrm>
            <a:off x="914400" y="2064901"/>
            <a:ext cx="47625" cy="247650"/>
          </a:xfrm>
          <a:prstGeom prst="roundRect">
            <a:avLst>
              <a:gd name="adj" fmla="val 50000"/>
            </a:avLst>
          </a:prstGeom>
          <a:gradFill rotWithShape="1">
            <a:gsLst>
              <a:gs pos="0">
                <a:srgbClr val="14B24B">
                  <a:alpha val="100000"/>
                </a:srgbClr>
              </a:gs>
              <a:gs pos="100000">
                <a:srgbClr val="0F5A2C">
                  <a:alpha val="100000"/>
                </a:srgbClr>
              </a:gs>
            </a:gsLst>
            <a:lin ang="5400000" scaled="0"/>
          </a:gradFill>
          <a:ln/>
        </p:spPr>
        <p:txBody>
          <a:bodyPr/>
          <a:lstStyle/>
          <a:p>
            <a:endParaRPr lang="en-US"/>
          </a:p>
        </p:txBody>
      </p:sp>
      <p:sp>
        <p:nvSpPr>
          <p:cNvPr id="9" name="Text 5"/>
          <p:cNvSpPr/>
          <p:nvPr/>
        </p:nvSpPr>
        <p:spPr>
          <a:xfrm>
            <a:off x="1076325" y="2062996"/>
            <a:ext cx="3509308" cy="289560"/>
          </a:xfrm>
          <a:prstGeom prst="rect">
            <a:avLst/>
          </a:prstGeom>
          <a:noFill/>
          <a:ln/>
        </p:spPr>
        <p:txBody>
          <a:bodyPr wrap="square" lIns="25400" tIns="25400" rIns="25400" bIns="25400" rtlCol="0" anchor="t">
            <a:normAutofit fontScale="92500" lnSpcReduction="10000"/>
          </a:bodyPr>
          <a:lstStyle/>
          <a:p>
            <a:pPr marL="0" indent="0" algn="l">
              <a:buNone/>
            </a:pPr>
            <a:r>
              <a:rPr lang="en-US" sz="1725" b="1" dirty="0">
                <a:solidFill>
                  <a:srgbClr val="127A38"/>
                </a:solidFill>
                <a:latin typeface="Arial" pitchFamily="34" charset="0"/>
                <a:ea typeface="Arial" pitchFamily="34" charset="-122"/>
                <a:cs typeface="Arial" pitchFamily="34" charset="-120"/>
              </a:rPr>
              <a:t>Three strongest profile indicators</a:t>
            </a:r>
            <a:endParaRPr lang="en-US" sz="1725" dirty="0"/>
          </a:p>
        </p:txBody>
      </p:sp>
      <p:sp>
        <p:nvSpPr>
          <p:cNvPr id="10" name="Text 6"/>
          <p:cNvSpPr/>
          <p:nvPr/>
        </p:nvSpPr>
        <p:spPr>
          <a:xfrm>
            <a:off x="914400" y="2691646"/>
            <a:ext cx="2837831"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111418"/>
                </a:solidFill>
                <a:latin typeface="Arial" pitchFamily="34" charset="0"/>
                <a:ea typeface="Arial" pitchFamily="34" charset="-122"/>
                <a:cs typeface="Arial" pitchFamily="34" charset="-120"/>
              </a:rPr>
              <a:t>Used in 2026 filing period</a:t>
            </a:r>
            <a:endParaRPr lang="en-US" sz="1800" dirty="0"/>
          </a:p>
        </p:txBody>
      </p:sp>
      <p:sp>
        <p:nvSpPr>
          <p:cNvPr id="11" name="Text 7"/>
          <p:cNvSpPr/>
          <p:nvPr/>
        </p:nvSpPr>
        <p:spPr>
          <a:xfrm>
            <a:off x="9102566" y="2638306"/>
            <a:ext cx="1045369"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27A38"/>
                </a:solidFill>
                <a:latin typeface="Arial" pitchFamily="34" charset="0"/>
                <a:ea typeface="Arial" pitchFamily="34" charset="-122"/>
                <a:cs typeface="Arial" pitchFamily="34" charset="-120"/>
              </a:rPr>
              <a:t>79.67%</a:t>
            </a:r>
            <a:endParaRPr lang="en-US" sz="2250" dirty="0"/>
          </a:p>
        </p:txBody>
      </p:sp>
      <p:sp>
        <p:nvSpPr>
          <p:cNvPr id="12" name="Shape 8"/>
          <p:cNvSpPr/>
          <p:nvPr/>
        </p:nvSpPr>
        <p:spPr>
          <a:xfrm>
            <a:off x="914400" y="3080266"/>
            <a:ext cx="9157335" cy="247650"/>
          </a:xfrm>
          <a:prstGeom prst="roundRect">
            <a:avLst>
              <a:gd name="adj" fmla="val 50000"/>
            </a:avLst>
          </a:prstGeom>
          <a:solidFill>
            <a:srgbClr val="E7EBEF"/>
          </a:solidFill>
          <a:ln/>
        </p:spPr>
        <p:txBody>
          <a:bodyPr/>
          <a:lstStyle/>
          <a:p>
            <a:endParaRPr lang="en-US"/>
          </a:p>
        </p:txBody>
      </p:sp>
      <p:sp>
        <p:nvSpPr>
          <p:cNvPr id="13" name="Shape 9"/>
          <p:cNvSpPr/>
          <p:nvPr/>
        </p:nvSpPr>
        <p:spPr>
          <a:xfrm>
            <a:off x="914400" y="3080266"/>
            <a:ext cx="7295555" cy="247650"/>
          </a:xfrm>
          <a:prstGeom prst="roundRect">
            <a:avLst>
              <a:gd name="adj" fmla="val 50000"/>
            </a:avLst>
          </a:prstGeom>
          <a:gradFill rotWithShape="1">
            <a:gsLst>
              <a:gs pos="0">
                <a:srgbClr val="4DC97A">
                  <a:alpha val="100000"/>
                </a:srgbClr>
              </a:gs>
              <a:gs pos="100000">
                <a:srgbClr val="0F5A2C">
                  <a:alpha val="100000"/>
                </a:srgbClr>
              </a:gs>
            </a:gsLst>
            <a:lin ang="0" scaled="0"/>
          </a:gradFill>
          <a:ln/>
        </p:spPr>
        <p:txBody>
          <a:bodyPr/>
          <a:lstStyle/>
          <a:p>
            <a:endParaRPr lang="en-US"/>
          </a:p>
        </p:txBody>
      </p:sp>
      <p:sp>
        <p:nvSpPr>
          <p:cNvPr id="14" name="Text 10"/>
          <p:cNvSpPr/>
          <p:nvPr/>
        </p:nvSpPr>
        <p:spPr>
          <a:xfrm>
            <a:off x="914400" y="3762256"/>
            <a:ext cx="2781645"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111418"/>
                </a:solidFill>
                <a:latin typeface="Arial" pitchFamily="34" charset="0"/>
                <a:ea typeface="Arial" pitchFamily="34" charset="-122"/>
                <a:cs typeface="Arial" pitchFamily="34" charset="-120"/>
              </a:rPr>
              <a:t>Mainly during tax season</a:t>
            </a:r>
            <a:endParaRPr lang="en-US" sz="1800" dirty="0"/>
          </a:p>
        </p:txBody>
      </p:sp>
      <p:sp>
        <p:nvSpPr>
          <p:cNvPr id="15" name="Text 11"/>
          <p:cNvSpPr/>
          <p:nvPr/>
        </p:nvSpPr>
        <p:spPr>
          <a:xfrm>
            <a:off x="9102566" y="3708916"/>
            <a:ext cx="1045369"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27A38"/>
                </a:solidFill>
                <a:latin typeface="Arial" pitchFamily="34" charset="0"/>
                <a:ea typeface="Arial" pitchFamily="34" charset="-122"/>
                <a:cs typeface="Arial" pitchFamily="34" charset="-120"/>
              </a:rPr>
              <a:t>71.54%</a:t>
            </a:r>
            <a:endParaRPr lang="en-US" sz="2250" dirty="0"/>
          </a:p>
        </p:txBody>
      </p:sp>
      <p:sp>
        <p:nvSpPr>
          <p:cNvPr id="16" name="Shape 12"/>
          <p:cNvSpPr/>
          <p:nvPr/>
        </p:nvSpPr>
        <p:spPr>
          <a:xfrm>
            <a:off x="914400" y="4150876"/>
            <a:ext cx="9157335" cy="247650"/>
          </a:xfrm>
          <a:prstGeom prst="roundRect">
            <a:avLst>
              <a:gd name="adj" fmla="val 50000"/>
            </a:avLst>
          </a:prstGeom>
          <a:solidFill>
            <a:srgbClr val="E7EBEF"/>
          </a:solidFill>
          <a:ln/>
        </p:spPr>
        <p:txBody>
          <a:bodyPr/>
          <a:lstStyle/>
          <a:p>
            <a:endParaRPr lang="en-US"/>
          </a:p>
        </p:txBody>
      </p:sp>
      <p:sp>
        <p:nvSpPr>
          <p:cNvPr id="17" name="Shape 13"/>
          <p:cNvSpPr/>
          <p:nvPr/>
        </p:nvSpPr>
        <p:spPr>
          <a:xfrm>
            <a:off x="914400" y="4150876"/>
            <a:ext cx="6551057" cy="247650"/>
          </a:xfrm>
          <a:prstGeom prst="roundRect">
            <a:avLst>
              <a:gd name="adj" fmla="val 50000"/>
            </a:avLst>
          </a:prstGeom>
          <a:gradFill rotWithShape="1">
            <a:gsLst>
              <a:gs pos="0">
                <a:srgbClr val="4DC97A">
                  <a:alpha val="100000"/>
                </a:srgbClr>
              </a:gs>
              <a:gs pos="100000">
                <a:srgbClr val="0F5A2C">
                  <a:alpha val="100000"/>
                </a:srgbClr>
              </a:gs>
            </a:gsLst>
            <a:lin ang="0" scaled="0"/>
          </a:gradFill>
          <a:ln/>
        </p:spPr>
        <p:txBody>
          <a:bodyPr/>
          <a:lstStyle/>
          <a:p>
            <a:endParaRPr lang="en-US"/>
          </a:p>
        </p:txBody>
      </p:sp>
      <p:sp>
        <p:nvSpPr>
          <p:cNvPr id="18" name="Text 14"/>
          <p:cNvSpPr/>
          <p:nvPr/>
        </p:nvSpPr>
        <p:spPr>
          <a:xfrm>
            <a:off x="914400" y="4832866"/>
            <a:ext cx="2865073"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111418"/>
                </a:solidFill>
                <a:latin typeface="Arial" pitchFamily="34" charset="0"/>
                <a:ea typeface="Arial" pitchFamily="34" charset="-122"/>
                <a:cs typeface="Arial" pitchFamily="34" charset="-120"/>
              </a:rPr>
              <a:t>Used for filing/submission</a:t>
            </a:r>
            <a:endParaRPr lang="en-US" sz="1800" dirty="0"/>
          </a:p>
        </p:txBody>
      </p:sp>
      <p:sp>
        <p:nvSpPr>
          <p:cNvPr id="19" name="Text 15"/>
          <p:cNvSpPr/>
          <p:nvPr/>
        </p:nvSpPr>
        <p:spPr>
          <a:xfrm>
            <a:off x="9102566" y="4779526"/>
            <a:ext cx="1045369"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27A38"/>
                </a:solidFill>
                <a:latin typeface="Arial" pitchFamily="34" charset="0"/>
                <a:ea typeface="Arial" pitchFamily="34" charset="-122"/>
                <a:cs typeface="Arial" pitchFamily="34" charset="-120"/>
              </a:rPr>
              <a:t>85.37%</a:t>
            </a:r>
            <a:endParaRPr lang="en-US" sz="2250" dirty="0"/>
          </a:p>
        </p:txBody>
      </p:sp>
      <p:sp>
        <p:nvSpPr>
          <p:cNvPr id="20" name="Shape 16"/>
          <p:cNvSpPr/>
          <p:nvPr/>
        </p:nvSpPr>
        <p:spPr>
          <a:xfrm>
            <a:off x="914400" y="5221486"/>
            <a:ext cx="9157335" cy="247650"/>
          </a:xfrm>
          <a:prstGeom prst="roundRect">
            <a:avLst>
              <a:gd name="adj" fmla="val 50000"/>
            </a:avLst>
          </a:prstGeom>
          <a:solidFill>
            <a:srgbClr val="E7EBEF"/>
          </a:solidFill>
          <a:ln/>
        </p:spPr>
        <p:txBody>
          <a:bodyPr/>
          <a:lstStyle/>
          <a:p>
            <a:endParaRPr lang="en-US"/>
          </a:p>
        </p:txBody>
      </p:sp>
      <p:sp>
        <p:nvSpPr>
          <p:cNvPr id="21" name="Shape 17"/>
          <p:cNvSpPr/>
          <p:nvPr/>
        </p:nvSpPr>
        <p:spPr>
          <a:xfrm>
            <a:off x="914400" y="5221486"/>
            <a:ext cx="7817525" cy="247650"/>
          </a:xfrm>
          <a:prstGeom prst="roundRect">
            <a:avLst>
              <a:gd name="adj" fmla="val 50000"/>
            </a:avLst>
          </a:prstGeom>
          <a:gradFill rotWithShape="1">
            <a:gsLst>
              <a:gs pos="0">
                <a:srgbClr val="4DC97A">
                  <a:alpha val="100000"/>
                </a:srgbClr>
              </a:gs>
              <a:gs pos="100000">
                <a:srgbClr val="0F5A2C">
                  <a:alpha val="100000"/>
                </a:srgbClr>
              </a:gs>
            </a:gsLst>
            <a:lin ang="0" scaled="0"/>
          </a:gradFill>
          <a:ln/>
        </p:spPr>
        <p:txBody>
          <a:bodyPr/>
          <a:lstStyle/>
          <a:p>
            <a:endParaRPr lang="en-US"/>
          </a:p>
        </p:txBody>
      </p:sp>
      <p:sp>
        <p:nvSpPr>
          <p:cNvPr id="22" name="Text 18"/>
          <p:cNvSpPr/>
          <p:nvPr/>
        </p:nvSpPr>
        <p:spPr>
          <a:xfrm>
            <a:off x="914400" y="9144000"/>
            <a:ext cx="9432055" cy="274320"/>
          </a:xfrm>
          <a:prstGeom prst="rect">
            <a:avLst/>
          </a:prstGeom>
          <a:noFill/>
          <a:ln/>
        </p:spPr>
        <p:txBody>
          <a:bodyPr wrap="square" lIns="25400" tIns="25400" rIns="25400" bIns="25400" rtlCol="0" anchor="t">
            <a:normAutofit lnSpcReduction="10000"/>
          </a:bodyPr>
          <a:lstStyle/>
          <a:p>
            <a:pPr marL="0" indent="0" algn="l">
              <a:buNone/>
            </a:pPr>
            <a:r>
              <a:rPr lang="en-US" sz="1575" b="1" dirty="0">
                <a:solidFill>
                  <a:srgbClr val="8A929C"/>
                </a:solidFill>
                <a:latin typeface="Arial" pitchFamily="34" charset="0"/>
                <a:ea typeface="Arial" pitchFamily="34" charset="-122"/>
                <a:cs typeface="Arial" pitchFamily="34" charset="-120"/>
              </a:rPr>
              <a:t>n = 123 prior Padna users</a:t>
            </a:r>
            <a:endParaRPr lang="en-US" sz="1575" dirty="0"/>
          </a:p>
        </p:txBody>
      </p:sp>
      <p:sp>
        <p:nvSpPr>
          <p:cNvPr id="23" name="Shape 19"/>
          <p:cNvSpPr/>
          <p:nvPr/>
        </p:nvSpPr>
        <p:spPr>
          <a:xfrm>
            <a:off x="10605135" y="2062996"/>
            <a:ext cx="6768465" cy="7317224"/>
          </a:xfrm>
          <a:prstGeom prst="roundRect">
            <a:avLst>
              <a:gd name="adj" fmla="val 3377"/>
            </a:avLst>
          </a:prstGeom>
          <a:solidFill>
            <a:srgbClr val="FFFFFF">
              <a:alpha val="90000"/>
            </a:srgbClr>
          </a:solidFill>
          <a:ln w="7620">
            <a:solidFill>
              <a:srgbClr val="FFFFFF">
                <a:alpha val="90000"/>
              </a:srgbClr>
            </a:solidFill>
            <a:prstDash val="solid"/>
          </a:ln>
          <a:effectLst>
            <a:outerShdw blurRad="19050" dist="9525" dir="5400000" algn="bl" rotWithShape="0">
              <a:srgbClr val="0B3D1E">
                <a:alpha val="4000"/>
              </a:srgbClr>
            </a:outerShdw>
          </a:effectLst>
        </p:spPr>
        <p:txBody>
          <a:bodyPr/>
          <a:lstStyle/>
          <a:p>
            <a:endParaRPr lang="en-US"/>
          </a:p>
        </p:txBody>
      </p:sp>
      <p:sp>
        <p:nvSpPr>
          <p:cNvPr id="24" name="Shape 20"/>
          <p:cNvSpPr/>
          <p:nvPr/>
        </p:nvSpPr>
        <p:spPr>
          <a:xfrm>
            <a:off x="10955656" y="2415421"/>
            <a:ext cx="47625" cy="247650"/>
          </a:xfrm>
          <a:prstGeom prst="roundRect">
            <a:avLst>
              <a:gd name="adj" fmla="val 50000"/>
            </a:avLst>
          </a:prstGeom>
          <a:gradFill rotWithShape="1">
            <a:gsLst>
              <a:gs pos="0">
                <a:srgbClr val="14B24B">
                  <a:alpha val="100000"/>
                </a:srgbClr>
              </a:gs>
              <a:gs pos="100000">
                <a:srgbClr val="0F5A2C">
                  <a:alpha val="100000"/>
                </a:srgbClr>
              </a:gs>
            </a:gsLst>
            <a:lin ang="5400000" scaled="0"/>
          </a:gradFill>
          <a:ln/>
        </p:spPr>
        <p:txBody>
          <a:bodyPr/>
          <a:lstStyle/>
          <a:p>
            <a:endParaRPr lang="en-US"/>
          </a:p>
        </p:txBody>
      </p:sp>
      <p:sp>
        <p:nvSpPr>
          <p:cNvPr id="25" name="Text 21"/>
          <p:cNvSpPr/>
          <p:nvPr/>
        </p:nvSpPr>
        <p:spPr>
          <a:xfrm>
            <a:off x="11117581" y="2413516"/>
            <a:ext cx="1420094" cy="289560"/>
          </a:xfrm>
          <a:prstGeom prst="rect">
            <a:avLst/>
          </a:prstGeom>
          <a:noFill/>
          <a:ln/>
        </p:spPr>
        <p:txBody>
          <a:bodyPr wrap="square" lIns="25400" tIns="25400" rIns="25400" bIns="25400" rtlCol="0" anchor="t">
            <a:normAutofit fontScale="92500" lnSpcReduction="10000"/>
          </a:bodyPr>
          <a:lstStyle/>
          <a:p>
            <a:pPr marL="0" indent="0" algn="l">
              <a:buNone/>
            </a:pPr>
            <a:r>
              <a:rPr lang="en-US" sz="1725" b="1" dirty="0">
                <a:solidFill>
                  <a:srgbClr val="127A38"/>
                </a:solidFill>
                <a:latin typeface="Arial" pitchFamily="34" charset="0"/>
                <a:ea typeface="Arial" pitchFamily="34" charset="-122"/>
                <a:cs typeface="Arial" pitchFamily="34" charset="-120"/>
              </a:rPr>
              <a:t>Interpretation</a:t>
            </a:r>
            <a:endParaRPr lang="en-US" sz="1725" dirty="0"/>
          </a:p>
        </p:txBody>
      </p:sp>
      <p:sp>
        <p:nvSpPr>
          <p:cNvPr id="26" name="Text 22"/>
          <p:cNvSpPr/>
          <p:nvPr/>
        </p:nvSpPr>
        <p:spPr>
          <a:xfrm>
            <a:off x="10955656" y="2855476"/>
            <a:ext cx="6249448" cy="1101090"/>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800" dirty="0">
                <a:solidFill>
                  <a:srgbClr val="2B3139"/>
                </a:solidFill>
                <a:latin typeface="Arial" pitchFamily="34" charset="0"/>
                <a:ea typeface="Arial" pitchFamily="34" charset="-122"/>
                <a:cs typeface="Arial" pitchFamily="34" charset="-120"/>
              </a:rPr>
              <a:t>Padna should be evaluated as a tax-task service rather than a daily or monthly app. Continuance means returning to Padna when a future tax need arises.</a:t>
            </a:r>
            <a:endParaRPr lang="en-US" sz="1800" dirty="0"/>
          </a:p>
        </p:txBody>
      </p:sp>
      <p:sp>
        <p:nvSpPr>
          <p:cNvPr id="27" name="Shape 23"/>
          <p:cNvSpPr/>
          <p:nvPr/>
        </p:nvSpPr>
        <p:spPr>
          <a:xfrm>
            <a:off x="10955656" y="4204216"/>
            <a:ext cx="6067425" cy="1043940"/>
          </a:xfrm>
          <a:prstGeom prst="roundRect">
            <a:avLst>
              <a:gd name="adj" fmla="val 14599"/>
            </a:avLst>
          </a:prstGeom>
          <a:solidFill>
            <a:srgbClr val="E3F6E9"/>
          </a:solidFill>
          <a:ln/>
        </p:spPr>
        <p:txBody>
          <a:bodyPr/>
          <a:lstStyle/>
          <a:p>
            <a:endParaRPr lang="en-US"/>
          </a:p>
        </p:txBody>
      </p:sp>
      <p:sp>
        <p:nvSpPr>
          <p:cNvPr id="28" name="Shape 24"/>
          <p:cNvSpPr/>
          <p:nvPr/>
        </p:nvSpPr>
        <p:spPr>
          <a:xfrm>
            <a:off x="11203306" y="4442341"/>
            <a:ext cx="323850" cy="323850"/>
          </a:xfrm>
          <a:prstGeom prst="ellipse">
            <a:avLst/>
          </a:prstGeom>
          <a:solidFill>
            <a:srgbClr val="0E9F43"/>
          </a:solidFill>
          <a:ln/>
        </p:spPr>
        <p:txBody>
          <a:bodyPr/>
          <a:lstStyle/>
          <a:p>
            <a:endParaRPr lang="en-US"/>
          </a:p>
        </p:txBody>
      </p:sp>
      <p:pic>
        <p:nvPicPr>
          <p:cNvPr id="2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69981" y="4509016"/>
            <a:ext cx="190500" cy="190500"/>
          </a:xfrm>
          <a:prstGeom prst="rect">
            <a:avLst/>
          </a:prstGeom>
        </p:spPr>
      </p:pic>
      <p:sp>
        <p:nvSpPr>
          <p:cNvPr id="30" name="Text 25"/>
          <p:cNvSpPr/>
          <p:nvPr/>
        </p:nvSpPr>
        <p:spPr>
          <a:xfrm>
            <a:off x="11660506" y="4432816"/>
            <a:ext cx="5268373" cy="6248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b="1" dirty="0">
                <a:solidFill>
                  <a:srgbClr val="0F5A2C"/>
                </a:solidFill>
                <a:latin typeface="Arial" pitchFamily="34" charset="0"/>
                <a:ea typeface="Arial" pitchFamily="34" charset="-122"/>
                <a:cs typeface="Arial" pitchFamily="34" charset="-120"/>
              </a:rPr>
              <a:t>Key implication: low year-round use does not automatically indicate poor continuance intention.</a:t>
            </a:r>
            <a:endParaRPr lang="en-US" sz="1650" dirty="0"/>
          </a:p>
        </p:txBody>
      </p:sp>
      <p:sp>
        <p:nvSpPr>
          <p:cNvPr id="31" name="Text 26"/>
          <p:cNvSpPr/>
          <p:nvPr/>
        </p:nvSpPr>
        <p:spPr>
          <a:xfrm>
            <a:off x="914400" y="9570720"/>
            <a:ext cx="18105120"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8A929C"/>
                </a:solidFill>
                <a:latin typeface="Arial" pitchFamily="34" charset="0"/>
                <a:ea typeface="Arial" pitchFamily="34" charset="-122"/>
                <a:cs typeface="Arial" pitchFamily="34" charset="-120"/>
              </a:rPr>
              <a:t>Gaianand Ramnarace | Final Presentation | 5</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4000"/>
          </a:blip>
          <a:stretch>
            <a:fillRect/>
          </a:stretch>
        </p:blipFill>
        <p:spPr>
          <a:xfrm>
            <a:off x="15354300" y="7353300"/>
            <a:ext cx="3619500" cy="3619500"/>
          </a:xfrm>
          <a:prstGeom prst="rect">
            <a:avLst/>
          </a:prstGeom>
        </p:spPr>
      </p:pic>
      <p:sp>
        <p:nvSpPr>
          <p:cNvPr id="3" name="Text 0"/>
          <p:cNvSpPr/>
          <p:nvPr/>
        </p:nvSpPr>
        <p:spPr>
          <a:xfrm>
            <a:off x="914400" y="609600"/>
            <a:ext cx="11271957" cy="53185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600" b="1" kern="0" spc="-36" dirty="0">
                <a:solidFill>
                  <a:srgbClr val="111418"/>
                </a:solidFill>
                <a:latin typeface="Arial" pitchFamily="34" charset="0"/>
                <a:ea typeface="Arial" pitchFamily="34" charset="-122"/>
                <a:cs typeface="Arial" pitchFamily="34" charset="-120"/>
              </a:rPr>
              <a:t>Measurement Model Quality</a:t>
            </a:r>
            <a:endParaRPr lang="en-US" sz="3600" dirty="0"/>
          </a:p>
        </p:txBody>
      </p:sp>
      <p:sp>
        <p:nvSpPr>
          <p:cNvPr id="4" name="Text 1"/>
          <p:cNvSpPr/>
          <p:nvPr/>
        </p:nvSpPr>
        <p:spPr>
          <a:xfrm>
            <a:off x="914400" y="1217652"/>
            <a:ext cx="11271957" cy="359569"/>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5C6570"/>
                </a:solidFill>
                <a:latin typeface="Arial" pitchFamily="34" charset="0"/>
                <a:ea typeface="Arial" pitchFamily="34" charset="-122"/>
                <a:cs typeface="Arial" pitchFamily="34" charset="-120"/>
              </a:rPr>
              <a:t>The final measurement model demonstrated acceptable reliability and convergent validity.</a:t>
            </a:r>
            <a:endParaRPr lang="en-US" sz="1875" dirty="0"/>
          </a:p>
        </p:txBody>
      </p:sp>
      <p:sp>
        <p:nvSpPr>
          <p:cNvPr id="5" name="Text 2"/>
          <p:cNvSpPr/>
          <p:nvPr/>
        </p:nvSpPr>
        <p:spPr>
          <a:xfrm>
            <a:off x="16543854" y="763905"/>
            <a:ext cx="334447"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99" dirty="0">
                <a:solidFill>
                  <a:srgbClr val="B5BCC4"/>
                </a:solidFill>
                <a:latin typeface="Arial" pitchFamily="34" charset="0"/>
                <a:ea typeface="Arial" pitchFamily="34" charset="-122"/>
                <a:cs typeface="Arial" pitchFamily="34" charset="-120"/>
              </a:rPr>
              <a:t>06</a:t>
            </a:r>
            <a:endParaRPr lang="en-US" sz="1650" dirty="0"/>
          </a:p>
        </p:txBody>
      </p:sp>
      <p:pic>
        <p:nvPicPr>
          <p:cNvPr id="6" name="Image 1" descr="preencoded.png"/>
          <p:cNvPicPr>
            <a:picLocks noChangeAspect="1"/>
          </p:cNvPicPr>
          <p:nvPr/>
        </p:nvPicPr>
        <p:blipFill>
          <a:blip r:embed="rId3"/>
          <a:stretch>
            <a:fillRect/>
          </a:stretch>
        </p:blipFill>
        <p:spPr>
          <a:xfrm>
            <a:off x="16935450" y="666750"/>
            <a:ext cx="438150" cy="438150"/>
          </a:xfrm>
          <a:prstGeom prst="rect">
            <a:avLst/>
          </a:prstGeom>
        </p:spPr>
      </p:pic>
      <p:sp>
        <p:nvSpPr>
          <p:cNvPr id="7" name="Shape 3"/>
          <p:cNvSpPr/>
          <p:nvPr/>
        </p:nvSpPr>
        <p:spPr>
          <a:xfrm>
            <a:off x="914400" y="1767721"/>
            <a:ext cx="16459200" cy="9525"/>
          </a:xfrm>
          <a:prstGeom prst="rect">
            <a:avLst/>
          </a:prstGeom>
          <a:solidFill>
            <a:srgbClr val="D9DDE2"/>
          </a:solidFill>
          <a:ln/>
        </p:spPr>
        <p:txBody>
          <a:bodyPr/>
          <a:lstStyle/>
          <a:p>
            <a:endParaRPr lang="en-US"/>
          </a:p>
        </p:txBody>
      </p:sp>
      <p:sp>
        <p:nvSpPr>
          <p:cNvPr id="8" name="Shape 4"/>
          <p:cNvSpPr/>
          <p:nvPr/>
        </p:nvSpPr>
        <p:spPr>
          <a:xfrm>
            <a:off x="914400" y="3936087"/>
            <a:ext cx="47625" cy="247650"/>
          </a:xfrm>
          <a:prstGeom prst="roundRect">
            <a:avLst>
              <a:gd name="adj" fmla="val 50000"/>
            </a:avLst>
          </a:prstGeom>
          <a:gradFill rotWithShape="1">
            <a:gsLst>
              <a:gs pos="0">
                <a:srgbClr val="14B24B">
                  <a:alpha val="100000"/>
                </a:srgbClr>
              </a:gs>
              <a:gs pos="100000">
                <a:srgbClr val="0F5A2C">
                  <a:alpha val="100000"/>
                </a:srgbClr>
              </a:gs>
            </a:gsLst>
            <a:lin ang="5400000" scaled="0"/>
          </a:gradFill>
          <a:ln/>
        </p:spPr>
        <p:txBody>
          <a:bodyPr/>
          <a:lstStyle/>
          <a:p>
            <a:endParaRPr lang="en-US"/>
          </a:p>
        </p:txBody>
      </p:sp>
      <p:sp>
        <p:nvSpPr>
          <p:cNvPr id="9" name="Text 5"/>
          <p:cNvSpPr/>
          <p:nvPr/>
        </p:nvSpPr>
        <p:spPr>
          <a:xfrm>
            <a:off x="1076325" y="3934182"/>
            <a:ext cx="1661077" cy="289560"/>
          </a:xfrm>
          <a:prstGeom prst="rect">
            <a:avLst/>
          </a:prstGeom>
          <a:noFill/>
          <a:ln/>
        </p:spPr>
        <p:txBody>
          <a:bodyPr wrap="square" lIns="25400" tIns="25400" rIns="25400" bIns="25400" rtlCol="0" anchor="t">
            <a:normAutofit fontScale="92500" lnSpcReduction="10000"/>
          </a:bodyPr>
          <a:lstStyle/>
          <a:p>
            <a:pPr marL="0" indent="0" algn="l">
              <a:buNone/>
            </a:pPr>
            <a:r>
              <a:rPr lang="en-US" sz="1725" b="1" dirty="0">
                <a:solidFill>
                  <a:srgbClr val="127A38"/>
                </a:solidFill>
                <a:latin typeface="Arial" pitchFamily="34" charset="0"/>
                <a:ea typeface="Arial" pitchFamily="34" charset="-122"/>
                <a:cs typeface="Arial" pitchFamily="34" charset="-120"/>
              </a:rPr>
              <a:t>Key adjustment</a:t>
            </a:r>
            <a:endParaRPr lang="en-US" sz="1725" dirty="0"/>
          </a:p>
        </p:txBody>
      </p:sp>
      <p:sp>
        <p:nvSpPr>
          <p:cNvPr id="10" name="Text 6"/>
          <p:cNvSpPr/>
          <p:nvPr/>
        </p:nvSpPr>
        <p:spPr>
          <a:xfrm>
            <a:off x="914400" y="4338042"/>
            <a:ext cx="6741457" cy="1066800"/>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2B3139"/>
                </a:solidFill>
                <a:latin typeface="Arial" pitchFamily="34" charset="0"/>
                <a:ea typeface="Arial" pitchFamily="34" charset="-122"/>
                <a:cs typeface="Arial" pitchFamily="34" charset="-120"/>
              </a:rPr>
              <a:t>FC1 was removed because its outer loading was approximately 0.142 and it weakened the Facilitating Conditions construct.</a:t>
            </a:r>
            <a:endParaRPr lang="en-US" sz="1800" dirty="0"/>
          </a:p>
        </p:txBody>
      </p:sp>
      <p:sp>
        <p:nvSpPr>
          <p:cNvPr id="11" name="Shape 7"/>
          <p:cNvSpPr/>
          <p:nvPr/>
        </p:nvSpPr>
        <p:spPr>
          <a:xfrm>
            <a:off x="914400" y="5576292"/>
            <a:ext cx="6545104" cy="999173"/>
          </a:xfrm>
          <a:prstGeom prst="roundRect">
            <a:avLst>
              <a:gd name="adj" fmla="val 15253"/>
            </a:avLst>
          </a:prstGeom>
          <a:solidFill>
            <a:srgbClr val="EEF1F4"/>
          </a:solidFill>
          <a:ln/>
        </p:spPr>
        <p:txBody>
          <a:bodyPr/>
          <a:lstStyle/>
          <a:p>
            <a:endParaRPr lang="en-US"/>
          </a:p>
        </p:txBody>
      </p:sp>
      <p:sp>
        <p:nvSpPr>
          <p:cNvPr id="12" name="Text 8"/>
          <p:cNvSpPr/>
          <p:nvPr/>
        </p:nvSpPr>
        <p:spPr>
          <a:xfrm>
            <a:off x="1143000" y="5785842"/>
            <a:ext cx="6270541" cy="618173"/>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5C6570"/>
                </a:solidFill>
                <a:latin typeface="Arial" pitchFamily="34" charset="0"/>
                <a:ea typeface="Arial" pitchFamily="34" charset="-122"/>
                <a:cs typeface="Arial" pitchFamily="34" charset="-120"/>
              </a:rPr>
              <a:t>Reason: FC1 measured basic device and internet access, while FC2 and FC3 measured help, resources and support.</a:t>
            </a:r>
            <a:endParaRPr lang="en-US" sz="1575" dirty="0"/>
          </a:p>
        </p:txBody>
      </p:sp>
      <p:sp>
        <p:nvSpPr>
          <p:cNvPr id="13" name="Shape 9"/>
          <p:cNvSpPr/>
          <p:nvPr/>
        </p:nvSpPr>
        <p:spPr>
          <a:xfrm>
            <a:off x="7954804" y="2045851"/>
            <a:ext cx="47625" cy="247650"/>
          </a:xfrm>
          <a:prstGeom prst="roundRect">
            <a:avLst>
              <a:gd name="adj" fmla="val 50000"/>
            </a:avLst>
          </a:prstGeom>
          <a:gradFill rotWithShape="1">
            <a:gsLst>
              <a:gs pos="0">
                <a:srgbClr val="14B24B">
                  <a:alpha val="100000"/>
                </a:srgbClr>
              </a:gs>
              <a:gs pos="100000">
                <a:srgbClr val="0F5A2C">
                  <a:alpha val="100000"/>
                </a:srgbClr>
              </a:gs>
            </a:gsLst>
            <a:lin ang="5400000" scaled="0"/>
          </a:gradFill>
          <a:ln/>
        </p:spPr>
        <p:txBody>
          <a:bodyPr/>
          <a:lstStyle/>
          <a:p>
            <a:endParaRPr lang="en-US"/>
          </a:p>
        </p:txBody>
      </p:sp>
      <p:sp>
        <p:nvSpPr>
          <p:cNvPr id="14" name="Text 10"/>
          <p:cNvSpPr/>
          <p:nvPr/>
        </p:nvSpPr>
        <p:spPr>
          <a:xfrm>
            <a:off x="8116729" y="2043946"/>
            <a:ext cx="4580763" cy="28956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27A38"/>
                </a:solidFill>
                <a:latin typeface="Arial" pitchFamily="34" charset="0"/>
                <a:ea typeface="Arial" pitchFamily="34" charset="-122"/>
                <a:cs typeface="Arial" pitchFamily="34" charset="-120"/>
              </a:rPr>
              <a:t>Accepted quality checks after FC1 removal</a:t>
            </a:r>
            <a:endParaRPr lang="en-US" sz="1725" dirty="0"/>
          </a:p>
        </p:txBody>
      </p:sp>
      <p:sp>
        <p:nvSpPr>
          <p:cNvPr id="15" name="Shape 11"/>
          <p:cNvSpPr/>
          <p:nvPr/>
        </p:nvSpPr>
        <p:spPr>
          <a:xfrm>
            <a:off x="7954804" y="2485906"/>
            <a:ext cx="9418797" cy="739140"/>
          </a:xfrm>
          <a:prstGeom prst="roundRect">
            <a:avLst>
              <a:gd name="adj" fmla="val 23196"/>
            </a:avLst>
          </a:prstGeom>
          <a:solidFill>
            <a:srgbClr val="FFFFFF">
              <a:alpha val="88000"/>
            </a:srgbClr>
          </a:solidFill>
          <a:ln w="7620">
            <a:solidFill>
              <a:srgbClr val="FFFFFF">
                <a:alpha val="90000"/>
              </a:srgbClr>
            </a:solidFill>
            <a:prstDash val="solid"/>
          </a:ln>
          <a:effectLst>
            <a:outerShdw blurRad="19050" dist="9525" dir="5400000" algn="bl" rotWithShape="0">
              <a:srgbClr val="0B3D1E">
                <a:alpha val="4000"/>
              </a:srgbClr>
            </a:outerShdw>
          </a:effectLst>
        </p:spPr>
        <p:txBody>
          <a:bodyPr/>
          <a:lstStyle/>
          <a:p>
            <a:endParaRPr lang="en-US"/>
          </a:p>
        </p:txBody>
      </p:sp>
      <p:sp>
        <p:nvSpPr>
          <p:cNvPr id="16" name="Shape 12"/>
          <p:cNvSpPr/>
          <p:nvPr/>
        </p:nvSpPr>
        <p:spPr>
          <a:xfrm>
            <a:off x="8191024" y="2645926"/>
            <a:ext cx="419100" cy="419100"/>
          </a:xfrm>
          <a:prstGeom prst="ellipse">
            <a:avLst/>
          </a:prstGeom>
          <a:solidFill>
            <a:srgbClr val="0E9F43"/>
          </a:solidFill>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86274" y="2741176"/>
            <a:ext cx="228600" cy="228600"/>
          </a:xfrm>
          <a:prstGeom prst="rect">
            <a:avLst/>
          </a:prstGeom>
        </p:spPr>
      </p:pic>
      <p:sp>
        <p:nvSpPr>
          <p:cNvPr id="18" name="Text 13"/>
          <p:cNvSpPr/>
          <p:nvPr/>
        </p:nvSpPr>
        <p:spPr>
          <a:xfrm>
            <a:off x="8800624" y="2733556"/>
            <a:ext cx="6243019"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11418"/>
                </a:solidFill>
                <a:latin typeface="Arial" pitchFamily="34" charset="0"/>
                <a:ea typeface="Arial" pitchFamily="34" charset="-122"/>
                <a:cs typeface="Arial" pitchFamily="34" charset="-120"/>
              </a:rPr>
              <a:t>Indicator loadings</a:t>
            </a:r>
            <a:endParaRPr lang="en-US" sz="1650" dirty="0"/>
          </a:p>
        </p:txBody>
      </p:sp>
      <p:sp>
        <p:nvSpPr>
          <p:cNvPr id="19" name="Text 14"/>
          <p:cNvSpPr/>
          <p:nvPr/>
        </p:nvSpPr>
        <p:spPr>
          <a:xfrm>
            <a:off x="14666595" y="2733556"/>
            <a:ext cx="1474053"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27A38"/>
                </a:solidFill>
                <a:latin typeface="Arial" pitchFamily="34" charset="0"/>
                <a:ea typeface="Arial" pitchFamily="34" charset="-122"/>
                <a:cs typeface="Arial" pitchFamily="34" charset="-120"/>
              </a:rPr>
              <a:t>0.855 to 0.976</a:t>
            </a:r>
            <a:endParaRPr lang="en-US" sz="1650" dirty="0"/>
          </a:p>
        </p:txBody>
      </p:sp>
      <p:sp>
        <p:nvSpPr>
          <p:cNvPr id="20" name="Shape 15"/>
          <p:cNvSpPr/>
          <p:nvPr/>
        </p:nvSpPr>
        <p:spPr>
          <a:xfrm>
            <a:off x="16197144" y="2701171"/>
            <a:ext cx="940237" cy="308610"/>
          </a:xfrm>
          <a:prstGeom prst="roundRect">
            <a:avLst>
              <a:gd name="adj" fmla="val 50000"/>
            </a:avLst>
          </a:prstGeom>
          <a:solidFill>
            <a:srgbClr val="E3F6E9"/>
          </a:solidFill>
          <a:ln/>
        </p:spPr>
        <p:txBody>
          <a:bodyPr/>
          <a:lstStyle/>
          <a:p>
            <a:endParaRPr lang="en-US"/>
          </a:p>
        </p:txBody>
      </p:sp>
      <p:sp>
        <p:nvSpPr>
          <p:cNvPr id="21" name="Text 16"/>
          <p:cNvSpPr/>
          <p:nvPr/>
        </p:nvSpPr>
        <p:spPr>
          <a:xfrm>
            <a:off x="16349544" y="2767846"/>
            <a:ext cx="711637" cy="213360"/>
          </a:xfrm>
          <a:prstGeom prst="rect">
            <a:avLst/>
          </a:prstGeom>
          <a:noFill/>
          <a:ln/>
        </p:spPr>
        <p:txBody>
          <a:bodyPr wrap="square" lIns="25400" tIns="25400" rIns="25400" bIns="25400" rtlCol="0" anchor="t">
            <a:normAutofit fontScale="92500" lnSpcReduction="10000"/>
          </a:bodyPr>
          <a:lstStyle/>
          <a:p>
            <a:pPr marL="0" indent="0" algn="l">
              <a:buNone/>
            </a:pPr>
            <a:r>
              <a:rPr lang="en-US" sz="1200" b="1" dirty="0">
                <a:solidFill>
                  <a:srgbClr val="0E9F43"/>
                </a:solidFill>
                <a:latin typeface="Arial" pitchFamily="34" charset="0"/>
                <a:ea typeface="Arial" pitchFamily="34" charset="-122"/>
                <a:cs typeface="Arial" pitchFamily="34" charset="-120"/>
              </a:rPr>
              <a:t>Accepted</a:t>
            </a:r>
            <a:endParaRPr lang="en-US" sz="1200" dirty="0"/>
          </a:p>
        </p:txBody>
      </p:sp>
      <p:sp>
        <p:nvSpPr>
          <p:cNvPr id="22" name="Shape 17"/>
          <p:cNvSpPr/>
          <p:nvPr/>
        </p:nvSpPr>
        <p:spPr>
          <a:xfrm>
            <a:off x="7954804" y="3348871"/>
            <a:ext cx="9418797" cy="739140"/>
          </a:xfrm>
          <a:prstGeom prst="roundRect">
            <a:avLst>
              <a:gd name="adj" fmla="val 23196"/>
            </a:avLst>
          </a:prstGeom>
          <a:solidFill>
            <a:srgbClr val="FFFFFF">
              <a:alpha val="88000"/>
            </a:srgbClr>
          </a:solidFill>
          <a:ln w="7620">
            <a:solidFill>
              <a:srgbClr val="FFFFFF">
                <a:alpha val="90000"/>
              </a:srgbClr>
            </a:solidFill>
            <a:prstDash val="solid"/>
          </a:ln>
          <a:effectLst>
            <a:outerShdw blurRad="19050" dist="9525" dir="5400000" algn="bl" rotWithShape="0">
              <a:srgbClr val="0B3D1E">
                <a:alpha val="4000"/>
              </a:srgbClr>
            </a:outerShdw>
          </a:effectLst>
        </p:spPr>
        <p:txBody>
          <a:bodyPr/>
          <a:lstStyle/>
          <a:p>
            <a:endParaRPr lang="en-US"/>
          </a:p>
        </p:txBody>
      </p:sp>
      <p:sp>
        <p:nvSpPr>
          <p:cNvPr id="23" name="Shape 18"/>
          <p:cNvSpPr/>
          <p:nvPr/>
        </p:nvSpPr>
        <p:spPr>
          <a:xfrm>
            <a:off x="8191024" y="3508891"/>
            <a:ext cx="419100" cy="419100"/>
          </a:xfrm>
          <a:prstGeom prst="ellipse">
            <a:avLst/>
          </a:prstGeom>
          <a:solidFill>
            <a:srgbClr val="0E9F43"/>
          </a:solidFill>
          <a:ln/>
        </p:spPr>
        <p:txBody>
          <a:bodyPr/>
          <a:lstStyle/>
          <a:p>
            <a:endParaRPr lang="en-US"/>
          </a:p>
        </p:txBody>
      </p:sp>
      <p:pic>
        <p:nvPicPr>
          <p:cNvPr id="24"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86274" y="3604141"/>
            <a:ext cx="228600" cy="228600"/>
          </a:xfrm>
          <a:prstGeom prst="rect">
            <a:avLst/>
          </a:prstGeom>
        </p:spPr>
      </p:pic>
      <p:sp>
        <p:nvSpPr>
          <p:cNvPr id="25" name="Text 19"/>
          <p:cNvSpPr/>
          <p:nvPr/>
        </p:nvSpPr>
        <p:spPr>
          <a:xfrm>
            <a:off x="8800624" y="3596521"/>
            <a:ext cx="6243019"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11418"/>
                </a:solidFill>
                <a:latin typeface="Arial" pitchFamily="34" charset="0"/>
                <a:ea typeface="Arial" pitchFamily="34" charset="-122"/>
                <a:cs typeface="Arial" pitchFamily="34" charset="-120"/>
              </a:rPr>
              <a:t>Cronbach’s alpha</a:t>
            </a:r>
            <a:endParaRPr lang="en-US" sz="1650" dirty="0"/>
          </a:p>
        </p:txBody>
      </p:sp>
      <p:sp>
        <p:nvSpPr>
          <p:cNvPr id="26" name="Text 20"/>
          <p:cNvSpPr/>
          <p:nvPr/>
        </p:nvSpPr>
        <p:spPr>
          <a:xfrm>
            <a:off x="14666595" y="3596521"/>
            <a:ext cx="1474053"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27A38"/>
                </a:solidFill>
                <a:latin typeface="Arial" pitchFamily="34" charset="0"/>
                <a:ea typeface="Arial" pitchFamily="34" charset="-122"/>
                <a:cs typeface="Arial" pitchFamily="34" charset="-120"/>
              </a:rPr>
              <a:t>0.824 to 0.972</a:t>
            </a:r>
            <a:endParaRPr lang="en-US" sz="1650" dirty="0"/>
          </a:p>
        </p:txBody>
      </p:sp>
      <p:sp>
        <p:nvSpPr>
          <p:cNvPr id="27" name="Shape 21"/>
          <p:cNvSpPr/>
          <p:nvPr/>
        </p:nvSpPr>
        <p:spPr>
          <a:xfrm>
            <a:off x="16197144" y="3564136"/>
            <a:ext cx="940237" cy="308610"/>
          </a:xfrm>
          <a:prstGeom prst="roundRect">
            <a:avLst>
              <a:gd name="adj" fmla="val 50000"/>
            </a:avLst>
          </a:prstGeom>
          <a:solidFill>
            <a:srgbClr val="E3F6E9"/>
          </a:solidFill>
          <a:ln/>
        </p:spPr>
        <p:txBody>
          <a:bodyPr/>
          <a:lstStyle/>
          <a:p>
            <a:endParaRPr lang="en-US"/>
          </a:p>
        </p:txBody>
      </p:sp>
      <p:sp>
        <p:nvSpPr>
          <p:cNvPr id="28" name="Text 22"/>
          <p:cNvSpPr/>
          <p:nvPr/>
        </p:nvSpPr>
        <p:spPr>
          <a:xfrm>
            <a:off x="16349544" y="3630811"/>
            <a:ext cx="711637" cy="213360"/>
          </a:xfrm>
          <a:prstGeom prst="rect">
            <a:avLst/>
          </a:prstGeom>
          <a:noFill/>
          <a:ln/>
        </p:spPr>
        <p:txBody>
          <a:bodyPr wrap="square" lIns="25400" tIns="25400" rIns="25400" bIns="25400" rtlCol="0" anchor="t">
            <a:normAutofit fontScale="92500" lnSpcReduction="10000"/>
          </a:bodyPr>
          <a:lstStyle/>
          <a:p>
            <a:pPr marL="0" indent="0" algn="l">
              <a:buNone/>
            </a:pPr>
            <a:r>
              <a:rPr lang="en-US" sz="1200" b="1" dirty="0">
                <a:solidFill>
                  <a:srgbClr val="0E9F43"/>
                </a:solidFill>
                <a:latin typeface="Arial" pitchFamily="34" charset="0"/>
                <a:ea typeface="Arial" pitchFamily="34" charset="-122"/>
                <a:cs typeface="Arial" pitchFamily="34" charset="-120"/>
              </a:rPr>
              <a:t>Accepted</a:t>
            </a:r>
            <a:endParaRPr lang="en-US" sz="1200" dirty="0"/>
          </a:p>
        </p:txBody>
      </p:sp>
      <p:sp>
        <p:nvSpPr>
          <p:cNvPr id="29" name="Shape 23"/>
          <p:cNvSpPr/>
          <p:nvPr/>
        </p:nvSpPr>
        <p:spPr>
          <a:xfrm>
            <a:off x="7954804" y="4211836"/>
            <a:ext cx="9418797" cy="739140"/>
          </a:xfrm>
          <a:prstGeom prst="roundRect">
            <a:avLst>
              <a:gd name="adj" fmla="val 23196"/>
            </a:avLst>
          </a:prstGeom>
          <a:solidFill>
            <a:srgbClr val="FFFFFF">
              <a:alpha val="88000"/>
            </a:srgbClr>
          </a:solidFill>
          <a:ln w="7620">
            <a:solidFill>
              <a:srgbClr val="FFFFFF">
                <a:alpha val="90000"/>
              </a:srgbClr>
            </a:solidFill>
            <a:prstDash val="solid"/>
          </a:ln>
          <a:effectLst>
            <a:outerShdw blurRad="19050" dist="9525" dir="5400000" algn="bl" rotWithShape="0">
              <a:srgbClr val="0B3D1E">
                <a:alpha val="4000"/>
              </a:srgbClr>
            </a:outerShdw>
          </a:effectLst>
        </p:spPr>
        <p:txBody>
          <a:bodyPr/>
          <a:lstStyle/>
          <a:p>
            <a:endParaRPr lang="en-US"/>
          </a:p>
        </p:txBody>
      </p:sp>
      <p:sp>
        <p:nvSpPr>
          <p:cNvPr id="30" name="Shape 24"/>
          <p:cNvSpPr/>
          <p:nvPr/>
        </p:nvSpPr>
        <p:spPr>
          <a:xfrm>
            <a:off x="8191024" y="4371856"/>
            <a:ext cx="419100" cy="419100"/>
          </a:xfrm>
          <a:prstGeom prst="ellipse">
            <a:avLst/>
          </a:prstGeom>
          <a:solidFill>
            <a:srgbClr val="0E9F43"/>
          </a:solidFill>
          <a:ln/>
        </p:spPr>
        <p:txBody>
          <a:bodyPr/>
          <a:lstStyle/>
          <a:p>
            <a:endParaRPr lang="en-US"/>
          </a:p>
        </p:txBody>
      </p:sp>
      <p:pic>
        <p:nvPicPr>
          <p:cNvPr id="31"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86274" y="4467106"/>
            <a:ext cx="228600" cy="228600"/>
          </a:xfrm>
          <a:prstGeom prst="rect">
            <a:avLst/>
          </a:prstGeom>
        </p:spPr>
      </p:pic>
      <p:sp>
        <p:nvSpPr>
          <p:cNvPr id="32" name="Text 25"/>
          <p:cNvSpPr/>
          <p:nvPr/>
        </p:nvSpPr>
        <p:spPr>
          <a:xfrm>
            <a:off x="8800624" y="4459486"/>
            <a:ext cx="6243019"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11418"/>
                </a:solidFill>
                <a:latin typeface="Arial" pitchFamily="34" charset="0"/>
                <a:ea typeface="Arial" pitchFamily="34" charset="-122"/>
                <a:cs typeface="Arial" pitchFamily="34" charset="-120"/>
              </a:rPr>
              <a:t>Composite reliability</a:t>
            </a:r>
            <a:endParaRPr lang="en-US" sz="1650" dirty="0"/>
          </a:p>
        </p:txBody>
      </p:sp>
      <p:sp>
        <p:nvSpPr>
          <p:cNvPr id="33" name="Text 26"/>
          <p:cNvSpPr/>
          <p:nvPr/>
        </p:nvSpPr>
        <p:spPr>
          <a:xfrm>
            <a:off x="14666595" y="4459486"/>
            <a:ext cx="1474053"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27A38"/>
                </a:solidFill>
                <a:latin typeface="Arial" pitchFamily="34" charset="0"/>
                <a:ea typeface="Arial" pitchFamily="34" charset="-122"/>
                <a:cs typeface="Arial" pitchFamily="34" charset="-120"/>
              </a:rPr>
              <a:t>0.896 to 0.981</a:t>
            </a:r>
            <a:endParaRPr lang="en-US" sz="1650" dirty="0"/>
          </a:p>
        </p:txBody>
      </p:sp>
      <p:sp>
        <p:nvSpPr>
          <p:cNvPr id="34" name="Shape 27"/>
          <p:cNvSpPr/>
          <p:nvPr/>
        </p:nvSpPr>
        <p:spPr>
          <a:xfrm>
            <a:off x="16197144" y="4427101"/>
            <a:ext cx="940237" cy="308610"/>
          </a:xfrm>
          <a:prstGeom prst="roundRect">
            <a:avLst>
              <a:gd name="adj" fmla="val 50000"/>
            </a:avLst>
          </a:prstGeom>
          <a:solidFill>
            <a:srgbClr val="E3F6E9"/>
          </a:solidFill>
          <a:ln/>
        </p:spPr>
        <p:txBody>
          <a:bodyPr/>
          <a:lstStyle/>
          <a:p>
            <a:endParaRPr lang="en-US"/>
          </a:p>
        </p:txBody>
      </p:sp>
      <p:sp>
        <p:nvSpPr>
          <p:cNvPr id="35" name="Text 28"/>
          <p:cNvSpPr/>
          <p:nvPr/>
        </p:nvSpPr>
        <p:spPr>
          <a:xfrm>
            <a:off x="16349544" y="4493776"/>
            <a:ext cx="711637" cy="213360"/>
          </a:xfrm>
          <a:prstGeom prst="rect">
            <a:avLst/>
          </a:prstGeom>
          <a:noFill/>
          <a:ln/>
        </p:spPr>
        <p:txBody>
          <a:bodyPr wrap="square" lIns="25400" tIns="25400" rIns="25400" bIns="25400" rtlCol="0" anchor="t">
            <a:normAutofit fontScale="92500" lnSpcReduction="10000"/>
          </a:bodyPr>
          <a:lstStyle/>
          <a:p>
            <a:pPr marL="0" indent="0" algn="l">
              <a:buNone/>
            </a:pPr>
            <a:r>
              <a:rPr lang="en-US" sz="1200" b="1" dirty="0">
                <a:solidFill>
                  <a:srgbClr val="0E9F43"/>
                </a:solidFill>
                <a:latin typeface="Arial" pitchFamily="34" charset="0"/>
                <a:ea typeface="Arial" pitchFamily="34" charset="-122"/>
                <a:cs typeface="Arial" pitchFamily="34" charset="-120"/>
              </a:rPr>
              <a:t>Accepted</a:t>
            </a:r>
            <a:endParaRPr lang="en-US" sz="1200" dirty="0"/>
          </a:p>
        </p:txBody>
      </p:sp>
      <p:sp>
        <p:nvSpPr>
          <p:cNvPr id="36" name="Shape 29"/>
          <p:cNvSpPr/>
          <p:nvPr/>
        </p:nvSpPr>
        <p:spPr>
          <a:xfrm>
            <a:off x="7954804" y="5074801"/>
            <a:ext cx="9418797" cy="739140"/>
          </a:xfrm>
          <a:prstGeom prst="roundRect">
            <a:avLst>
              <a:gd name="adj" fmla="val 23196"/>
            </a:avLst>
          </a:prstGeom>
          <a:solidFill>
            <a:srgbClr val="FFFFFF">
              <a:alpha val="88000"/>
            </a:srgbClr>
          </a:solidFill>
          <a:ln w="7620">
            <a:solidFill>
              <a:srgbClr val="FFFFFF">
                <a:alpha val="90000"/>
              </a:srgbClr>
            </a:solidFill>
            <a:prstDash val="solid"/>
          </a:ln>
          <a:effectLst>
            <a:outerShdw blurRad="19050" dist="9525" dir="5400000" algn="bl" rotWithShape="0">
              <a:srgbClr val="0B3D1E">
                <a:alpha val="4000"/>
              </a:srgbClr>
            </a:outerShdw>
          </a:effectLst>
        </p:spPr>
        <p:txBody>
          <a:bodyPr/>
          <a:lstStyle/>
          <a:p>
            <a:endParaRPr lang="en-US"/>
          </a:p>
        </p:txBody>
      </p:sp>
      <p:sp>
        <p:nvSpPr>
          <p:cNvPr id="37" name="Shape 30"/>
          <p:cNvSpPr/>
          <p:nvPr/>
        </p:nvSpPr>
        <p:spPr>
          <a:xfrm>
            <a:off x="8191024" y="5234821"/>
            <a:ext cx="419100" cy="419100"/>
          </a:xfrm>
          <a:prstGeom prst="ellipse">
            <a:avLst/>
          </a:prstGeom>
          <a:solidFill>
            <a:srgbClr val="0E9F43"/>
          </a:solidFill>
          <a:ln/>
        </p:spPr>
        <p:txBody>
          <a:bodyPr/>
          <a:lstStyle/>
          <a:p>
            <a:endParaRPr lang="en-US"/>
          </a:p>
        </p:txBody>
      </p:sp>
      <p:pic>
        <p:nvPicPr>
          <p:cNvPr id="38"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86274" y="5330071"/>
            <a:ext cx="228600" cy="228600"/>
          </a:xfrm>
          <a:prstGeom prst="rect">
            <a:avLst/>
          </a:prstGeom>
        </p:spPr>
      </p:pic>
      <p:sp>
        <p:nvSpPr>
          <p:cNvPr id="39" name="Text 31"/>
          <p:cNvSpPr/>
          <p:nvPr/>
        </p:nvSpPr>
        <p:spPr>
          <a:xfrm>
            <a:off x="8800624" y="5322451"/>
            <a:ext cx="6243019"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11418"/>
                </a:solidFill>
                <a:latin typeface="Arial" pitchFamily="34" charset="0"/>
                <a:ea typeface="Arial" pitchFamily="34" charset="-122"/>
                <a:cs typeface="Arial" pitchFamily="34" charset="-120"/>
              </a:rPr>
              <a:t>AVE</a:t>
            </a:r>
            <a:endParaRPr lang="en-US" sz="1650" dirty="0"/>
          </a:p>
        </p:txBody>
      </p:sp>
      <p:sp>
        <p:nvSpPr>
          <p:cNvPr id="40" name="Text 32"/>
          <p:cNvSpPr/>
          <p:nvPr/>
        </p:nvSpPr>
        <p:spPr>
          <a:xfrm>
            <a:off x="14666595" y="5322451"/>
            <a:ext cx="1474053"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27A38"/>
                </a:solidFill>
                <a:latin typeface="Arial" pitchFamily="34" charset="0"/>
                <a:ea typeface="Arial" pitchFamily="34" charset="-122"/>
                <a:cs typeface="Arial" pitchFamily="34" charset="-120"/>
              </a:rPr>
              <a:t>0.742 to 0.946</a:t>
            </a:r>
            <a:endParaRPr lang="en-US" sz="1650" dirty="0"/>
          </a:p>
        </p:txBody>
      </p:sp>
      <p:sp>
        <p:nvSpPr>
          <p:cNvPr id="41" name="Shape 33"/>
          <p:cNvSpPr/>
          <p:nvPr/>
        </p:nvSpPr>
        <p:spPr>
          <a:xfrm>
            <a:off x="16197144" y="5290066"/>
            <a:ext cx="940237" cy="308610"/>
          </a:xfrm>
          <a:prstGeom prst="roundRect">
            <a:avLst>
              <a:gd name="adj" fmla="val 50000"/>
            </a:avLst>
          </a:prstGeom>
          <a:solidFill>
            <a:srgbClr val="E3F6E9"/>
          </a:solidFill>
          <a:ln/>
        </p:spPr>
        <p:txBody>
          <a:bodyPr/>
          <a:lstStyle/>
          <a:p>
            <a:endParaRPr lang="en-US"/>
          </a:p>
        </p:txBody>
      </p:sp>
      <p:sp>
        <p:nvSpPr>
          <p:cNvPr id="42" name="Text 34"/>
          <p:cNvSpPr/>
          <p:nvPr/>
        </p:nvSpPr>
        <p:spPr>
          <a:xfrm>
            <a:off x="16349544" y="5356741"/>
            <a:ext cx="711637" cy="213360"/>
          </a:xfrm>
          <a:prstGeom prst="rect">
            <a:avLst/>
          </a:prstGeom>
          <a:noFill/>
          <a:ln/>
        </p:spPr>
        <p:txBody>
          <a:bodyPr wrap="square" lIns="25400" tIns="25400" rIns="25400" bIns="25400" rtlCol="0" anchor="t">
            <a:normAutofit fontScale="92500" lnSpcReduction="10000"/>
          </a:bodyPr>
          <a:lstStyle/>
          <a:p>
            <a:pPr marL="0" indent="0" algn="l">
              <a:buNone/>
            </a:pPr>
            <a:r>
              <a:rPr lang="en-US" sz="1200" b="1" dirty="0">
                <a:solidFill>
                  <a:srgbClr val="0E9F43"/>
                </a:solidFill>
                <a:latin typeface="Arial" pitchFamily="34" charset="0"/>
                <a:ea typeface="Arial" pitchFamily="34" charset="-122"/>
                <a:cs typeface="Arial" pitchFamily="34" charset="-120"/>
              </a:rPr>
              <a:t>Accepted</a:t>
            </a:r>
            <a:endParaRPr lang="en-US" sz="1200" dirty="0"/>
          </a:p>
        </p:txBody>
      </p:sp>
      <p:sp>
        <p:nvSpPr>
          <p:cNvPr id="43" name="Shape 35"/>
          <p:cNvSpPr/>
          <p:nvPr/>
        </p:nvSpPr>
        <p:spPr>
          <a:xfrm>
            <a:off x="7954804" y="5947291"/>
            <a:ext cx="9418797" cy="876300"/>
          </a:xfrm>
          <a:prstGeom prst="roundRect">
            <a:avLst>
              <a:gd name="adj" fmla="val 17391"/>
            </a:avLst>
          </a:prstGeom>
          <a:solidFill>
            <a:srgbClr val="FEE8DE"/>
          </a:solidFill>
          <a:ln/>
        </p:spPr>
        <p:txBody>
          <a:bodyPr/>
          <a:lstStyle/>
          <a:p>
            <a:endParaRPr lang="en-US"/>
          </a:p>
        </p:txBody>
      </p:sp>
      <p:sp>
        <p:nvSpPr>
          <p:cNvPr id="44" name="Shape 36"/>
          <p:cNvSpPr/>
          <p:nvPr/>
        </p:nvSpPr>
        <p:spPr>
          <a:xfrm>
            <a:off x="8183404" y="6137791"/>
            <a:ext cx="285750" cy="285750"/>
          </a:xfrm>
          <a:prstGeom prst="ellipse">
            <a:avLst/>
          </a:prstGeom>
          <a:solidFill>
            <a:srgbClr val="F06A3B"/>
          </a:solidFill>
          <a:ln/>
        </p:spPr>
        <p:txBody>
          <a:bodyPr/>
          <a:lstStyle/>
          <a:p>
            <a:endParaRPr lang="en-US"/>
          </a:p>
        </p:txBody>
      </p:sp>
      <p:pic>
        <p:nvPicPr>
          <p:cNvPr id="45"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240554" y="6194941"/>
            <a:ext cx="171450" cy="171450"/>
          </a:xfrm>
          <a:prstGeom prst="rect">
            <a:avLst/>
          </a:prstGeom>
        </p:spPr>
      </p:pic>
      <p:sp>
        <p:nvSpPr>
          <p:cNvPr id="46" name="Text 37"/>
          <p:cNvSpPr/>
          <p:nvPr/>
        </p:nvSpPr>
        <p:spPr>
          <a:xfrm>
            <a:off x="8602504" y="6118741"/>
            <a:ext cx="8798771"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A03A18"/>
                </a:solidFill>
                <a:latin typeface="Arial" pitchFamily="34" charset="0"/>
                <a:ea typeface="Arial" pitchFamily="34" charset="-122"/>
                <a:cs typeface="Arial" pitchFamily="34" charset="-120"/>
              </a:rPr>
              <a:t>Limitation: HTMT showed possible overlap between Perceived Usefulness and Satisfaction, although both were retained because they are theoretically distinct in ECM.</a:t>
            </a:r>
            <a:endParaRPr lang="en-US" sz="1500" dirty="0"/>
          </a:p>
        </p:txBody>
      </p:sp>
      <p:sp>
        <p:nvSpPr>
          <p:cNvPr id="47" name="Shape 38"/>
          <p:cNvSpPr/>
          <p:nvPr/>
        </p:nvSpPr>
        <p:spPr>
          <a:xfrm>
            <a:off x="914400" y="8694420"/>
            <a:ext cx="16459200" cy="704850"/>
          </a:xfrm>
          <a:prstGeom prst="roundRect">
            <a:avLst>
              <a:gd name="adj" fmla="val 24324"/>
            </a:avLst>
          </a:prstGeom>
          <a:solidFill>
            <a:srgbClr val="E3F6E9"/>
          </a:solidFill>
          <a:ln/>
        </p:spPr>
        <p:txBody>
          <a:bodyPr/>
          <a:lstStyle/>
          <a:p>
            <a:endParaRPr lang="en-US"/>
          </a:p>
        </p:txBody>
      </p:sp>
      <p:sp>
        <p:nvSpPr>
          <p:cNvPr id="48" name="Shape 39"/>
          <p:cNvSpPr/>
          <p:nvPr/>
        </p:nvSpPr>
        <p:spPr>
          <a:xfrm>
            <a:off x="1181100" y="8884920"/>
            <a:ext cx="47625" cy="323850"/>
          </a:xfrm>
          <a:prstGeom prst="roundRect">
            <a:avLst>
              <a:gd name="adj" fmla="val 50000"/>
            </a:avLst>
          </a:prstGeom>
          <a:gradFill rotWithShape="1">
            <a:gsLst>
              <a:gs pos="0">
                <a:srgbClr val="14B24B">
                  <a:alpha val="100000"/>
                </a:srgbClr>
              </a:gs>
              <a:gs pos="100000">
                <a:srgbClr val="0F5A2C">
                  <a:alpha val="100000"/>
                </a:srgbClr>
              </a:gs>
            </a:gsLst>
            <a:lin ang="5400000" scaled="0"/>
          </a:gradFill>
          <a:ln/>
        </p:spPr>
        <p:txBody>
          <a:bodyPr/>
          <a:lstStyle/>
          <a:p>
            <a:endParaRPr lang="en-US"/>
          </a:p>
        </p:txBody>
      </p:sp>
      <p:sp>
        <p:nvSpPr>
          <p:cNvPr id="49" name="Text 40"/>
          <p:cNvSpPr/>
          <p:nvPr/>
        </p:nvSpPr>
        <p:spPr>
          <a:xfrm>
            <a:off x="1381125" y="8900160"/>
            <a:ext cx="11147275" cy="33147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b="1" dirty="0">
                <a:solidFill>
                  <a:srgbClr val="0F5A2C"/>
                </a:solidFill>
                <a:latin typeface="Arial" pitchFamily="34" charset="0"/>
                <a:ea typeface="Arial" pitchFamily="34" charset="-122"/>
                <a:cs typeface="Arial" pitchFamily="34" charset="-120"/>
              </a:rPr>
              <a:t>Measurement model conclusion: the retained constructs were reliable enough to proceed to structural testing.</a:t>
            </a:r>
            <a:endParaRPr lang="en-US" sz="1650" dirty="0"/>
          </a:p>
        </p:txBody>
      </p:sp>
      <p:sp>
        <p:nvSpPr>
          <p:cNvPr id="50" name="Text 41"/>
          <p:cNvSpPr/>
          <p:nvPr/>
        </p:nvSpPr>
        <p:spPr>
          <a:xfrm>
            <a:off x="914400" y="9570720"/>
            <a:ext cx="18105120"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8A929C"/>
                </a:solidFill>
                <a:latin typeface="Arial" pitchFamily="34" charset="0"/>
                <a:ea typeface="Arial" pitchFamily="34" charset="-122"/>
                <a:cs typeface="Arial" pitchFamily="34" charset="-120"/>
              </a:rPr>
              <a:t>Gaianand Ramnarace | Final Presentation | 6</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4000"/>
          </a:blip>
          <a:stretch>
            <a:fillRect/>
          </a:stretch>
        </p:blipFill>
        <p:spPr>
          <a:xfrm>
            <a:off x="15354300" y="7353300"/>
            <a:ext cx="3619500" cy="3619500"/>
          </a:xfrm>
          <a:prstGeom prst="rect">
            <a:avLst/>
          </a:prstGeom>
        </p:spPr>
      </p:pic>
      <p:sp>
        <p:nvSpPr>
          <p:cNvPr id="3" name="Text 0"/>
          <p:cNvSpPr/>
          <p:nvPr/>
        </p:nvSpPr>
        <p:spPr>
          <a:xfrm>
            <a:off x="914400" y="609600"/>
            <a:ext cx="9497330" cy="53185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600" b="1" kern="0" spc="-36" dirty="0">
                <a:solidFill>
                  <a:srgbClr val="111418"/>
                </a:solidFill>
                <a:latin typeface="Arial" pitchFamily="34" charset="0"/>
                <a:ea typeface="Arial" pitchFamily="34" charset="-122"/>
                <a:cs typeface="Arial" pitchFamily="34" charset="-120"/>
              </a:rPr>
              <a:t>Structural Model Results</a:t>
            </a:r>
            <a:endParaRPr lang="en-US" sz="3600" dirty="0"/>
          </a:p>
        </p:txBody>
      </p:sp>
      <p:sp>
        <p:nvSpPr>
          <p:cNvPr id="4" name="Text 1"/>
          <p:cNvSpPr/>
          <p:nvPr/>
        </p:nvSpPr>
        <p:spPr>
          <a:xfrm>
            <a:off x="914400" y="1217652"/>
            <a:ext cx="9497330" cy="359569"/>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5C6570"/>
                </a:solidFill>
                <a:latin typeface="Arial" pitchFamily="34" charset="0"/>
                <a:ea typeface="Arial" pitchFamily="34" charset="-122"/>
                <a:cs typeface="Arial" pitchFamily="34" charset="-120"/>
              </a:rPr>
              <a:t>The model showed substantial explanatory power for continuance intention.</a:t>
            </a:r>
            <a:endParaRPr lang="en-US" sz="1875" dirty="0"/>
          </a:p>
        </p:txBody>
      </p:sp>
      <p:sp>
        <p:nvSpPr>
          <p:cNvPr id="5" name="Text 2"/>
          <p:cNvSpPr/>
          <p:nvPr/>
        </p:nvSpPr>
        <p:spPr>
          <a:xfrm>
            <a:off x="16543854" y="763905"/>
            <a:ext cx="334447"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99" dirty="0">
                <a:solidFill>
                  <a:srgbClr val="B5BCC4"/>
                </a:solidFill>
                <a:latin typeface="Arial" pitchFamily="34" charset="0"/>
                <a:ea typeface="Arial" pitchFamily="34" charset="-122"/>
                <a:cs typeface="Arial" pitchFamily="34" charset="-120"/>
              </a:rPr>
              <a:t>07</a:t>
            </a:r>
            <a:endParaRPr lang="en-US" sz="1650" dirty="0"/>
          </a:p>
        </p:txBody>
      </p:sp>
      <p:pic>
        <p:nvPicPr>
          <p:cNvPr id="6" name="Image 1" descr="preencoded.png"/>
          <p:cNvPicPr>
            <a:picLocks noChangeAspect="1"/>
          </p:cNvPicPr>
          <p:nvPr/>
        </p:nvPicPr>
        <p:blipFill>
          <a:blip r:embed="rId3"/>
          <a:stretch>
            <a:fillRect/>
          </a:stretch>
        </p:blipFill>
        <p:spPr>
          <a:xfrm>
            <a:off x="16935450" y="666750"/>
            <a:ext cx="438150" cy="438150"/>
          </a:xfrm>
          <a:prstGeom prst="rect">
            <a:avLst/>
          </a:prstGeom>
        </p:spPr>
      </p:pic>
      <p:sp>
        <p:nvSpPr>
          <p:cNvPr id="7" name="Shape 3"/>
          <p:cNvSpPr/>
          <p:nvPr/>
        </p:nvSpPr>
        <p:spPr>
          <a:xfrm>
            <a:off x="914400" y="1767721"/>
            <a:ext cx="16459200" cy="9525"/>
          </a:xfrm>
          <a:prstGeom prst="rect">
            <a:avLst/>
          </a:prstGeom>
          <a:solidFill>
            <a:srgbClr val="D9DDE2"/>
          </a:solidFill>
          <a:ln/>
        </p:spPr>
        <p:txBody>
          <a:bodyPr/>
          <a:lstStyle/>
          <a:p>
            <a:endParaRPr lang="en-US"/>
          </a:p>
        </p:txBody>
      </p:sp>
      <p:sp>
        <p:nvSpPr>
          <p:cNvPr id="8" name="Shape 4"/>
          <p:cNvSpPr/>
          <p:nvPr/>
        </p:nvSpPr>
        <p:spPr>
          <a:xfrm>
            <a:off x="914400" y="2045851"/>
            <a:ext cx="47625" cy="247650"/>
          </a:xfrm>
          <a:prstGeom prst="roundRect">
            <a:avLst>
              <a:gd name="adj" fmla="val 50000"/>
            </a:avLst>
          </a:prstGeom>
          <a:gradFill rotWithShape="1">
            <a:gsLst>
              <a:gs pos="0">
                <a:srgbClr val="14B24B">
                  <a:alpha val="100000"/>
                </a:srgbClr>
              </a:gs>
              <a:gs pos="100000">
                <a:srgbClr val="0F5A2C">
                  <a:alpha val="100000"/>
                </a:srgbClr>
              </a:gs>
            </a:gsLst>
            <a:lin ang="5400000" scaled="0"/>
          </a:gradFill>
          <a:ln/>
        </p:spPr>
        <p:txBody>
          <a:bodyPr/>
          <a:lstStyle/>
          <a:p>
            <a:endParaRPr lang="en-US"/>
          </a:p>
        </p:txBody>
      </p:sp>
      <p:sp>
        <p:nvSpPr>
          <p:cNvPr id="9" name="Text 5"/>
          <p:cNvSpPr/>
          <p:nvPr/>
        </p:nvSpPr>
        <p:spPr>
          <a:xfrm>
            <a:off x="1076325" y="2043946"/>
            <a:ext cx="2036302" cy="28956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27A38"/>
                </a:solidFill>
                <a:latin typeface="Arial" pitchFamily="34" charset="0"/>
                <a:ea typeface="Arial" pitchFamily="34" charset="-122"/>
                <a:cs typeface="Arial" pitchFamily="34" charset="-120"/>
              </a:rPr>
              <a:t>Explained variance</a:t>
            </a:r>
            <a:endParaRPr lang="en-US" sz="1725" dirty="0"/>
          </a:p>
        </p:txBody>
      </p:sp>
      <p:sp>
        <p:nvSpPr>
          <p:cNvPr id="10" name="Text 6"/>
          <p:cNvSpPr/>
          <p:nvPr/>
        </p:nvSpPr>
        <p:spPr>
          <a:xfrm>
            <a:off x="3098959" y="2062996"/>
            <a:ext cx="387787" cy="251460"/>
          </a:xfrm>
          <a:prstGeom prst="rect">
            <a:avLst/>
          </a:prstGeom>
          <a:noFill/>
          <a:ln/>
        </p:spPr>
        <p:txBody>
          <a:bodyPr wrap="square" lIns="25400" tIns="25400" rIns="25400" bIns="25400" rtlCol="0" anchor="t">
            <a:normAutofit lnSpcReduction="10000"/>
          </a:bodyPr>
          <a:lstStyle/>
          <a:p>
            <a:pPr marL="0" indent="0" algn="l">
              <a:buNone/>
            </a:pPr>
            <a:r>
              <a:rPr lang="en-US" sz="1425" b="1" dirty="0">
                <a:solidFill>
                  <a:srgbClr val="8A929C"/>
                </a:solidFill>
                <a:latin typeface="Arial" pitchFamily="34" charset="0"/>
                <a:ea typeface="Arial" pitchFamily="34" charset="-122"/>
                <a:cs typeface="Arial" pitchFamily="34" charset="-120"/>
              </a:rPr>
              <a:t>(R²)</a:t>
            </a:r>
            <a:endParaRPr lang="en-US" sz="1425"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4400" y="2581156"/>
            <a:ext cx="1771650" cy="1771650"/>
          </a:xfrm>
          <a:prstGeom prst="rect">
            <a:avLst/>
          </a:prstGeom>
        </p:spPr>
      </p:pic>
      <p:sp>
        <p:nvSpPr>
          <p:cNvPr id="12" name="Text 7"/>
          <p:cNvSpPr/>
          <p:nvPr/>
        </p:nvSpPr>
        <p:spPr>
          <a:xfrm>
            <a:off x="876300" y="2581156"/>
            <a:ext cx="1847850" cy="1809750"/>
          </a:xfrm>
          <a:prstGeom prst="rect">
            <a:avLst/>
          </a:prstGeom>
          <a:noFill/>
          <a:ln/>
        </p:spPr>
        <p:txBody>
          <a:bodyPr wrap="square" lIns="25400" tIns="25400" rIns="25400" bIns="25400" rtlCol="0" anchor="ctr">
            <a:normAutofit/>
          </a:bodyPr>
          <a:lstStyle/>
          <a:p>
            <a:pPr marL="0" indent="0" algn="ctr">
              <a:buNone/>
            </a:pPr>
            <a:r>
              <a:rPr lang="en-US" sz="3000" b="1" dirty="0">
                <a:solidFill>
                  <a:srgbClr val="111418"/>
                </a:solidFill>
                <a:latin typeface="Arial" pitchFamily="34" charset="0"/>
                <a:ea typeface="Arial" pitchFamily="34" charset="-122"/>
                <a:cs typeface="Arial" pitchFamily="34" charset="-120"/>
              </a:rPr>
              <a:t>0.828</a:t>
            </a:r>
            <a:endParaRPr lang="en-US" sz="3000" dirty="0"/>
          </a:p>
        </p:txBody>
      </p:sp>
      <p:sp>
        <p:nvSpPr>
          <p:cNvPr id="13" name="Text 8"/>
          <p:cNvSpPr/>
          <p:nvPr/>
        </p:nvSpPr>
        <p:spPr>
          <a:xfrm>
            <a:off x="1640919" y="4505206"/>
            <a:ext cx="318492" cy="213360"/>
          </a:xfrm>
          <a:prstGeom prst="rect">
            <a:avLst/>
          </a:prstGeom>
          <a:noFill/>
          <a:ln/>
        </p:spPr>
        <p:txBody>
          <a:bodyPr wrap="square" lIns="25400" tIns="25400" rIns="25400" bIns="25400" rtlCol="0" anchor="t">
            <a:normAutofit fontScale="92500" lnSpcReduction="10000"/>
          </a:bodyPr>
          <a:lstStyle/>
          <a:p>
            <a:pPr marL="0" indent="0" algn="ctr">
              <a:buNone/>
            </a:pPr>
            <a:r>
              <a:rPr lang="en-US" sz="1200" b="1" kern="0" spc="120" dirty="0">
                <a:solidFill>
                  <a:srgbClr val="0E9F43"/>
                </a:solidFill>
                <a:latin typeface="Arial" pitchFamily="34" charset="0"/>
                <a:ea typeface="Arial" pitchFamily="34" charset="-122"/>
                <a:cs typeface="Arial" pitchFamily="34" charset="-120"/>
              </a:rPr>
              <a:t>PU</a:t>
            </a:r>
            <a:endParaRPr lang="en-US" sz="1200" dirty="0"/>
          </a:p>
        </p:txBody>
      </p:sp>
      <p:sp>
        <p:nvSpPr>
          <p:cNvPr id="14" name="Text 9"/>
          <p:cNvSpPr/>
          <p:nvPr/>
        </p:nvSpPr>
        <p:spPr>
          <a:xfrm>
            <a:off x="837480" y="4718566"/>
            <a:ext cx="1925372" cy="251460"/>
          </a:xfrm>
          <a:prstGeom prst="rect">
            <a:avLst/>
          </a:prstGeom>
          <a:noFill/>
          <a:ln/>
        </p:spPr>
        <p:txBody>
          <a:bodyPr wrap="square" lIns="25400" tIns="25400" rIns="25400" bIns="25400" rtlCol="0" anchor="t">
            <a:normAutofit lnSpcReduction="10000"/>
          </a:bodyPr>
          <a:lstStyle/>
          <a:p>
            <a:pPr marL="0" indent="0" algn="ctr">
              <a:buNone/>
            </a:pPr>
            <a:r>
              <a:rPr lang="en-US" sz="1425" b="1" dirty="0">
                <a:solidFill>
                  <a:srgbClr val="5C6570"/>
                </a:solidFill>
                <a:latin typeface="Arial" pitchFamily="34" charset="0"/>
                <a:ea typeface="Arial" pitchFamily="34" charset="-122"/>
                <a:cs typeface="Arial" pitchFamily="34" charset="-120"/>
              </a:rPr>
              <a:t>Perceived Usefulness</a:t>
            </a:r>
            <a:endParaRPr lang="en-US" sz="1425"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10025" y="2581156"/>
            <a:ext cx="1771650" cy="1771650"/>
          </a:xfrm>
          <a:prstGeom prst="rect">
            <a:avLst/>
          </a:prstGeom>
        </p:spPr>
      </p:pic>
      <p:sp>
        <p:nvSpPr>
          <p:cNvPr id="16" name="Text 10"/>
          <p:cNvSpPr/>
          <p:nvPr/>
        </p:nvSpPr>
        <p:spPr>
          <a:xfrm>
            <a:off x="3971925" y="2581156"/>
            <a:ext cx="1847850" cy="1809750"/>
          </a:xfrm>
          <a:prstGeom prst="rect">
            <a:avLst/>
          </a:prstGeom>
          <a:noFill/>
          <a:ln/>
        </p:spPr>
        <p:txBody>
          <a:bodyPr wrap="square" lIns="25400" tIns="25400" rIns="25400" bIns="25400" rtlCol="0" anchor="ctr">
            <a:normAutofit/>
          </a:bodyPr>
          <a:lstStyle/>
          <a:p>
            <a:pPr marL="0" indent="0" algn="ctr">
              <a:buNone/>
            </a:pPr>
            <a:r>
              <a:rPr lang="en-US" sz="3000" b="1" dirty="0">
                <a:solidFill>
                  <a:srgbClr val="111418"/>
                </a:solidFill>
                <a:latin typeface="Arial" pitchFamily="34" charset="0"/>
                <a:ea typeface="Arial" pitchFamily="34" charset="-122"/>
                <a:cs typeface="Arial" pitchFamily="34" charset="-120"/>
              </a:rPr>
              <a:t>0.924</a:t>
            </a:r>
            <a:endParaRPr lang="en-US" sz="3000" dirty="0"/>
          </a:p>
        </p:txBody>
      </p:sp>
      <p:sp>
        <p:nvSpPr>
          <p:cNvPr id="17" name="Text 11"/>
          <p:cNvSpPr/>
          <p:nvPr/>
        </p:nvSpPr>
        <p:spPr>
          <a:xfrm>
            <a:off x="4692253" y="4505206"/>
            <a:ext cx="407075" cy="213360"/>
          </a:xfrm>
          <a:prstGeom prst="rect">
            <a:avLst/>
          </a:prstGeom>
          <a:noFill/>
          <a:ln/>
        </p:spPr>
        <p:txBody>
          <a:bodyPr wrap="square" lIns="25400" tIns="25400" rIns="25400" bIns="25400" rtlCol="0" anchor="t">
            <a:normAutofit fontScale="92500" lnSpcReduction="10000"/>
          </a:bodyPr>
          <a:lstStyle/>
          <a:p>
            <a:pPr marL="0" indent="0" algn="ctr">
              <a:buNone/>
            </a:pPr>
            <a:r>
              <a:rPr lang="en-US" sz="1200" b="1" kern="0" spc="120" dirty="0">
                <a:solidFill>
                  <a:srgbClr val="0E9F43"/>
                </a:solidFill>
                <a:latin typeface="Arial" pitchFamily="34" charset="0"/>
                <a:ea typeface="Arial" pitchFamily="34" charset="-122"/>
                <a:cs typeface="Arial" pitchFamily="34" charset="-120"/>
              </a:rPr>
              <a:t>SAT</a:t>
            </a:r>
            <a:endParaRPr lang="en-US" sz="1200" dirty="0"/>
          </a:p>
        </p:txBody>
      </p:sp>
      <p:sp>
        <p:nvSpPr>
          <p:cNvPr id="18" name="Text 12"/>
          <p:cNvSpPr/>
          <p:nvPr/>
        </p:nvSpPr>
        <p:spPr>
          <a:xfrm>
            <a:off x="4389954" y="4718566"/>
            <a:ext cx="1011793" cy="251460"/>
          </a:xfrm>
          <a:prstGeom prst="rect">
            <a:avLst/>
          </a:prstGeom>
          <a:noFill/>
          <a:ln/>
        </p:spPr>
        <p:txBody>
          <a:bodyPr wrap="square" lIns="25400" tIns="25400" rIns="25400" bIns="25400" rtlCol="0" anchor="t">
            <a:normAutofit fontScale="92500"/>
          </a:bodyPr>
          <a:lstStyle/>
          <a:p>
            <a:pPr marL="0" indent="0" algn="ctr">
              <a:buNone/>
            </a:pPr>
            <a:r>
              <a:rPr lang="en-US" sz="1425" b="1" dirty="0">
                <a:solidFill>
                  <a:srgbClr val="5C6570"/>
                </a:solidFill>
                <a:latin typeface="Arial" pitchFamily="34" charset="0"/>
                <a:ea typeface="Arial" pitchFamily="34" charset="-122"/>
                <a:cs typeface="Arial" pitchFamily="34" charset="-120"/>
              </a:rPr>
              <a:t>Satisfaction</a:t>
            </a:r>
            <a:endParaRPr lang="en-US" sz="1425" dirty="0"/>
          </a:p>
        </p:txBody>
      </p:sp>
      <p:pic>
        <p:nvPicPr>
          <p:cNvPr id="19"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05650" y="2581156"/>
            <a:ext cx="1771650" cy="1771650"/>
          </a:xfrm>
          <a:prstGeom prst="rect">
            <a:avLst/>
          </a:prstGeom>
        </p:spPr>
      </p:pic>
      <p:sp>
        <p:nvSpPr>
          <p:cNvPr id="20" name="Text 13"/>
          <p:cNvSpPr/>
          <p:nvPr/>
        </p:nvSpPr>
        <p:spPr>
          <a:xfrm>
            <a:off x="7067550" y="2581156"/>
            <a:ext cx="1847850" cy="1809750"/>
          </a:xfrm>
          <a:prstGeom prst="rect">
            <a:avLst/>
          </a:prstGeom>
          <a:noFill/>
          <a:ln/>
        </p:spPr>
        <p:txBody>
          <a:bodyPr wrap="square" lIns="25400" tIns="25400" rIns="25400" bIns="25400" rtlCol="0" anchor="ctr">
            <a:normAutofit/>
          </a:bodyPr>
          <a:lstStyle/>
          <a:p>
            <a:pPr marL="0" indent="0" algn="ctr">
              <a:buNone/>
            </a:pPr>
            <a:r>
              <a:rPr lang="en-US" sz="3000" b="1" dirty="0">
                <a:solidFill>
                  <a:srgbClr val="0F5A2C"/>
                </a:solidFill>
                <a:latin typeface="Arial" pitchFamily="34" charset="0"/>
                <a:ea typeface="Arial" pitchFamily="34" charset="-122"/>
                <a:cs typeface="Arial" pitchFamily="34" charset="-120"/>
              </a:rPr>
              <a:t>0.877</a:t>
            </a:r>
            <a:endParaRPr lang="en-US" sz="3000" dirty="0"/>
          </a:p>
        </p:txBody>
      </p:sp>
      <p:sp>
        <p:nvSpPr>
          <p:cNvPr id="21" name="Text 14"/>
          <p:cNvSpPr/>
          <p:nvPr/>
        </p:nvSpPr>
        <p:spPr>
          <a:xfrm>
            <a:off x="7861935" y="4505206"/>
            <a:ext cx="259080" cy="213360"/>
          </a:xfrm>
          <a:prstGeom prst="rect">
            <a:avLst/>
          </a:prstGeom>
          <a:noFill/>
          <a:ln/>
        </p:spPr>
        <p:txBody>
          <a:bodyPr wrap="square" lIns="25400" tIns="25400" rIns="25400" bIns="25400" rtlCol="0" anchor="t">
            <a:normAutofit fontScale="92500" lnSpcReduction="10000"/>
          </a:bodyPr>
          <a:lstStyle/>
          <a:p>
            <a:pPr marL="0" indent="0" algn="ctr">
              <a:buNone/>
            </a:pPr>
            <a:r>
              <a:rPr lang="en-US" sz="1200" b="1" kern="0" spc="120" dirty="0">
                <a:solidFill>
                  <a:srgbClr val="0F5A2C"/>
                </a:solidFill>
                <a:latin typeface="Arial" pitchFamily="34" charset="0"/>
                <a:ea typeface="Arial" pitchFamily="34" charset="-122"/>
                <a:cs typeface="Arial" pitchFamily="34" charset="-120"/>
              </a:rPr>
              <a:t>CI</a:t>
            </a:r>
            <a:endParaRPr lang="en-US" sz="1200" dirty="0"/>
          </a:p>
        </p:txBody>
      </p:sp>
      <p:sp>
        <p:nvSpPr>
          <p:cNvPr id="22" name="Text 15"/>
          <p:cNvSpPr/>
          <p:nvPr/>
        </p:nvSpPr>
        <p:spPr>
          <a:xfrm>
            <a:off x="7022967" y="4718566"/>
            <a:ext cx="1936897" cy="251460"/>
          </a:xfrm>
          <a:prstGeom prst="rect">
            <a:avLst/>
          </a:prstGeom>
          <a:noFill/>
          <a:ln/>
        </p:spPr>
        <p:txBody>
          <a:bodyPr wrap="square" lIns="25400" tIns="25400" rIns="25400" bIns="25400" rtlCol="0" anchor="t">
            <a:normAutofit fontScale="92500"/>
          </a:bodyPr>
          <a:lstStyle/>
          <a:p>
            <a:pPr marL="0" indent="0" algn="ctr">
              <a:buNone/>
            </a:pPr>
            <a:r>
              <a:rPr lang="en-US" sz="1425" b="1" dirty="0">
                <a:solidFill>
                  <a:srgbClr val="5C6570"/>
                </a:solidFill>
                <a:latin typeface="Arial" pitchFamily="34" charset="0"/>
                <a:ea typeface="Arial" pitchFamily="34" charset="-122"/>
                <a:cs typeface="Arial" pitchFamily="34" charset="-120"/>
              </a:rPr>
              <a:t>Continuance Intention</a:t>
            </a:r>
            <a:endParaRPr lang="en-US" sz="1425" dirty="0"/>
          </a:p>
        </p:txBody>
      </p:sp>
      <p:sp>
        <p:nvSpPr>
          <p:cNvPr id="23" name="Shape 16"/>
          <p:cNvSpPr/>
          <p:nvPr/>
        </p:nvSpPr>
        <p:spPr>
          <a:xfrm>
            <a:off x="914400" y="8376285"/>
            <a:ext cx="7962900" cy="1022985"/>
          </a:xfrm>
          <a:prstGeom prst="roundRect">
            <a:avLst>
              <a:gd name="adj" fmla="val 18622"/>
            </a:avLst>
          </a:prstGeom>
          <a:solidFill>
            <a:srgbClr val="0F5A2C"/>
          </a:solidFill>
          <a:ln/>
          <a:effectLst>
            <a:outerShdw blurRad="285750" dist="133350" dir="5400000" algn="bl" rotWithShape="0">
              <a:srgbClr val="0B3D1E">
                <a:alpha val="20000"/>
              </a:srgbClr>
            </a:outerShdw>
          </a:effectLst>
        </p:spPr>
        <p:txBody>
          <a:bodyPr/>
          <a:lstStyle/>
          <a:p>
            <a:endParaRPr lang="en-US"/>
          </a:p>
        </p:txBody>
      </p:sp>
      <p:sp>
        <p:nvSpPr>
          <p:cNvPr id="24" name="Text 17"/>
          <p:cNvSpPr/>
          <p:nvPr/>
        </p:nvSpPr>
        <p:spPr>
          <a:xfrm>
            <a:off x="1200150" y="8697278"/>
            <a:ext cx="1156573" cy="419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000" b="1" dirty="0">
                <a:solidFill>
                  <a:srgbClr val="4DC97A"/>
                </a:solidFill>
                <a:latin typeface="Arial" pitchFamily="34" charset="0"/>
                <a:ea typeface="Arial" pitchFamily="34" charset="-122"/>
                <a:cs typeface="Arial" pitchFamily="34" charset="-120"/>
              </a:rPr>
              <a:t>87.7%</a:t>
            </a:r>
            <a:endParaRPr lang="en-US" sz="3000" dirty="0"/>
          </a:p>
        </p:txBody>
      </p:sp>
      <p:sp>
        <p:nvSpPr>
          <p:cNvPr id="25" name="Text 18"/>
          <p:cNvSpPr/>
          <p:nvPr/>
        </p:nvSpPr>
        <p:spPr>
          <a:xfrm>
            <a:off x="2451973" y="8604885"/>
            <a:ext cx="6323764" cy="60388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b="1" dirty="0">
                <a:solidFill>
                  <a:srgbClr val="FFFFFF"/>
                </a:solidFill>
                <a:latin typeface="Arial" pitchFamily="34" charset="0"/>
                <a:ea typeface="Arial" pitchFamily="34" charset="-122"/>
                <a:cs typeface="Arial" pitchFamily="34" charset="-120"/>
              </a:rPr>
              <a:t>Main result: the model explained 87.7% of the variance in continuance intention.</a:t>
            </a:r>
            <a:endParaRPr lang="en-US" sz="1650" dirty="0"/>
          </a:p>
        </p:txBody>
      </p:sp>
      <p:sp>
        <p:nvSpPr>
          <p:cNvPr id="26" name="Shape 19"/>
          <p:cNvSpPr/>
          <p:nvPr/>
        </p:nvSpPr>
        <p:spPr>
          <a:xfrm>
            <a:off x="9410700" y="2045851"/>
            <a:ext cx="47625" cy="247650"/>
          </a:xfrm>
          <a:prstGeom prst="roundRect">
            <a:avLst>
              <a:gd name="adj" fmla="val 50000"/>
            </a:avLst>
          </a:prstGeom>
          <a:gradFill rotWithShape="1">
            <a:gsLst>
              <a:gs pos="0">
                <a:srgbClr val="14B24B">
                  <a:alpha val="100000"/>
                </a:srgbClr>
              </a:gs>
              <a:gs pos="100000">
                <a:srgbClr val="0F5A2C">
                  <a:alpha val="100000"/>
                </a:srgbClr>
              </a:gs>
            </a:gsLst>
            <a:lin ang="5400000" scaled="0"/>
          </a:gradFill>
          <a:ln/>
        </p:spPr>
        <p:txBody>
          <a:bodyPr/>
          <a:lstStyle/>
          <a:p>
            <a:endParaRPr lang="en-US"/>
          </a:p>
        </p:txBody>
      </p:sp>
      <p:sp>
        <p:nvSpPr>
          <p:cNvPr id="27" name="Text 20"/>
          <p:cNvSpPr/>
          <p:nvPr/>
        </p:nvSpPr>
        <p:spPr>
          <a:xfrm>
            <a:off x="9572625" y="2043946"/>
            <a:ext cx="2263795" cy="289560"/>
          </a:xfrm>
          <a:prstGeom prst="rect">
            <a:avLst/>
          </a:prstGeom>
          <a:noFill/>
          <a:ln/>
        </p:spPr>
        <p:txBody>
          <a:bodyPr wrap="square" lIns="25400" tIns="25400" rIns="25400" bIns="25400" rtlCol="0" anchor="t">
            <a:normAutofit fontScale="92500" lnSpcReduction="10000"/>
          </a:bodyPr>
          <a:lstStyle/>
          <a:p>
            <a:pPr marL="0" indent="0" algn="l">
              <a:buNone/>
            </a:pPr>
            <a:r>
              <a:rPr lang="en-US" sz="1725" b="1" dirty="0">
                <a:solidFill>
                  <a:srgbClr val="127A38"/>
                </a:solidFill>
                <a:latin typeface="Arial" pitchFamily="34" charset="0"/>
                <a:ea typeface="Arial" pitchFamily="34" charset="-122"/>
                <a:cs typeface="Arial" pitchFamily="34" charset="-120"/>
              </a:rPr>
              <a:t>Hypothesis decisions</a:t>
            </a:r>
            <a:endParaRPr lang="en-US" sz="1725" dirty="0"/>
          </a:p>
        </p:txBody>
      </p:sp>
      <p:sp>
        <p:nvSpPr>
          <p:cNvPr id="28" name="Shape 21"/>
          <p:cNvSpPr/>
          <p:nvPr/>
        </p:nvSpPr>
        <p:spPr>
          <a:xfrm>
            <a:off x="9410700" y="2485906"/>
            <a:ext cx="3924300" cy="514350"/>
          </a:xfrm>
          <a:prstGeom prst="roundRect">
            <a:avLst>
              <a:gd name="adj" fmla="val 25926"/>
            </a:avLst>
          </a:prstGeom>
          <a:solidFill>
            <a:srgbClr val="E3F6E9"/>
          </a:solidFill>
          <a:ln/>
        </p:spPr>
        <p:txBody>
          <a:bodyPr/>
          <a:lstStyle/>
          <a:p>
            <a:endParaRPr lang="en-US"/>
          </a:p>
        </p:txBody>
      </p:sp>
      <p:sp>
        <p:nvSpPr>
          <p:cNvPr id="29" name="Shape 22"/>
          <p:cNvSpPr/>
          <p:nvPr/>
        </p:nvSpPr>
        <p:spPr>
          <a:xfrm>
            <a:off x="9582150" y="2619256"/>
            <a:ext cx="247650" cy="247650"/>
          </a:xfrm>
          <a:prstGeom prst="ellipse">
            <a:avLst/>
          </a:prstGeom>
          <a:solidFill>
            <a:srgbClr val="0E9F43"/>
          </a:solidFill>
          <a:ln/>
        </p:spPr>
        <p:txBody>
          <a:bodyPr/>
          <a:lstStyle/>
          <a:p>
            <a:endParaRPr lang="en-US"/>
          </a:p>
        </p:txBody>
      </p:sp>
      <p:pic>
        <p:nvPicPr>
          <p:cNvPr id="30"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34538" y="2671644"/>
            <a:ext cx="142875" cy="142875"/>
          </a:xfrm>
          <a:prstGeom prst="rect">
            <a:avLst/>
          </a:prstGeom>
        </p:spPr>
      </p:pic>
      <p:sp>
        <p:nvSpPr>
          <p:cNvPr id="31" name="Text 23"/>
          <p:cNvSpPr/>
          <p:nvPr/>
        </p:nvSpPr>
        <p:spPr>
          <a:xfrm>
            <a:off x="9944100" y="2632591"/>
            <a:ext cx="1251109"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0F5A2C"/>
                </a:solidFill>
                <a:latin typeface="Arial" pitchFamily="34" charset="0"/>
                <a:ea typeface="Arial" pitchFamily="34" charset="-122"/>
                <a:cs typeface="Arial" pitchFamily="34" charset="-120"/>
              </a:rPr>
              <a:t>H1 CON→PU</a:t>
            </a:r>
            <a:endParaRPr lang="en-US" sz="1500" dirty="0"/>
          </a:p>
        </p:txBody>
      </p:sp>
      <p:sp>
        <p:nvSpPr>
          <p:cNvPr id="32" name="Shape 24"/>
          <p:cNvSpPr/>
          <p:nvPr/>
        </p:nvSpPr>
        <p:spPr>
          <a:xfrm>
            <a:off x="13449300" y="2485906"/>
            <a:ext cx="3924300" cy="514350"/>
          </a:xfrm>
          <a:prstGeom prst="roundRect">
            <a:avLst>
              <a:gd name="adj" fmla="val 25926"/>
            </a:avLst>
          </a:prstGeom>
          <a:solidFill>
            <a:srgbClr val="E3F6E9"/>
          </a:solidFill>
          <a:ln/>
        </p:spPr>
        <p:txBody>
          <a:bodyPr/>
          <a:lstStyle/>
          <a:p>
            <a:endParaRPr lang="en-US"/>
          </a:p>
        </p:txBody>
      </p:sp>
      <p:sp>
        <p:nvSpPr>
          <p:cNvPr id="33" name="Shape 25"/>
          <p:cNvSpPr/>
          <p:nvPr/>
        </p:nvSpPr>
        <p:spPr>
          <a:xfrm>
            <a:off x="13620750" y="2619256"/>
            <a:ext cx="247650" cy="247650"/>
          </a:xfrm>
          <a:prstGeom prst="ellipse">
            <a:avLst/>
          </a:prstGeom>
          <a:solidFill>
            <a:srgbClr val="0E9F43"/>
          </a:solidFill>
          <a:ln/>
        </p:spPr>
        <p:txBody>
          <a:bodyPr/>
          <a:lstStyle/>
          <a:p>
            <a:endParaRPr lang="en-US"/>
          </a:p>
        </p:txBody>
      </p:sp>
      <p:pic>
        <p:nvPicPr>
          <p:cNvPr id="34"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673138" y="2671644"/>
            <a:ext cx="142875" cy="142875"/>
          </a:xfrm>
          <a:prstGeom prst="rect">
            <a:avLst/>
          </a:prstGeom>
        </p:spPr>
      </p:pic>
      <p:sp>
        <p:nvSpPr>
          <p:cNvPr id="35" name="Text 26"/>
          <p:cNvSpPr/>
          <p:nvPr/>
        </p:nvSpPr>
        <p:spPr>
          <a:xfrm>
            <a:off x="13982700" y="2632591"/>
            <a:ext cx="1393377"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0F5A2C"/>
                </a:solidFill>
                <a:latin typeface="Arial" pitchFamily="34" charset="0"/>
                <a:ea typeface="Arial" pitchFamily="34" charset="-122"/>
                <a:cs typeface="Arial" pitchFamily="34" charset="-120"/>
              </a:rPr>
              <a:t>H2 CON→SAT</a:t>
            </a:r>
            <a:endParaRPr lang="en-US" sz="1500" dirty="0"/>
          </a:p>
        </p:txBody>
      </p:sp>
      <p:sp>
        <p:nvSpPr>
          <p:cNvPr id="36" name="Shape 27"/>
          <p:cNvSpPr/>
          <p:nvPr/>
        </p:nvSpPr>
        <p:spPr>
          <a:xfrm>
            <a:off x="9410700" y="3114556"/>
            <a:ext cx="3924300" cy="514350"/>
          </a:xfrm>
          <a:prstGeom prst="roundRect">
            <a:avLst>
              <a:gd name="adj" fmla="val 25926"/>
            </a:avLst>
          </a:prstGeom>
          <a:solidFill>
            <a:srgbClr val="E3F6E9"/>
          </a:solidFill>
          <a:ln/>
        </p:spPr>
        <p:txBody>
          <a:bodyPr/>
          <a:lstStyle/>
          <a:p>
            <a:endParaRPr lang="en-US"/>
          </a:p>
        </p:txBody>
      </p:sp>
      <p:sp>
        <p:nvSpPr>
          <p:cNvPr id="37" name="Shape 28"/>
          <p:cNvSpPr/>
          <p:nvPr/>
        </p:nvSpPr>
        <p:spPr>
          <a:xfrm>
            <a:off x="9582150" y="3247906"/>
            <a:ext cx="247650" cy="247650"/>
          </a:xfrm>
          <a:prstGeom prst="ellipse">
            <a:avLst/>
          </a:prstGeom>
          <a:solidFill>
            <a:srgbClr val="0E9F43"/>
          </a:solidFill>
          <a:ln/>
        </p:spPr>
        <p:txBody>
          <a:bodyPr/>
          <a:lstStyle/>
          <a:p>
            <a:endParaRPr lang="en-US"/>
          </a:p>
        </p:txBody>
      </p:sp>
      <p:pic>
        <p:nvPicPr>
          <p:cNvPr id="38" name="Image 7"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634538" y="3300294"/>
            <a:ext cx="142875" cy="142875"/>
          </a:xfrm>
          <a:prstGeom prst="rect">
            <a:avLst/>
          </a:prstGeom>
        </p:spPr>
      </p:pic>
      <p:sp>
        <p:nvSpPr>
          <p:cNvPr id="39" name="Text 29"/>
          <p:cNvSpPr/>
          <p:nvPr/>
        </p:nvSpPr>
        <p:spPr>
          <a:xfrm>
            <a:off x="9944100" y="3261241"/>
            <a:ext cx="1184196"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0F5A2C"/>
                </a:solidFill>
                <a:latin typeface="Arial" pitchFamily="34" charset="0"/>
                <a:ea typeface="Arial" pitchFamily="34" charset="-122"/>
                <a:cs typeface="Arial" pitchFamily="34" charset="-120"/>
              </a:rPr>
              <a:t>H3 PU→SAT</a:t>
            </a:r>
            <a:endParaRPr lang="en-US" sz="1500" dirty="0"/>
          </a:p>
        </p:txBody>
      </p:sp>
      <p:sp>
        <p:nvSpPr>
          <p:cNvPr id="40" name="Shape 30"/>
          <p:cNvSpPr/>
          <p:nvPr/>
        </p:nvSpPr>
        <p:spPr>
          <a:xfrm>
            <a:off x="13449300" y="3114556"/>
            <a:ext cx="3924300" cy="514350"/>
          </a:xfrm>
          <a:prstGeom prst="roundRect">
            <a:avLst>
              <a:gd name="adj" fmla="val 25926"/>
            </a:avLst>
          </a:prstGeom>
          <a:solidFill>
            <a:srgbClr val="E3F6E9"/>
          </a:solidFill>
          <a:ln/>
        </p:spPr>
        <p:txBody>
          <a:bodyPr/>
          <a:lstStyle/>
          <a:p>
            <a:endParaRPr lang="en-US"/>
          </a:p>
        </p:txBody>
      </p:sp>
      <p:sp>
        <p:nvSpPr>
          <p:cNvPr id="41" name="Shape 31"/>
          <p:cNvSpPr/>
          <p:nvPr/>
        </p:nvSpPr>
        <p:spPr>
          <a:xfrm>
            <a:off x="13620750" y="3247906"/>
            <a:ext cx="247650" cy="247650"/>
          </a:xfrm>
          <a:prstGeom prst="ellipse">
            <a:avLst/>
          </a:prstGeom>
          <a:solidFill>
            <a:srgbClr val="0E9F43"/>
          </a:solidFill>
          <a:ln/>
        </p:spPr>
        <p:txBody>
          <a:bodyPr/>
          <a:lstStyle/>
          <a:p>
            <a:endParaRPr lang="en-US"/>
          </a:p>
        </p:txBody>
      </p:sp>
      <p:pic>
        <p:nvPicPr>
          <p:cNvPr id="42" name="Image 8"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3673138" y="3300294"/>
            <a:ext cx="142875" cy="142875"/>
          </a:xfrm>
          <a:prstGeom prst="rect">
            <a:avLst/>
          </a:prstGeom>
        </p:spPr>
      </p:pic>
      <p:sp>
        <p:nvSpPr>
          <p:cNvPr id="43" name="Text 32"/>
          <p:cNvSpPr/>
          <p:nvPr/>
        </p:nvSpPr>
        <p:spPr>
          <a:xfrm>
            <a:off x="13982700" y="3261241"/>
            <a:ext cx="1018342"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0F5A2C"/>
                </a:solidFill>
                <a:latin typeface="Arial" pitchFamily="34" charset="0"/>
                <a:ea typeface="Arial" pitchFamily="34" charset="-122"/>
                <a:cs typeface="Arial" pitchFamily="34" charset="-120"/>
              </a:rPr>
              <a:t>H4 PU→CI</a:t>
            </a:r>
            <a:endParaRPr lang="en-US" sz="1500" dirty="0"/>
          </a:p>
        </p:txBody>
      </p:sp>
      <p:sp>
        <p:nvSpPr>
          <p:cNvPr id="44" name="Shape 33"/>
          <p:cNvSpPr/>
          <p:nvPr/>
        </p:nvSpPr>
        <p:spPr>
          <a:xfrm>
            <a:off x="9410700" y="3743206"/>
            <a:ext cx="3924300" cy="514350"/>
          </a:xfrm>
          <a:prstGeom prst="roundRect">
            <a:avLst>
              <a:gd name="adj" fmla="val 25926"/>
            </a:avLst>
          </a:prstGeom>
          <a:solidFill>
            <a:srgbClr val="E3F6E9"/>
          </a:solidFill>
          <a:ln/>
        </p:spPr>
        <p:txBody>
          <a:bodyPr/>
          <a:lstStyle/>
          <a:p>
            <a:endParaRPr lang="en-US"/>
          </a:p>
        </p:txBody>
      </p:sp>
      <p:sp>
        <p:nvSpPr>
          <p:cNvPr id="45" name="Shape 34"/>
          <p:cNvSpPr/>
          <p:nvPr/>
        </p:nvSpPr>
        <p:spPr>
          <a:xfrm>
            <a:off x="9582150" y="3876556"/>
            <a:ext cx="247650" cy="247650"/>
          </a:xfrm>
          <a:prstGeom prst="ellipse">
            <a:avLst/>
          </a:prstGeom>
          <a:solidFill>
            <a:srgbClr val="0E9F43"/>
          </a:solidFill>
          <a:ln/>
        </p:spPr>
        <p:txBody>
          <a:bodyPr/>
          <a:lstStyle/>
          <a:p>
            <a:endParaRPr lang="en-US"/>
          </a:p>
        </p:txBody>
      </p:sp>
      <p:pic>
        <p:nvPicPr>
          <p:cNvPr id="46" name="Image 9"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634538" y="3928944"/>
            <a:ext cx="142875" cy="142875"/>
          </a:xfrm>
          <a:prstGeom prst="rect">
            <a:avLst/>
          </a:prstGeom>
        </p:spPr>
      </p:pic>
      <p:sp>
        <p:nvSpPr>
          <p:cNvPr id="47" name="Text 35"/>
          <p:cNvSpPr/>
          <p:nvPr/>
        </p:nvSpPr>
        <p:spPr>
          <a:xfrm>
            <a:off x="9944100" y="3889891"/>
            <a:ext cx="1145381"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0F5A2C"/>
                </a:solidFill>
                <a:latin typeface="Arial" pitchFamily="34" charset="0"/>
                <a:ea typeface="Arial" pitchFamily="34" charset="-122"/>
                <a:cs typeface="Arial" pitchFamily="34" charset="-120"/>
              </a:rPr>
              <a:t>H7 HAB→CI</a:t>
            </a:r>
            <a:endParaRPr lang="en-US" sz="1500" dirty="0"/>
          </a:p>
        </p:txBody>
      </p:sp>
      <p:sp>
        <p:nvSpPr>
          <p:cNvPr id="48" name="Shape 36"/>
          <p:cNvSpPr/>
          <p:nvPr/>
        </p:nvSpPr>
        <p:spPr>
          <a:xfrm>
            <a:off x="13449300" y="3743206"/>
            <a:ext cx="3924300" cy="514350"/>
          </a:xfrm>
          <a:prstGeom prst="roundRect">
            <a:avLst>
              <a:gd name="adj" fmla="val 25926"/>
            </a:avLst>
          </a:prstGeom>
          <a:solidFill>
            <a:srgbClr val="EEF1F4"/>
          </a:solidFill>
          <a:ln/>
        </p:spPr>
        <p:txBody>
          <a:bodyPr/>
          <a:lstStyle/>
          <a:p>
            <a:endParaRPr lang="en-US"/>
          </a:p>
        </p:txBody>
      </p:sp>
      <p:sp>
        <p:nvSpPr>
          <p:cNvPr id="49" name="Shape 37"/>
          <p:cNvSpPr/>
          <p:nvPr/>
        </p:nvSpPr>
        <p:spPr>
          <a:xfrm>
            <a:off x="13620750" y="3876556"/>
            <a:ext cx="247650" cy="247650"/>
          </a:xfrm>
          <a:prstGeom prst="ellipse">
            <a:avLst/>
          </a:prstGeom>
          <a:solidFill>
            <a:srgbClr val="9AA6B2"/>
          </a:solidFill>
          <a:ln/>
        </p:spPr>
        <p:txBody>
          <a:bodyPr/>
          <a:lstStyle/>
          <a:p>
            <a:endParaRPr lang="en-US"/>
          </a:p>
        </p:txBody>
      </p:sp>
      <p:pic>
        <p:nvPicPr>
          <p:cNvPr id="50" name="Image 10"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3673138" y="3928944"/>
            <a:ext cx="142875" cy="142875"/>
          </a:xfrm>
          <a:prstGeom prst="rect">
            <a:avLst/>
          </a:prstGeom>
        </p:spPr>
      </p:pic>
      <p:sp>
        <p:nvSpPr>
          <p:cNvPr id="51" name="Text 38"/>
          <p:cNvSpPr/>
          <p:nvPr/>
        </p:nvSpPr>
        <p:spPr>
          <a:xfrm>
            <a:off x="13982700" y="3889891"/>
            <a:ext cx="1110020"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5C6570"/>
                </a:solidFill>
                <a:latin typeface="Arial" pitchFamily="34" charset="0"/>
                <a:ea typeface="Arial" pitchFamily="34" charset="-122"/>
                <a:cs typeface="Arial" pitchFamily="34" charset="-120"/>
              </a:rPr>
              <a:t>H5 SAT→CI</a:t>
            </a:r>
            <a:endParaRPr lang="en-US" sz="1500" dirty="0"/>
          </a:p>
        </p:txBody>
      </p:sp>
      <p:sp>
        <p:nvSpPr>
          <p:cNvPr id="52" name="Shape 39"/>
          <p:cNvSpPr/>
          <p:nvPr/>
        </p:nvSpPr>
        <p:spPr>
          <a:xfrm>
            <a:off x="9410700" y="4371856"/>
            <a:ext cx="3924300" cy="514350"/>
          </a:xfrm>
          <a:prstGeom prst="roundRect">
            <a:avLst>
              <a:gd name="adj" fmla="val 25926"/>
            </a:avLst>
          </a:prstGeom>
          <a:solidFill>
            <a:srgbClr val="EEF1F4"/>
          </a:solidFill>
          <a:ln/>
        </p:spPr>
        <p:txBody>
          <a:bodyPr/>
          <a:lstStyle/>
          <a:p>
            <a:endParaRPr lang="en-US"/>
          </a:p>
        </p:txBody>
      </p:sp>
      <p:sp>
        <p:nvSpPr>
          <p:cNvPr id="53" name="Shape 40"/>
          <p:cNvSpPr/>
          <p:nvPr/>
        </p:nvSpPr>
        <p:spPr>
          <a:xfrm>
            <a:off x="9582150" y="4505206"/>
            <a:ext cx="247650" cy="247650"/>
          </a:xfrm>
          <a:prstGeom prst="ellipse">
            <a:avLst/>
          </a:prstGeom>
          <a:solidFill>
            <a:srgbClr val="9AA6B2"/>
          </a:solidFill>
          <a:ln/>
        </p:spPr>
        <p:txBody>
          <a:bodyPr/>
          <a:lstStyle/>
          <a:p>
            <a:endParaRPr lang="en-US"/>
          </a:p>
        </p:txBody>
      </p:sp>
      <p:pic>
        <p:nvPicPr>
          <p:cNvPr id="54" name="Image 11"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634538" y="4557594"/>
            <a:ext cx="142875" cy="142875"/>
          </a:xfrm>
          <a:prstGeom prst="rect">
            <a:avLst/>
          </a:prstGeom>
        </p:spPr>
      </p:pic>
      <p:sp>
        <p:nvSpPr>
          <p:cNvPr id="55" name="Text 41"/>
          <p:cNvSpPr/>
          <p:nvPr/>
        </p:nvSpPr>
        <p:spPr>
          <a:xfrm>
            <a:off x="9944100" y="4518541"/>
            <a:ext cx="1120735"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5C6570"/>
                </a:solidFill>
                <a:latin typeface="Arial" pitchFamily="34" charset="0"/>
                <a:ea typeface="Arial" pitchFamily="34" charset="-122"/>
                <a:cs typeface="Arial" pitchFamily="34" charset="-120"/>
              </a:rPr>
              <a:t>H6 TSP→CI</a:t>
            </a:r>
            <a:endParaRPr lang="en-US" sz="1500" dirty="0"/>
          </a:p>
        </p:txBody>
      </p:sp>
      <p:sp>
        <p:nvSpPr>
          <p:cNvPr id="56" name="Shape 42"/>
          <p:cNvSpPr/>
          <p:nvPr/>
        </p:nvSpPr>
        <p:spPr>
          <a:xfrm>
            <a:off x="13449300" y="4371856"/>
            <a:ext cx="3924300" cy="514350"/>
          </a:xfrm>
          <a:prstGeom prst="roundRect">
            <a:avLst>
              <a:gd name="adj" fmla="val 25926"/>
            </a:avLst>
          </a:prstGeom>
          <a:solidFill>
            <a:srgbClr val="EEF1F4"/>
          </a:solidFill>
          <a:ln/>
        </p:spPr>
        <p:txBody>
          <a:bodyPr/>
          <a:lstStyle/>
          <a:p>
            <a:endParaRPr lang="en-US"/>
          </a:p>
        </p:txBody>
      </p:sp>
      <p:sp>
        <p:nvSpPr>
          <p:cNvPr id="57" name="Shape 43"/>
          <p:cNvSpPr/>
          <p:nvPr/>
        </p:nvSpPr>
        <p:spPr>
          <a:xfrm>
            <a:off x="13620750" y="4505206"/>
            <a:ext cx="247650" cy="247650"/>
          </a:xfrm>
          <a:prstGeom prst="ellipse">
            <a:avLst/>
          </a:prstGeom>
          <a:solidFill>
            <a:srgbClr val="9AA6B2"/>
          </a:solidFill>
          <a:ln/>
        </p:spPr>
        <p:txBody>
          <a:bodyPr/>
          <a:lstStyle/>
          <a:p>
            <a:endParaRPr lang="en-US"/>
          </a:p>
        </p:txBody>
      </p:sp>
      <p:pic>
        <p:nvPicPr>
          <p:cNvPr id="58" name="Image 12"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3673138" y="4557594"/>
            <a:ext cx="142875" cy="142875"/>
          </a:xfrm>
          <a:prstGeom prst="rect">
            <a:avLst/>
          </a:prstGeom>
        </p:spPr>
      </p:pic>
      <p:sp>
        <p:nvSpPr>
          <p:cNvPr id="59" name="Text 44"/>
          <p:cNvSpPr/>
          <p:nvPr/>
        </p:nvSpPr>
        <p:spPr>
          <a:xfrm>
            <a:off x="13982700" y="4518541"/>
            <a:ext cx="1007626"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5C6570"/>
                </a:solidFill>
                <a:latin typeface="Arial" pitchFamily="34" charset="0"/>
                <a:ea typeface="Arial" pitchFamily="34" charset="-122"/>
                <a:cs typeface="Arial" pitchFamily="34" charset="-120"/>
              </a:rPr>
              <a:t>H9 FC→CI</a:t>
            </a:r>
            <a:endParaRPr lang="en-US" sz="1500" dirty="0"/>
          </a:p>
        </p:txBody>
      </p:sp>
      <p:sp>
        <p:nvSpPr>
          <p:cNvPr id="60" name="Shape 45"/>
          <p:cNvSpPr/>
          <p:nvPr/>
        </p:nvSpPr>
        <p:spPr>
          <a:xfrm>
            <a:off x="9410700" y="5000506"/>
            <a:ext cx="7962900" cy="514350"/>
          </a:xfrm>
          <a:prstGeom prst="roundRect">
            <a:avLst>
              <a:gd name="adj" fmla="val 25926"/>
            </a:avLst>
          </a:prstGeom>
          <a:solidFill>
            <a:srgbClr val="FDE3EA"/>
          </a:solidFill>
          <a:ln/>
        </p:spPr>
        <p:txBody>
          <a:bodyPr/>
          <a:lstStyle/>
          <a:p>
            <a:endParaRPr lang="en-US"/>
          </a:p>
        </p:txBody>
      </p:sp>
      <p:sp>
        <p:nvSpPr>
          <p:cNvPr id="61" name="Shape 46"/>
          <p:cNvSpPr/>
          <p:nvPr/>
        </p:nvSpPr>
        <p:spPr>
          <a:xfrm>
            <a:off x="9582150" y="5133856"/>
            <a:ext cx="247650" cy="247650"/>
          </a:xfrm>
          <a:prstGeom prst="ellipse">
            <a:avLst/>
          </a:prstGeom>
          <a:solidFill>
            <a:srgbClr val="D83A5E"/>
          </a:solidFill>
          <a:ln/>
        </p:spPr>
        <p:txBody>
          <a:bodyPr/>
          <a:lstStyle/>
          <a:p>
            <a:endParaRPr lang="en-US"/>
          </a:p>
        </p:txBody>
      </p:sp>
      <p:pic>
        <p:nvPicPr>
          <p:cNvPr id="62" name="Image 13" descr="preencoded.png"/>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634538" y="5186243"/>
            <a:ext cx="142875" cy="142875"/>
          </a:xfrm>
          <a:prstGeom prst="rect">
            <a:avLst/>
          </a:prstGeom>
        </p:spPr>
      </p:pic>
      <p:sp>
        <p:nvSpPr>
          <p:cNvPr id="63" name="Text 47"/>
          <p:cNvSpPr/>
          <p:nvPr/>
        </p:nvSpPr>
        <p:spPr>
          <a:xfrm>
            <a:off x="9944100" y="5147191"/>
            <a:ext cx="1793748"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D83A5E"/>
                </a:solidFill>
                <a:latin typeface="Arial" pitchFamily="34" charset="0"/>
                <a:ea typeface="Arial" pitchFamily="34" charset="-122"/>
                <a:cs typeface="Arial" pitchFamily="34" charset="-120"/>
              </a:rPr>
              <a:t>H8 SI→CI negative</a:t>
            </a:r>
            <a:endParaRPr lang="en-US" sz="1500" dirty="0"/>
          </a:p>
        </p:txBody>
      </p:sp>
      <p:sp>
        <p:nvSpPr>
          <p:cNvPr id="64" name="Shape 48"/>
          <p:cNvSpPr/>
          <p:nvPr/>
        </p:nvSpPr>
        <p:spPr>
          <a:xfrm>
            <a:off x="9410700" y="8322945"/>
            <a:ext cx="7962900" cy="1076325"/>
          </a:xfrm>
          <a:prstGeom prst="roundRect">
            <a:avLst>
              <a:gd name="adj" fmla="val 15929"/>
            </a:avLst>
          </a:prstGeom>
          <a:solidFill>
            <a:srgbClr val="FFFFFF">
              <a:alpha val="90000"/>
            </a:srgbClr>
          </a:solidFill>
          <a:ln w="7620">
            <a:solidFill>
              <a:srgbClr val="FFFFFF">
                <a:alpha val="90000"/>
              </a:srgbClr>
            </a:solidFill>
            <a:prstDash val="solid"/>
          </a:ln>
          <a:effectLst>
            <a:outerShdw blurRad="19050" dist="9525" dir="5400000" algn="bl" rotWithShape="0">
              <a:srgbClr val="0B3D1E">
                <a:alpha val="4000"/>
              </a:srgbClr>
            </a:outerShdw>
          </a:effectLst>
        </p:spPr>
        <p:txBody>
          <a:bodyPr/>
          <a:lstStyle/>
          <a:p>
            <a:endParaRPr lang="en-US"/>
          </a:p>
        </p:txBody>
      </p:sp>
      <p:sp>
        <p:nvSpPr>
          <p:cNvPr id="65" name="Text 49"/>
          <p:cNvSpPr/>
          <p:nvPr/>
        </p:nvSpPr>
        <p:spPr>
          <a:xfrm>
            <a:off x="9665970" y="8540115"/>
            <a:ext cx="8197596" cy="318135"/>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75" b="1" dirty="0">
                <a:solidFill>
                  <a:srgbClr val="111418"/>
                </a:solidFill>
                <a:latin typeface="Arial" pitchFamily="34" charset="0"/>
                <a:ea typeface="Arial" pitchFamily="34" charset="-122"/>
                <a:cs typeface="Arial" pitchFamily="34" charset="-120"/>
              </a:rPr>
              <a:t>Strongest direct path to CI: Habit → CI, β = 0.451, p &lt; 0.001</a:t>
            </a:r>
            <a:endParaRPr lang="en-US" sz="1575" dirty="0"/>
          </a:p>
        </p:txBody>
      </p:sp>
      <p:sp>
        <p:nvSpPr>
          <p:cNvPr id="66" name="Text 50"/>
          <p:cNvSpPr/>
          <p:nvPr/>
        </p:nvSpPr>
        <p:spPr>
          <a:xfrm>
            <a:off x="9665970" y="8915400"/>
            <a:ext cx="8197596" cy="30480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500" b="1" dirty="0">
                <a:solidFill>
                  <a:srgbClr val="5C6570"/>
                </a:solidFill>
                <a:latin typeface="Arial" pitchFamily="34" charset="0"/>
                <a:ea typeface="Arial" pitchFamily="34" charset="-122"/>
                <a:cs typeface="Arial" pitchFamily="34" charset="-120"/>
              </a:rPr>
              <a:t>Second significant direct path: PU → CI, β = 0.291, p = 0.021</a:t>
            </a:r>
            <a:endParaRPr lang="en-US" sz="1500" dirty="0"/>
          </a:p>
        </p:txBody>
      </p:sp>
      <p:sp>
        <p:nvSpPr>
          <p:cNvPr id="67" name="Text 51"/>
          <p:cNvSpPr/>
          <p:nvPr/>
        </p:nvSpPr>
        <p:spPr>
          <a:xfrm>
            <a:off x="914400" y="9570720"/>
            <a:ext cx="18105120"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8A929C"/>
                </a:solidFill>
                <a:latin typeface="Arial" pitchFamily="34" charset="0"/>
                <a:ea typeface="Arial" pitchFamily="34" charset="-122"/>
                <a:cs typeface="Arial" pitchFamily="34" charset="-120"/>
              </a:rPr>
              <a:t>Gaianand Ramnarace | Final Presentation | 7</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4000"/>
          </a:blip>
          <a:stretch>
            <a:fillRect/>
          </a:stretch>
        </p:blipFill>
        <p:spPr>
          <a:xfrm>
            <a:off x="15354300" y="7353300"/>
            <a:ext cx="3619500" cy="3619500"/>
          </a:xfrm>
          <a:prstGeom prst="rect">
            <a:avLst/>
          </a:prstGeom>
        </p:spPr>
      </p:pic>
      <p:sp>
        <p:nvSpPr>
          <p:cNvPr id="3" name="Text 0"/>
          <p:cNvSpPr/>
          <p:nvPr/>
        </p:nvSpPr>
        <p:spPr>
          <a:xfrm>
            <a:off x="914400" y="609600"/>
            <a:ext cx="12400776" cy="53185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600" b="1" kern="0" spc="-36" dirty="0">
                <a:solidFill>
                  <a:srgbClr val="111418"/>
                </a:solidFill>
                <a:latin typeface="Arial" pitchFamily="34" charset="0"/>
                <a:ea typeface="Arial" pitchFamily="34" charset="-122"/>
                <a:cs typeface="Arial" pitchFamily="34" charset="-120"/>
              </a:rPr>
              <a:t>Discussion, Limitations and Conclusion</a:t>
            </a:r>
            <a:endParaRPr lang="en-US" sz="3600" dirty="0"/>
          </a:p>
        </p:txBody>
      </p:sp>
      <p:sp>
        <p:nvSpPr>
          <p:cNvPr id="4" name="Text 1"/>
          <p:cNvSpPr/>
          <p:nvPr/>
        </p:nvSpPr>
        <p:spPr>
          <a:xfrm>
            <a:off x="914400" y="1217652"/>
            <a:ext cx="12400776" cy="359569"/>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5C6570"/>
                </a:solidFill>
                <a:latin typeface="Arial" pitchFamily="34" charset="0"/>
                <a:ea typeface="Arial" pitchFamily="34" charset="-122"/>
                <a:cs typeface="Arial" pitchFamily="34" charset="-120"/>
              </a:rPr>
              <a:t>The findings answer the research question by identifying the main drivers of continuance intention.</a:t>
            </a:r>
            <a:endParaRPr lang="en-US" sz="1875" dirty="0"/>
          </a:p>
        </p:txBody>
      </p:sp>
      <p:sp>
        <p:nvSpPr>
          <p:cNvPr id="5" name="Text 2"/>
          <p:cNvSpPr/>
          <p:nvPr/>
        </p:nvSpPr>
        <p:spPr>
          <a:xfrm>
            <a:off x="16543854" y="763905"/>
            <a:ext cx="334447"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99" dirty="0">
                <a:solidFill>
                  <a:srgbClr val="B5BCC4"/>
                </a:solidFill>
                <a:latin typeface="Arial" pitchFamily="34" charset="0"/>
                <a:ea typeface="Arial" pitchFamily="34" charset="-122"/>
                <a:cs typeface="Arial" pitchFamily="34" charset="-120"/>
              </a:rPr>
              <a:t>08</a:t>
            </a:r>
            <a:endParaRPr lang="en-US" sz="1650" dirty="0"/>
          </a:p>
        </p:txBody>
      </p:sp>
      <p:pic>
        <p:nvPicPr>
          <p:cNvPr id="6" name="Image 1" descr="preencoded.png"/>
          <p:cNvPicPr>
            <a:picLocks noChangeAspect="1"/>
          </p:cNvPicPr>
          <p:nvPr/>
        </p:nvPicPr>
        <p:blipFill>
          <a:blip r:embed="rId3"/>
          <a:stretch>
            <a:fillRect/>
          </a:stretch>
        </p:blipFill>
        <p:spPr>
          <a:xfrm>
            <a:off x="16935450" y="666750"/>
            <a:ext cx="438150" cy="438150"/>
          </a:xfrm>
          <a:prstGeom prst="rect">
            <a:avLst/>
          </a:prstGeom>
        </p:spPr>
      </p:pic>
      <p:sp>
        <p:nvSpPr>
          <p:cNvPr id="7" name="Shape 3"/>
          <p:cNvSpPr/>
          <p:nvPr/>
        </p:nvSpPr>
        <p:spPr>
          <a:xfrm>
            <a:off x="914400" y="1767721"/>
            <a:ext cx="16459200" cy="9525"/>
          </a:xfrm>
          <a:prstGeom prst="rect">
            <a:avLst/>
          </a:prstGeom>
          <a:solidFill>
            <a:srgbClr val="D9DDE2"/>
          </a:solidFill>
          <a:ln/>
        </p:spPr>
        <p:txBody>
          <a:bodyPr/>
          <a:lstStyle/>
          <a:p>
            <a:endParaRPr lang="en-US"/>
          </a:p>
        </p:txBody>
      </p:sp>
      <p:sp>
        <p:nvSpPr>
          <p:cNvPr id="8" name="Shape 4"/>
          <p:cNvSpPr/>
          <p:nvPr/>
        </p:nvSpPr>
        <p:spPr>
          <a:xfrm>
            <a:off x="914400" y="2045851"/>
            <a:ext cx="47625" cy="247650"/>
          </a:xfrm>
          <a:prstGeom prst="roundRect">
            <a:avLst>
              <a:gd name="adj" fmla="val 50000"/>
            </a:avLst>
          </a:prstGeom>
          <a:gradFill rotWithShape="1">
            <a:gsLst>
              <a:gs pos="0">
                <a:srgbClr val="14B24B">
                  <a:alpha val="100000"/>
                </a:srgbClr>
              </a:gs>
              <a:gs pos="100000">
                <a:srgbClr val="0F5A2C">
                  <a:alpha val="100000"/>
                </a:srgbClr>
              </a:gs>
            </a:gsLst>
            <a:lin ang="5400000" scaled="0"/>
          </a:gradFill>
          <a:ln/>
        </p:spPr>
        <p:txBody>
          <a:bodyPr/>
          <a:lstStyle/>
          <a:p>
            <a:endParaRPr lang="en-US"/>
          </a:p>
        </p:txBody>
      </p:sp>
      <p:sp>
        <p:nvSpPr>
          <p:cNvPr id="9" name="Text 5"/>
          <p:cNvSpPr/>
          <p:nvPr/>
        </p:nvSpPr>
        <p:spPr>
          <a:xfrm>
            <a:off x="1076325" y="2043946"/>
            <a:ext cx="1269683" cy="289560"/>
          </a:xfrm>
          <a:prstGeom prst="rect">
            <a:avLst/>
          </a:prstGeom>
          <a:noFill/>
          <a:ln/>
        </p:spPr>
        <p:txBody>
          <a:bodyPr wrap="square" lIns="25400" tIns="25400" rIns="25400" bIns="25400" rtlCol="0" anchor="t">
            <a:normAutofit fontScale="85000" lnSpcReduction="10000"/>
          </a:bodyPr>
          <a:lstStyle/>
          <a:p>
            <a:pPr marL="0" indent="0" algn="l">
              <a:buNone/>
            </a:pPr>
            <a:r>
              <a:rPr lang="en-US" sz="1725" b="1" dirty="0">
                <a:solidFill>
                  <a:srgbClr val="127A38"/>
                </a:solidFill>
                <a:latin typeface="Arial" pitchFamily="34" charset="0"/>
                <a:ea typeface="Arial" pitchFamily="34" charset="-122"/>
                <a:cs typeface="Arial" pitchFamily="34" charset="-120"/>
              </a:rPr>
              <a:t>Key findings</a:t>
            </a:r>
            <a:endParaRPr lang="en-US" sz="1725" dirty="0"/>
          </a:p>
        </p:txBody>
      </p:sp>
      <p:sp>
        <p:nvSpPr>
          <p:cNvPr id="10" name="Shape 6"/>
          <p:cNvSpPr/>
          <p:nvPr/>
        </p:nvSpPr>
        <p:spPr>
          <a:xfrm>
            <a:off x="914400" y="2485906"/>
            <a:ext cx="9179243" cy="914400"/>
          </a:xfrm>
          <a:prstGeom prst="roundRect">
            <a:avLst>
              <a:gd name="adj" fmla="val 16667"/>
            </a:avLst>
          </a:prstGeom>
          <a:solidFill>
            <a:srgbClr val="FFFFFF">
              <a:alpha val="88000"/>
            </a:srgbClr>
          </a:solidFill>
          <a:ln/>
          <a:effectLst>
            <a:outerShdw blurRad="19050" dist="9525" dir="5400000" algn="bl" rotWithShape="0">
              <a:srgbClr val="0B3D1E">
                <a:alpha val="4000"/>
              </a:srgbClr>
            </a:outerShdw>
          </a:effectLst>
        </p:spPr>
        <p:txBody>
          <a:bodyPr/>
          <a:lstStyle/>
          <a:p>
            <a:endParaRPr lang="en-US"/>
          </a:p>
        </p:txBody>
      </p:sp>
      <p:sp>
        <p:nvSpPr>
          <p:cNvPr id="11" name="Shape 7"/>
          <p:cNvSpPr/>
          <p:nvPr/>
        </p:nvSpPr>
        <p:spPr>
          <a:xfrm>
            <a:off x="914400" y="3392686"/>
            <a:ext cx="9179243" cy="9525"/>
          </a:xfrm>
          <a:prstGeom prst="rect">
            <a:avLst/>
          </a:prstGeom>
          <a:solidFill>
            <a:srgbClr val="FFFFFF">
              <a:alpha val="90000"/>
            </a:srgbClr>
          </a:solidFill>
          <a:ln/>
        </p:spPr>
        <p:txBody>
          <a:bodyPr/>
          <a:lstStyle/>
          <a:p>
            <a:endParaRPr lang="en-US"/>
          </a:p>
        </p:txBody>
      </p:sp>
      <p:sp>
        <p:nvSpPr>
          <p:cNvPr id="12" name="Shape 8"/>
          <p:cNvSpPr/>
          <p:nvPr/>
        </p:nvSpPr>
        <p:spPr>
          <a:xfrm>
            <a:off x="914400" y="2485906"/>
            <a:ext cx="9179243" cy="9525"/>
          </a:xfrm>
          <a:prstGeom prst="rect">
            <a:avLst/>
          </a:prstGeom>
          <a:solidFill>
            <a:srgbClr val="FFFFFF">
              <a:alpha val="90000"/>
            </a:srgbClr>
          </a:solidFill>
          <a:ln/>
        </p:spPr>
        <p:txBody>
          <a:bodyPr/>
          <a:lstStyle/>
          <a:p>
            <a:endParaRPr lang="en-US"/>
          </a:p>
        </p:txBody>
      </p:sp>
      <p:sp>
        <p:nvSpPr>
          <p:cNvPr id="13" name="Shape 9"/>
          <p:cNvSpPr/>
          <p:nvPr/>
        </p:nvSpPr>
        <p:spPr>
          <a:xfrm>
            <a:off x="914400" y="2485906"/>
            <a:ext cx="45720" cy="914400"/>
          </a:xfrm>
          <a:prstGeom prst="rect">
            <a:avLst/>
          </a:prstGeom>
          <a:solidFill>
            <a:srgbClr val="0E9F43"/>
          </a:solidFill>
          <a:ln/>
        </p:spPr>
        <p:txBody>
          <a:bodyPr/>
          <a:lstStyle/>
          <a:p>
            <a:endParaRPr lang="en-US"/>
          </a:p>
        </p:txBody>
      </p:sp>
      <p:sp>
        <p:nvSpPr>
          <p:cNvPr id="14" name="Shape 10"/>
          <p:cNvSpPr/>
          <p:nvPr/>
        </p:nvSpPr>
        <p:spPr>
          <a:xfrm>
            <a:off x="10086023" y="2485906"/>
            <a:ext cx="9525" cy="914400"/>
          </a:xfrm>
          <a:prstGeom prst="rect">
            <a:avLst/>
          </a:prstGeom>
          <a:solidFill>
            <a:srgbClr val="FFFFFF">
              <a:alpha val="90000"/>
            </a:srgbClr>
          </a:solidFill>
          <a:ln/>
        </p:spPr>
        <p:txBody>
          <a:bodyPr/>
          <a:lstStyle/>
          <a:p>
            <a:endParaRPr lang="en-US"/>
          </a:p>
        </p:txBody>
      </p:sp>
      <p:sp>
        <p:nvSpPr>
          <p:cNvPr id="15" name="Text 11"/>
          <p:cNvSpPr/>
          <p:nvPr/>
        </p:nvSpPr>
        <p:spPr>
          <a:xfrm>
            <a:off x="1188720" y="2664976"/>
            <a:ext cx="9535573" cy="28956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11418"/>
                </a:solidFill>
                <a:latin typeface="Arial" pitchFamily="34" charset="0"/>
                <a:ea typeface="Arial" pitchFamily="34" charset="-122"/>
                <a:cs typeface="Arial" pitchFamily="34" charset="-120"/>
              </a:rPr>
              <a:t>Habit</a:t>
            </a:r>
            <a:endParaRPr lang="en-US" sz="1725" dirty="0"/>
          </a:p>
        </p:txBody>
      </p:sp>
      <p:sp>
        <p:nvSpPr>
          <p:cNvPr id="16" name="Text 12"/>
          <p:cNvSpPr/>
          <p:nvPr/>
        </p:nvSpPr>
        <p:spPr>
          <a:xfrm>
            <a:off x="1188720" y="2964061"/>
            <a:ext cx="9535573" cy="29527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500" dirty="0">
                <a:solidFill>
                  <a:srgbClr val="5C6570"/>
                </a:solidFill>
                <a:latin typeface="Arial" pitchFamily="34" charset="0"/>
                <a:ea typeface="Arial" pitchFamily="34" charset="-122"/>
                <a:cs typeface="Arial" pitchFamily="34" charset="-120"/>
              </a:rPr>
              <a:t>Strongest predictor of continuance intention</a:t>
            </a:r>
            <a:endParaRPr lang="en-US" sz="1500" dirty="0"/>
          </a:p>
        </p:txBody>
      </p:sp>
      <p:sp>
        <p:nvSpPr>
          <p:cNvPr id="17" name="Shape 13"/>
          <p:cNvSpPr/>
          <p:nvPr/>
        </p:nvSpPr>
        <p:spPr>
          <a:xfrm>
            <a:off x="914400" y="3533656"/>
            <a:ext cx="9179243" cy="914400"/>
          </a:xfrm>
          <a:prstGeom prst="roundRect">
            <a:avLst>
              <a:gd name="adj" fmla="val 16667"/>
            </a:avLst>
          </a:prstGeom>
          <a:solidFill>
            <a:srgbClr val="FFFFFF">
              <a:alpha val="88000"/>
            </a:srgbClr>
          </a:solidFill>
          <a:ln/>
          <a:effectLst>
            <a:outerShdw blurRad="19050" dist="9525" dir="5400000" algn="bl" rotWithShape="0">
              <a:srgbClr val="0B3D1E">
                <a:alpha val="4000"/>
              </a:srgbClr>
            </a:outerShdw>
          </a:effectLst>
        </p:spPr>
        <p:txBody>
          <a:bodyPr/>
          <a:lstStyle/>
          <a:p>
            <a:endParaRPr lang="en-US"/>
          </a:p>
        </p:txBody>
      </p:sp>
      <p:sp>
        <p:nvSpPr>
          <p:cNvPr id="18" name="Shape 14"/>
          <p:cNvSpPr/>
          <p:nvPr/>
        </p:nvSpPr>
        <p:spPr>
          <a:xfrm>
            <a:off x="914400" y="4440436"/>
            <a:ext cx="9179243" cy="9525"/>
          </a:xfrm>
          <a:prstGeom prst="rect">
            <a:avLst/>
          </a:prstGeom>
          <a:solidFill>
            <a:srgbClr val="FFFFFF">
              <a:alpha val="90000"/>
            </a:srgbClr>
          </a:solidFill>
          <a:ln/>
        </p:spPr>
        <p:txBody>
          <a:bodyPr/>
          <a:lstStyle/>
          <a:p>
            <a:endParaRPr lang="en-US"/>
          </a:p>
        </p:txBody>
      </p:sp>
      <p:sp>
        <p:nvSpPr>
          <p:cNvPr id="19" name="Shape 15"/>
          <p:cNvSpPr/>
          <p:nvPr/>
        </p:nvSpPr>
        <p:spPr>
          <a:xfrm>
            <a:off x="914400" y="3533656"/>
            <a:ext cx="9179243" cy="9525"/>
          </a:xfrm>
          <a:prstGeom prst="rect">
            <a:avLst/>
          </a:prstGeom>
          <a:solidFill>
            <a:srgbClr val="FFFFFF">
              <a:alpha val="90000"/>
            </a:srgbClr>
          </a:solidFill>
          <a:ln/>
        </p:spPr>
        <p:txBody>
          <a:bodyPr/>
          <a:lstStyle/>
          <a:p>
            <a:endParaRPr lang="en-US"/>
          </a:p>
        </p:txBody>
      </p:sp>
      <p:sp>
        <p:nvSpPr>
          <p:cNvPr id="20" name="Shape 16"/>
          <p:cNvSpPr/>
          <p:nvPr/>
        </p:nvSpPr>
        <p:spPr>
          <a:xfrm>
            <a:off x="914400" y="3533656"/>
            <a:ext cx="45720" cy="914400"/>
          </a:xfrm>
          <a:prstGeom prst="rect">
            <a:avLst/>
          </a:prstGeom>
          <a:solidFill>
            <a:srgbClr val="0E9F43"/>
          </a:solidFill>
          <a:ln/>
        </p:spPr>
        <p:txBody>
          <a:bodyPr/>
          <a:lstStyle/>
          <a:p>
            <a:endParaRPr lang="en-US"/>
          </a:p>
        </p:txBody>
      </p:sp>
      <p:sp>
        <p:nvSpPr>
          <p:cNvPr id="21" name="Shape 17"/>
          <p:cNvSpPr/>
          <p:nvPr/>
        </p:nvSpPr>
        <p:spPr>
          <a:xfrm>
            <a:off x="10086023" y="3533656"/>
            <a:ext cx="9525" cy="914400"/>
          </a:xfrm>
          <a:prstGeom prst="rect">
            <a:avLst/>
          </a:prstGeom>
          <a:solidFill>
            <a:srgbClr val="FFFFFF">
              <a:alpha val="90000"/>
            </a:srgbClr>
          </a:solidFill>
          <a:ln/>
        </p:spPr>
        <p:txBody>
          <a:bodyPr/>
          <a:lstStyle/>
          <a:p>
            <a:endParaRPr lang="en-US"/>
          </a:p>
        </p:txBody>
      </p:sp>
      <p:sp>
        <p:nvSpPr>
          <p:cNvPr id="22" name="Text 18"/>
          <p:cNvSpPr/>
          <p:nvPr/>
        </p:nvSpPr>
        <p:spPr>
          <a:xfrm>
            <a:off x="1188720" y="3712726"/>
            <a:ext cx="9535573" cy="28956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11418"/>
                </a:solidFill>
                <a:latin typeface="Arial" pitchFamily="34" charset="0"/>
                <a:ea typeface="Arial" pitchFamily="34" charset="-122"/>
                <a:cs typeface="Arial" pitchFamily="34" charset="-120"/>
              </a:rPr>
              <a:t>Perceived usefulness</a:t>
            </a:r>
            <a:endParaRPr lang="en-US" sz="1725" dirty="0"/>
          </a:p>
        </p:txBody>
      </p:sp>
      <p:sp>
        <p:nvSpPr>
          <p:cNvPr id="23" name="Text 19"/>
          <p:cNvSpPr/>
          <p:nvPr/>
        </p:nvSpPr>
        <p:spPr>
          <a:xfrm>
            <a:off x="1188720" y="4011811"/>
            <a:ext cx="9535573" cy="29527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500" dirty="0">
                <a:solidFill>
                  <a:srgbClr val="5C6570"/>
                </a:solidFill>
                <a:latin typeface="Arial" pitchFamily="34" charset="0"/>
                <a:ea typeface="Arial" pitchFamily="34" charset="-122"/>
                <a:cs typeface="Arial" pitchFamily="34" charset="-120"/>
              </a:rPr>
              <a:t>Users return when Padna helps complete tax tasks</a:t>
            </a:r>
            <a:endParaRPr lang="en-US" sz="1500" dirty="0"/>
          </a:p>
        </p:txBody>
      </p:sp>
      <p:sp>
        <p:nvSpPr>
          <p:cNvPr id="24" name="Shape 20"/>
          <p:cNvSpPr/>
          <p:nvPr/>
        </p:nvSpPr>
        <p:spPr>
          <a:xfrm>
            <a:off x="914400" y="4581406"/>
            <a:ext cx="9179243" cy="914400"/>
          </a:xfrm>
          <a:prstGeom prst="roundRect">
            <a:avLst>
              <a:gd name="adj" fmla="val 16667"/>
            </a:avLst>
          </a:prstGeom>
          <a:solidFill>
            <a:srgbClr val="FFFFFF">
              <a:alpha val="88000"/>
            </a:srgbClr>
          </a:solidFill>
          <a:ln/>
          <a:effectLst>
            <a:outerShdw blurRad="19050" dist="9525" dir="5400000" algn="bl" rotWithShape="0">
              <a:srgbClr val="0B3D1E">
                <a:alpha val="4000"/>
              </a:srgbClr>
            </a:outerShdw>
          </a:effectLst>
        </p:spPr>
        <p:txBody>
          <a:bodyPr/>
          <a:lstStyle/>
          <a:p>
            <a:endParaRPr lang="en-US"/>
          </a:p>
        </p:txBody>
      </p:sp>
      <p:sp>
        <p:nvSpPr>
          <p:cNvPr id="25" name="Shape 21"/>
          <p:cNvSpPr/>
          <p:nvPr/>
        </p:nvSpPr>
        <p:spPr>
          <a:xfrm>
            <a:off x="914400" y="5488186"/>
            <a:ext cx="9179243" cy="9525"/>
          </a:xfrm>
          <a:prstGeom prst="rect">
            <a:avLst/>
          </a:prstGeom>
          <a:solidFill>
            <a:srgbClr val="FFFFFF">
              <a:alpha val="90000"/>
            </a:srgbClr>
          </a:solidFill>
          <a:ln/>
        </p:spPr>
        <p:txBody>
          <a:bodyPr/>
          <a:lstStyle/>
          <a:p>
            <a:endParaRPr lang="en-US"/>
          </a:p>
        </p:txBody>
      </p:sp>
      <p:sp>
        <p:nvSpPr>
          <p:cNvPr id="26" name="Shape 22"/>
          <p:cNvSpPr/>
          <p:nvPr/>
        </p:nvSpPr>
        <p:spPr>
          <a:xfrm>
            <a:off x="914400" y="4581406"/>
            <a:ext cx="9179243" cy="9525"/>
          </a:xfrm>
          <a:prstGeom prst="rect">
            <a:avLst/>
          </a:prstGeom>
          <a:solidFill>
            <a:srgbClr val="FFFFFF">
              <a:alpha val="90000"/>
            </a:srgbClr>
          </a:solidFill>
          <a:ln/>
        </p:spPr>
        <p:txBody>
          <a:bodyPr/>
          <a:lstStyle/>
          <a:p>
            <a:endParaRPr lang="en-US"/>
          </a:p>
        </p:txBody>
      </p:sp>
      <p:sp>
        <p:nvSpPr>
          <p:cNvPr id="27" name="Shape 23"/>
          <p:cNvSpPr/>
          <p:nvPr/>
        </p:nvSpPr>
        <p:spPr>
          <a:xfrm>
            <a:off x="914400" y="4581406"/>
            <a:ext cx="45720" cy="914400"/>
          </a:xfrm>
          <a:prstGeom prst="rect">
            <a:avLst/>
          </a:prstGeom>
          <a:solidFill>
            <a:srgbClr val="0E9F43"/>
          </a:solidFill>
          <a:ln/>
        </p:spPr>
        <p:txBody>
          <a:bodyPr/>
          <a:lstStyle/>
          <a:p>
            <a:endParaRPr lang="en-US"/>
          </a:p>
        </p:txBody>
      </p:sp>
      <p:sp>
        <p:nvSpPr>
          <p:cNvPr id="28" name="Shape 24"/>
          <p:cNvSpPr/>
          <p:nvPr/>
        </p:nvSpPr>
        <p:spPr>
          <a:xfrm>
            <a:off x="10086023" y="4581406"/>
            <a:ext cx="9525" cy="914400"/>
          </a:xfrm>
          <a:prstGeom prst="rect">
            <a:avLst/>
          </a:prstGeom>
          <a:solidFill>
            <a:srgbClr val="FFFFFF">
              <a:alpha val="90000"/>
            </a:srgbClr>
          </a:solidFill>
          <a:ln/>
        </p:spPr>
        <p:txBody>
          <a:bodyPr/>
          <a:lstStyle/>
          <a:p>
            <a:endParaRPr lang="en-US"/>
          </a:p>
        </p:txBody>
      </p:sp>
      <p:sp>
        <p:nvSpPr>
          <p:cNvPr id="29" name="Text 25"/>
          <p:cNvSpPr/>
          <p:nvPr/>
        </p:nvSpPr>
        <p:spPr>
          <a:xfrm>
            <a:off x="1188720" y="4760476"/>
            <a:ext cx="9535573" cy="28956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111418"/>
                </a:solidFill>
                <a:latin typeface="Arial" pitchFamily="34" charset="0"/>
                <a:ea typeface="Arial" pitchFamily="34" charset="-122"/>
                <a:cs typeface="Arial" pitchFamily="34" charset="-120"/>
              </a:rPr>
              <a:t>Confirmation</a:t>
            </a:r>
            <a:endParaRPr lang="en-US" sz="1725" dirty="0"/>
          </a:p>
        </p:txBody>
      </p:sp>
      <p:sp>
        <p:nvSpPr>
          <p:cNvPr id="30" name="Text 26"/>
          <p:cNvSpPr/>
          <p:nvPr/>
        </p:nvSpPr>
        <p:spPr>
          <a:xfrm>
            <a:off x="1188720" y="5059561"/>
            <a:ext cx="9535573" cy="29527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500" dirty="0">
                <a:solidFill>
                  <a:srgbClr val="5C6570"/>
                </a:solidFill>
                <a:latin typeface="Arial" pitchFamily="34" charset="0"/>
                <a:ea typeface="Arial" pitchFamily="34" charset="-122"/>
                <a:cs typeface="Arial" pitchFamily="34" charset="-120"/>
              </a:rPr>
              <a:t>Strongly shapes perceived usefulness and satisfaction</a:t>
            </a:r>
            <a:endParaRPr lang="en-US" sz="1500" dirty="0"/>
          </a:p>
        </p:txBody>
      </p:sp>
      <p:sp>
        <p:nvSpPr>
          <p:cNvPr id="31" name="Shape 27"/>
          <p:cNvSpPr/>
          <p:nvPr/>
        </p:nvSpPr>
        <p:spPr>
          <a:xfrm>
            <a:off x="914400" y="5629156"/>
            <a:ext cx="9179243" cy="914400"/>
          </a:xfrm>
          <a:prstGeom prst="roundRect">
            <a:avLst>
              <a:gd name="adj" fmla="val 16667"/>
            </a:avLst>
          </a:prstGeom>
          <a:solidFill>
            <a:srgbClr val="FFFFFF">
              <a:alpha val="88000"/>
            </a:srgbClr>
          </a:solidFill>
          <a:ln/>
          <a:effectLst>
            <a:outerShdw blurRad="19050" dist="9525" dir="5400000" algn="bl" rotWithShape="0">
              <a:srgbClr val="0B3D1E">
                <a:alpha val="4000"/>
              </a:srgbClr>
            </a:outerShdw>
          </a:effectLst>
        </p:spPr>
        <p:txBody>
          <a:bodyPr/>
          <a:lstStyle/>
          <a:p>
            <a:endParaRPr lang="en-US"/>
          </a:p>
        </p:txBody>
      </p:sp>
      <p:sp>
        <p:nvSpPr>
          <p:cNvPr id="32" name="Shape 28"/>
          <p:cNvSpPr/>
          <p:nvPr/>
        </p:nvSpPr>
        <p:spPr>
          <a:xfrm>
            <a:off x="914400" y="6535936"/>
            <a:ext cx="9179243" cy="9525"/>
          </a:xfrm>
          <a:prstGeom prst="rect">
            <a:avLst/>
          </a:prstGeom>
          <a:solidFill>
            <a:srgbClr val="FFFFFF">
              <a:alpha val="90000"/>
            </a:srgbClr>
          </a:solidFill>
          <a:ln/>
        </p:spPr>
        <p:txBody>
          <a:bodyPr/>
          <a:lstStyle/>
          <a:p>
            <a:endParaRPr lang="en-US"/>
          </a:p>
        </p:txBody>
      </p:sp>
      <p:sp>
        <p:nvSpPr>
          <p:cNvPr id="33" name="Shape 29"/>
          <p:cNvSpPr/>
          <p:nvPr/>
        </p:nvSpPr>
        <p:spPr>
          <a:xfrm>
            <a:off x="914400" y="5629156"/>
            <a:ext cx="9179243" cy="9525"/>
          </a:xfrm>
          <a:prstGeom prst="rect">
            <a:avLst/>
          </a:prstGeom>
          <a:solidFill>
            <a:srgbClr val="FFFFFF">
              <a:alpha val="90000"/>
            </a:srgbClr>
          </a:solidFill>
          <a:ln/>
        </p:spPr>
        <p:txBody>
          <a:bodyPr/>
          <a:lstStyle/>
          <a:p>
            <a:endParaRPr lang="en-US"/>
          </a:p>
        </p:txBody>
      </p:sp>
      <p:sp>
        <p:nvSpPr>
          <p:cNvPr id="34" name="Shape 30"/>
          <p:cNvSpPr/>
          <p:nvPr/>
        </p:nvSpPr>
        <p:spPr>
          <a:xfrm>
            <a:off x="914400" y="5629156"/>
            <a:ext cx="45720" cy="914400"/>
          </a:xfrm>
          <a:prstGeom prst="rect">
            <a:avLst/>
          </a:prstGeom>
          <a:solidFill>
            <a:srgbClr val="D83A5E"/>
          </a:solidFill>
          <a:ln/>
        </p:spPr>
        <p:txBody>
          <a:bodyPr/>
          <a:lstStyle/>
          <a:p>
            <a:endParaRPr lang="en-US"/>
          </a:p>
        </p:txBody>
      </p:sp>
      <p:sp>
        <p:nvSpPr>
          <p:cNvPr id="35" name="Shape 31"/>
          <p:cNvSpPr/>
          <p:nvPr/>
        </p:nvSpPr>
        <p:spPr>
          <a:xfrm>
            <a:off x="10086023" y="5629156"/>
            <a:ext cx="9525" cy="914400"/>
          </a:xfrm>
          <a:prstGeom prst="rect">
            <a:avLst/>
          </a:prstGeom>
          <a:solidFill>
            <a:srgbClr val="FFFFFF">
              <a:alpha val="90000"/>
            </a:srgbClr>
          </a:solidFill>
          <a:ln/>
        </p:spPr>
        <p:txBody>
          <a:bodyPr/>
          <a:lstStyle/>
          <a:p>
            <a:endParaRPr lang="en-US"/>
          </a:p>
        </p:txBody>
      </p:sp>
      <p:sp>
        <p:nvSpPr>
          <p:cNvPr id="36" name="Text 32"/>
          <p:cNvSpPr/>
          <p:nvPr/>
        </p:nvSpPr>
        <p:spPr>
          <a:xfrm>
            <a:off x="1188720" y="5808226"/>
            <a:ext cx="9535573" cy="28956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D83A5E"/>
                </a:solidFill>
                <a:latin typeface="Arial" pitchFamily="34" charset="0"/>
                <a:ea typeface="Arial" pitchFamily="34" charset="-122"/>
                <a:cs typeface="Arial" pitchFamily="34" charset="-120"/>
              </a:rPr>
              <a:t>Social influence</a:t>
            </a:r>
            <a:endParaRPr lang="en-US" sz="1725" dirty="0"/>
          </a:p>
        </p:txBody>
      </p:sp>
      <p:sp>
        <p:nvSpPr>
          <p:cNvPr id="37" name="Text 33"/>
          <p:cNvSpPr/>
          <p:nvPr/>
        </p:nvSpPr>
        <p:spPr>
          <a:xfrm>
            <a:off x="1188720" y="6107311"/>
            <a:ext cx="9535573" cy="295275"/>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500" dirty="0">
                <a:solidFill>
                  <a:srgbClr val="5C6570"/>
                </a:solidFill>
                <a:latin typeface="Arial" pitchFamily="34" charset="0"/>
                <a:ea typeface="Arial" pitchFamily="34" charset="-122"/>
                <a:cs typeface="Arial" pitchFamily="34" charset="-120"/>
              </a:rPr>
              <a:t>Significant negative relationship, indicating a more personal and task-driven decision</a:t>
            </a:r>
            <a:endParaRPr lang="en-US" sz="1500" dirty="0"/>
          </a:p>
        </p:txBody>
      </p:sp>
      <p:sp>
        <p:nvSpPr>
          <p:cNvPr id="38" name="Shape 34"/>
          <p:cNvSpPr/>
          <p:nvPr/>
        </p:nvSpPr>
        <p:spPr>
          <a:xfrm>
            <a:off x="10588943" y="2045851"/>
            <a:ext cx="47625" cy="247650"/>
          </a:xfrm>
          <a:prstGeom prst="roundRect">
            <a:avLst>
              <a:gd name="adj" fmla="val 50000"/>
            </a:avLst>
          </a:prstGeom>
          <a:gradFill rotWithShape="1">
            <a:gsLst>
              <a:gs pos="0">
                <a:srgbClr val="F79E7C">
                  <a:alpha val="100000"/>
                </a:srgbClr>
              </a:gs>
              <a:gs pos="100000">
                <a:srgbClr val="F06A3B">
                  <a:alpha val="100000"/>
                </a:srgbClr>
              </a:gs>
            </a:gsLst>
            <a:lin ang="5400000" scaled="0"/>
          </a:gradFill>
          <a:ln/>
        </p:spPr>
        <p:txBody>
          <a:bodyPr/>
          <a:lstStyle/>
          <a:p>
            <a:endParaRPr lang="en-US"/>
          </a:p>
        </p:txBody>
      </p:sp>
      <p:sp>
        <p:nvSpPr>
          <p:cNvPr id="39" name="Text 35"/>
          <p:cNvSpPr/>
          <p:nvPr/>
        </p:nvSpPr>
        <p:spPr>
          <a:xfrm>
            <a:off x="10750868" y="2043946"/>
            <a:ext cx="1123355" cy="289560"/>
          </a:xfrm>
          <a:prstGeom prst="rect">
            <a:avLst/>
          </a:prstGeom>
          <a:noFill/>
          <a:ln/>
        </p:spPr>
        <p:txBody>
          <a:bodyPr wrap="square" lIns="25400" tIns="25400" rIns="25400" bIns="25400" rtlCol="0" anchor="t">
            <a:normAutofit fontScale="85000" lnSpcReduction="10000"/>
          </a:bodyPr>
          <a:lstStyle/>
          <a:p>
            <a:pPr marL="0" indent="0" algn="l">
              <a:buNone/>
            </a:pPr>
            <a:r>
              <a:rPr lang="en-US" sz="1725" b="1" dirty="0">
                <a:solidFill>
                  <a:srgbClr val="D2561F"/>
                </a:solidFill>
                <a:latin typeface="Arial" pitchFamily="34" charset="0"/>
                <a:ea typeface="Arial" pitchFamily="34" charset="-122"/>
                <a:cs typeface="Arial" pitchFamily="34" charset="-120"/>
              </a:rPr>
              <a:t>Limitations</a:t>
            </a:r>
            <a:endParaRPr lang="en-US" sz="1725" dirty="0"/>
          </a:p>
        </p:txBody>
      </p:sp>
      <p:sp>
        <p:nvSpPr>
          <p:cNvPr id="40" name="Shape 36"/>
          <p:cNvSpPr/>
          <p:nvPr/>
        </p:nvSpPr>
        <p:spPr>
          <a:xfrm>
            <a:off x="10588943" y="2565916"/>
            <a:ext cx="114300" cy="114300"/>
          </a:xfrm>
          <a:prstGeom prst="ellipse">
            <a:avLst/>
          </a:prstGeom>
          <a:solidFill>
            <a:srgbClr val="F06A3B"/>
          </a:solidFill>
          <a:ln/>
        </p:spPr>
        <p:txBody>
          <a:bodyPr/>
          <a:lstStyle/>
          <a:p>
            <a:endParaRPr lang="en-US"/>
          </a:p>
        </p:txBody>
      </p:sp>
      <p:sp>
        <p:nvSpPr>
          <p:cNvPr id="41" name="Text 37"/>
          <p:cNvSpPr/>
          <p:nvPr/>
        </p:nvSpPr>
        <p:spPr>
          <a:xfrm>
            <a:off x="10855643" y="2504956"/>
            <a:ext cx="2704636" cy="274320"/>
          </a:xfrm>
          <a:prstGeom prst="rect">
            <a:avLst/>
          </a:prstGeom>
          <a:noFill/>
          <a:ln/>
        </p:spPr>
        <p:txBody>
          <a:bodyPr wrap="square" lIns="25400" tIns="25400" rIns="25400" bIns="25400" rtlCol="0" anchor="t">
            <a:normAutofit lnSpcReduction="10000"/>
          </a:bodyPr>
          <a:lstStyle/>
          <a:p>
            <a:pPr marL="0" indent="0" algn="l">
              <a:buNone/>
            </a:pPr>
            <a:r>
              <a:rPr lang="en-US" sz="1575" dirty="0">
                <a:solidFill>
                  <a:srgbClr val="2B3139"/>
                </a:solidFill>
                <a:latin typeface="Arial" pitchFamily="34" charset="0"/>
                <a:ea typeface="Arial" pitchFamily="34" charset="-122"/>
                <a:cs typeface="Arial" pitchFamily="34" charset="-120"/>
              </a:rPr>
              <a:t>Self-reported survey data</a:t>
            </a:r>
            <a:endParaRPr lang="en-US" sz="1575" dirty="0"/>
          </a:p>
        </p:txBody>
      </p:sp>
      <p:sp>
        <p:nvSpPr>
          <p:cNvPr id="42" name="Shape 38"/>
          <p:cNvSpPr/>
          <p:nvPr/>
        </p:nvSpPr>
        <p:spPr>
          <a:xfrm>
            <a:off x="10588943" y="2973586"/>
            <a:ext cx="114300" cy="114300"/>
          </a:xfrm>
          <a:prstGeom prst="ellipse">
            <a:avLst/>
          </a:prstGeom>
          <a:solidFill>
            <a:srgbClr val="F06A3B"/>
          </a:solidFill>
          <a:ln/>
        </p:spPr>
        <p:txBody>
          <a:bodyPr/>
          <a:lstStyle/>
          <a:p>
            <a:endParaRPr lang="en-US"/>
          </a:p>
        </p:txBody>
      </p:sp>
      <p:sp>
        <p:nvSpPr>
          <p:cNvPr id="43" name="Text 39"/>
          <p:cNvSpPr/>
          <p:nvPr/>
        </p:nvSpPr>
        <p:spPr>
          <a:xfrm>
            <a:off x="10855643" y="2912626"/>
            <a:ext cx="2431173" cy="274320"/>
          </a:xfrm>
          <a:prstGeom prst="rect">
            <a:avLst/>
          </a:prstGeom>
          <a:noFill/>
          <a:ln/>
        </p:spPr>
        <p:txBody>
          <a:bodyPr wrap="square" lIns="25400" tIns="25400" rIns="25400" bIns="25400" rtlCol="0" anchor="t">
            <a:normAutofit lnSpcReduction="10000"/>
          </a:bodyPr>
          <a:lstStyle/>
          <a:p>
            <a:pPr marL="0" indent="0" algn="l">
              <a:buNone/>
            </a:pPr>
            <a:r>
              <a:rPr lang="en-US" sz="1575" dirty="0">
                <a:solidFill>
                  <a:srgbClr val="2B3139"/>
                </a:solidFill>
                <a:latin typeface="Arial" pitchFamily="34" charset="0"/>
                <a:ea typeface="Arial" pitchFamily="34" charset="-122"/>
                <a:cs typeface="Arial" pitchFamily="34" charset="-120"/>
              </a:rPr>
              <a:t>Cross-sectional design</a:t>
            </a:r>
            <a:endParaRPr lang="en-US" sz="1575" dirty="0"/>
          </a:p>
        </p:txBody>
      </p:sp>
      <p:sp>
        <p:nvSpPr>
          <p:cNvPr id="44" name="Shape 40"/>
          <p:cNvSpPr/>
          <p:nvPr/>
        </p:nvSpPr>
        <p:spPr>
          <a:xfrm>
            <a:off x="10588943" y="3381256"/>
            <a:ext cx="114300" cy="114300"/>
          </a:xfrm>
          <a:prstGeom prst="ellipse">
            <a:avLst/>
          </a:prstGeom>
          <a:solidFill>
            <a:srgbClr val="F06A3B"/>
          </a:solidFill>
          <a:ln/>
        </p:spPr>
        <p:txBody>
          <a:bodyPr/>
          <a:lstStyle/>
          <a:p>
            <a:endParaRPr lang="en-US"/>
          </a:p>
        </p:txBody>
      </p:sp>
      <p:sp>
        <p:nvSpPr>
          <p:cNvPr id="45" name="Text 41"/>
          <p:cNvSpPr/>
          <p:nvPr/>
        </p:nvSpPr>
        <p:spPr>
          <a:xfrm>
            <a:off x="10855643" y="3320296"/>
            <a:ext cx="4029908" cy="274320"/>
          </a:xfrm>
          <a:prstGeom prst="rect">
            <a:avLst/>
          </a:prstGeom>
          <a:noFill/>
          <a:ln/>
        </p:spPr>
        <p:txBody>
          <a:bodyPr wrap="square" lIns="25400" tIns="25400" rIns="25400" bIns="25400" rtlCol="0" anchor="t">
            <a:normAutofit lnSpcReduction="10000"/>
          </a:bodyPr>
          <a:lstStyle/>
          <a:p>
            <a:pPr marL="0" indent="0" algn="l">
              <a:buNone/>
            </a:pPr>
            <a:r>
              <a:rPr lang="en-US" sz="1575" dirty="0">
                <a:solidFill>
                  <a:srgbClr val="2B3139"/>
                </a:solidFill>
                <a:latin typeface="Arial" pitchFamily="34" charset="0"/>
                <a:ea typeface="Arial" pitchFamily="34" charset="-122"/>
                <a:cs typeface="Arial" pitchFamily="34" charset="-120"/>
              </a:rPr>
              <a:t>Findings apply to surveyed prior users</a:t>
            </a:r>
            <a:endParaRPr lang="en-US" sz="1575" dirty="0"/>
          </a:p>
        </p:txBody>
      </p:sp>
      <p:sp>
        <p:nvSpPr>
          <p:cNvPr id="46" name="Shape 42"/>
          <p:cNvSpPr/>
          <p:nvPr/>
        </p:nvSpPr>
        <p:spPr>
          <a:xfrm>
            <a:off x="10588943" y="3788926"/>
            <a:ext cx="114300" cy="114300"/>
          </a:xfrm>
          <a:prstGeom prst="ellipse">
            <a:avLst/>
          </a:prstGeom>
          <a:solidFill>
            <a:srgbClr val="F06A3B"/>
          </a:solidFill>
          <a:ln/>
        </p:spPr>
        <p:txBody>
          <a:bodyPr/>
          <a:lstStyle/>
          <a:p>
            <a:endParaRPr lang="en-US"/>
          </a:p>
        </p:txBody>
      </p:sp>
      <p:sp>
        <p:nvSpPr>
          <p:cNvPr id="47" name="Text 43"/>
          <p:cNvSpPr/>
          <p:nvPr/>
        </p:nvSpPr>
        <p:spPr>
          <a:xfrm>
            <a:off x="10855643" y="3727966"/>
            <a:ext cx="3846421" cy="274320"/>
          </a:xfrm>
          <a:prstGeom prst="rect">
            <a:avLst/>
          </a:prstGeom>
          <a:noFill/>
          <a:ln/>
        </p:spPr>
        <p:txBody>
          <a:bodyPr wrap="square" lIns="25400" tIns="25400" rIns="25400" bIns="25400" rtlCol="0" anchor="t">
            <a:normAutofit lnSpcReduction="10000"/>
          </a:bodyPr>
          <a:lstStyle/>
          <a:p>
            <a:pPr marL="0" indent="0" algn="l">
              <a:buNone/>
            </a:pPr>
            <a:r>
              <a:rPr lang="en-US" sz="1575" dirty="0">
                <a:solidFill>
                  <a:srgbClr val="2B3139"/>
                </a:solidFill>
                <a:latin typeface="Arial" pitchFamily="34" charset="0"/>
                <a:ea typeface="Arial" pitchFamily="34" charset="-122"/>
                <a:cs typeface="Arial" pitchFamily="34" charset="-120"/>
              </a:rPr>
              <a:t>HTMT concern between PU and SAT</a:t>
            </a:r>
            <a:endParaRPr lang="en-US" sz="1575" dirty="0"/>
          </a:p>
        </p:txBody>
      </p:sp>
      <p:sp>
        <p:nvSpPr>
          <p:cNvPr id="48" name="Shape 44"/>
          <p:cNvSpPr/>
          <p:nvPr/>
        </p:nvSpPr>
        <p:spPr>
          <a:xfrm>
            <a:off x="10588943" y="4196596"/>
            <a:ext cx="114300" cy="114300"/>
          </a:xfrm>
          <a:prstGeom prst="ellipse">
            <a:avLst/>
          </a:prstGeom>
          <a:solidFill>
            <a:srgbClr val="F06A3B"/>
          </a:solidFill>
          <a:ln/>
        </p:spPr>
        <p:txBody>
          <a:bodyPr/>
          <a:lstStyle/>
          <a:p>
            <a:endParaRPr lang="en-US"/>
          </a:p>
        </p:txBody>
      </p:sp>
      <p:sp>
        <p:nvSpPr>
          <p:cNvPr id="49" name="Text 45"/>
          <p:cNvSpPr/>
          <p:nvPr/>
        </p:nvSpPr>
        <p:spPr>
          <a:xfrm>
            <a:off x="10855643" y="4135636"/>
            <a:ext cx="5406521" cy="274320"/>
          </a:xfrm>
          <a:prstGeom prst="rect">
            <a:avLst/>
          </a:prstGeom>
          <a:noFill/>
          <a:ln/>
        </p:spPr>
        <p:txBody>
          <a:bodyPr wrap="square" lIns="25400" tIns="25400" rIns="25400" bIns="25400" rtlCol="0" anchor="t">
            <a:normAutofit lnSpcReduction="10000"/>
          </a:bodyPr>
          <a:lstStyle/>
          <a:p>
            <a:pPr marL="0" indent="0" algn="l">
              <a:buNone/>
            </a:pPr>
            <a:r>
              <a:rPr lang="en-US" sz="1575" dirty="0">
                <a:solidFill>
                  <a:srgbClr val="2B3139"/>
                </a:solidFill>
                <a:latin typeface="Arial" pitchFamily="34" charset="0"/>
                <a:ea typeface="Arial" pitchFamily="34" charset="-122"/>
                <a:cs typeface="Arial" pitchFamily="34" charset="-120"/>
              </a:rPr>
              <a:t>High VIF values require cautious path interpretation</a:t>
            </a:r>
            <a:endParaRPr lang="en-US" sz="1575" dirty="0"/>
          </a:p>
        </p:txBody>
      </p:sp>
      <p:sp>
        <p:nvSpPr>
          <p:cNvPr id="50" name="Shape 46"/>
          <p:cNvSpPr/>
          <p:nvPr/>
        </p:nvSpPr>
        <p:spPr>
          <a:xfrm>
            <a:off x="914400" y="8246745"/>
            <a:ext cx="16459200" cy="1152525"/>
          </a:xfrm>
          <a:prstGeom prst="roundRect">
            <a:avLst>
              <a:gd name="adj" fmla="val 18182"/>
            </a:avLst>
          </a:prstGeom>
          <a:solidFill>
            <a:srgbClr val="E3F6E9"/>
          </a:solidFill>
          <a:ln/>
        </p:spPr>
        <p:txBody>
          <a:bodyPr/>
          <a:lstStyle/>
          <a:p>
            <a:endParaRPr lang="en-US"/>
          </a:p>
        </p:txBody>
      </p:sp>
      <p:sp>
        <p:nvSpPr>
          <p:cNvPr id="51" name="Shape 47"/>
          <p:cNvSpPr/>
          <p:nvPr/>
        </p:nvSpPr>
        <p:spPr>
          <a:xfrm>
            <a:off x="1219200" y="8513445"/>
            <a:ext cx="47625" cy="266700"/>
          </a:xfrm>
          <a:prstGeom prst="roundRect">
            <a:avLst>
              <a:gd name="adj" fmla="val 50000"/>
            </a:avLst>
          </a:prstGeom>
          <a:gradFill rotWithShape="1">
            <a:gsLst>
              <a:gs pos="0">
                <a:srgbClr val="14B24B">
                  <a:alpha val="100000"/>
                </a:srgbClr>
              </a:gs>
              <a:gs pos="100000">
                <a:srgbClr val="0F5A2C">
                  <a:alpha val="100000"/>
                </a:srgbClr>
              </a:gs>
            </a:gsLst>
            <a:lin ang="5400000" scaled="0"/>
          </a:gradFill>
          <a:ln/>
        </p:spPr>
        <p:txBody>
          <a:bodyPr/>
          <a:lstStyle/>
          <a:p>
            <a:endParaRPr lang="en-US"/>
          </a:p>
        </p:txBody>
      </p:sp>
      <p:sp>
        <p:nvSpPr>
          <p:cNvPr id="52" name="Text 48"/>
          <p:cNvSpPr/>
          <p:nvPr/>
        </p:nvSpPr>
        <p:spPr>
          <a:xfrm>
            <a:off x="1381125" y="8524875"/>
            <a:ext cx="1112996" cy="281940"/>
          </a:xfrm>
          <a:prstGeom prst="rect">
            <a:avLst/>
          </a:prstGeom>
          <a:noFill/>
          <a:ln/>
        </p:spPr>
        <p:txBody>
          <a:bodyPr wrap="square" lIns="25400" tIns="25400" rIns="25400" bIns="25400" rtlCol="0" anchor="t">
            <a:normAutofit fontScale="92500"/>
          </a:bodyPr>
          <a:lstStyle/>
          <a:p>
            <a:pPr marL="0" indent="0" algn="l">
              <a:buNone/>
            </a:pPr>
            <a:r>
              <a:rPr lang="en-US" sz="1650" b="1" dirty="0">
                <a:solidFill>
                  <a:srgbClr val="0F5A2C"/>
                </a:solidFill>
                <a:latin typeface="Arial" pitchFamily="34" charset="0"/>
                <a:ea typeface="Arial" pitchFamily="34" charset="-122"/>
                <a:cs typeface="Arial" pitchFamily="34" charset="-120"/>
              </a:rPr>
              <a:t>Conclusion</a:t>
            </a:r>
            <a:endParaRPr lang="en-US" sz="1650" dirty="0"/>
          </a:p>
        </p:txBody>
      </p:sp>
      <p:sp>
        <p:nvSpPr>
          <p:cNvPr id="53" name="Text 49"/>
          <p:cNvSpPr/>
          <p:nvPr/>
        </p:nvSpPr>
        <p:spPr>
          <a:xfrm>
            <a:off x="2646521" y="8494395"/>
            <a:ext cx="14854947" cy="69532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dirty="0">
                <a:solidFill>
                  <a:srgbClr val="14361F"/>
                </a:solidFill>
                <a:latin typeface="Arial" pitchFamily="34" charset="0"/>
                <a:ea typeface="Arial" pitchFamily="34" charset="-122"/>
                <a:cs typeface="Arial" pitchFamily="34" charset="-120"/>
              </a:rPr>
              <a:t>Continuance intention toward Padna is mainly influenced by Habit and Perceived Usefulness. Users are more likely to return when Padna becomes their normal option for future tax-related tasks and when they perceive it as useful.</a:t>
            </a:r>
            <a:endParaRPr lang="en-US" sz="1725" dirty="0"/>
          </a:p>
        </p:txBody>
      </p:sp>
      <p:sp>
        <p:nvSpPr>
          <p:cNvPr id="54" name="Text 50"/>
          <p:cNvSpPr/>
          <p:nvPr/>
        </p:nvSpPr>
        <p:spPr>
          <a:xfrm>
            <a:off x="914400" y="9570720"/>
            <a:ext cx="18105120"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8A929C"/>
                </a:solidFill>
                <a:latin typeface="Arial" pitchFamily="34" charset="0"/>
                <a:ea typeface="Arial" pitchFamily="34" charset="-122"/>
                <a:cs typeface="Arial" pitchFamily="34" charset="-120"/>
              </a:rPr>
              <a:t>Gaianand Ramnarace | Final Presentation | 8</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4000"/>
          </a:blip>
          <a:stretch>
            <a:fillRect/>
          </a:stretch>
        </p:blipFill>
        <p:spPr>
          <a:xfrm>
            <a:off x="15354300" y="7353300"/>
            <a:ext cx="3619500" cy="3619500"/>
          </a:xfrm>
          <a:prstGeom prst="rect">
            <a:avLst/>
          </a:prstGeom>
        </p:spPr>
      </p:pic>
      <p:sp>
        <p:nvSpPr>
          <p:cNvPr id="3" name="Text 0"/>
          <p:cNvSpPr/>
          <p:nvPr/>
        </p:nvSpPr>
        <p:spPr>
          <a:xfrm>
            <a:off x="914400" y="609600"/>
            <a:ext cx="4715661" cy="531852"/>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600" b="1" kern="0" spc="-36" dirty="0">
                <a:solidFill>
                  <a:srgbClr val="111418"/>
                </a:solidFill>
                <a:latin typeface="Arial" pitchFamily="34" charset="0"/>
                <a:ea typeface="Arial" pitchFamily="34" charset="-122"/>
                <a:cs typeface="Arial" pitchFamily="34" charset="-120"/>
              </a:rPr>
              <a:t>References</a:t>
            </a:r>
            <a:endParaRPr lang="en-US" sz="3600" dirty="0"/>
          </a:p>
        </p:txBody>
      </p:sp>
      <p:sp>
        <p:nvSpPr>
          <p:cNvPr id="4" name="Text 1"/>
          <p:cNvSpPr/>
          <p:nvPr/>
        </p:nvSpPr>
        <p:spPr>
          <a:xfrm>
            <a:off x="914400" y="1217652"/>
            <a:ext cx="4715661" cy="359569"/>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75" dirty="0">
                <a:solidFill>
                  <a:srgbClr val="5C6570"/>
                </a:solidFill>
                <a:latin typeface="Arial" pitchFamily="34" charset="0"/>
                <a:ea typeface="Arial" pitchFamily="34" charset="-122"/>
                <a:cs typeface="Arial" pitchFamily="34" charset="-120"/>
              </a:rPr>
              <a:t>Key sources cited in the presentation.</a:t>
            </a:r>
            <a:endParaRPr lang="en-US" sz="1875" dirty="0"/>
          </a:p>
        </p:txBody>
      </p:sp>
      <p:sp>
        <p:nvSpPr>
          <p:cNvPr id="5" name="Text 2"/>
          <p:cNvSpPr/>
          <p:nvPr/>
        </p:nvSpPr>
        <p:spPr>
          <a:xfrm>
            <a:off x="16543854" y="763905"/>
            <a:ext cx="334447"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99" dirty="0">
                <a:solidFill>
                  <a:srgbClr val="B5BCC4"/>
                </a:solidFill>
                <a:latin typeface="Arial" pitchFamily="34" charset="0"/>
                <a:ea typeface="Arial" pitchFamily="34" charset="-122"/>
                <a:cs typeface="Arial" pitchFamily="34" charset="-120"/>
              </a:rPr>
              <a:t>09</a:t>
            </a:r>
            <a:endParaRPr lang="en-US" sz="1650" dirty="0"/>
          </a:p>
        </p:txBody>
      </p:sp>
      <p:pic>
        <p:nvPicPr>
          <p:cNvPr id="6" name="Image 1" descr="preencoded.png"/>
          <p:cNvPicPr>
            <a:picLocks noChangeAspect="1"/>
          </p:cNvPicPr>
          <p:nvPr/>
        </p:nvPicPr>
        <p:blipFill>
          <a:blip r:embed="rId3"/>
          <a:stretch>
            <a:fillRect/>
          </a:stretch>
        </p:blipFill>
        <p:spPr>
          <a:xfrm>
            <a:off x="16935450" y="666750"/>
            <a:ext cx="438150" cy="438150"/>
          </a:xfrm>
          <a:prstGeom prst="rect">
            <a:avLst/>
          </a:prstGeom>
        </p:spPr>
      </p:pic>
      <p:sp>
        <p:nvSpPr>
          <p:cNvPr id="7" name="Shape 3"/>
          <p:cNvSpPr/>
          <p:nvPr/>
        </p:nvSpPr>
        <p:spPr>
          <a:xfrm>
            <a:off x="914400" y="1767721"/>
            <a:ext cx="16459200" cy="9525"/>
          </a:xfrm>
          <a:prstGeom prst="rect">
            <a:avLst/>
          </a:prstGeom>
          <a:solidFill>
            <a:srgbClr val="D9DDE2"/>
          </a:solidFill>
          <a:ln/>
        </p:spPr>
        <p:txBody>
          <a:bodyPr/>
          <a:lstStyle/>
          <a:p>
            <a:endParaRPr lang="en-US"/>
          </a:p>
        </p:txBody>
      </p:sp>
      <p:sp>
        <p:nvSpPr>
          <p:cNvPr id="8" name="Shape 4"/>
          <p:cNvSpPr/>
          <p:nvPr/>
        </p:nvSpPr>
        <p:spPr>
          <a:xfrm>
            <a:off x="914400" y="3856554"/>
            <a:ext cx="16459200" cy="9525"/>
          </a:xfrm>
          <a:prstGeom prst="rect">
            <a:avLst/>
          </a:prstGeom>
          <a:solidFill>
            <a:srgbClr val="E7EBEF"/>
          </a:solidFill>
          <a:ln/>
        </p:spPr>
        <p:txBody>
          <a:bodyPr/>
          <a:lstStyle/>
          <a:p>
            <a:endParaRPr lang="en-US"/>
          </a:p>
        </p:txBody>
      </p:sp>
      <p:sp>
        <p:nvSpPr>
          <p:cNvPr id="9" name="Shape 5"/>
          <p:cNvSpPr/>
          <p:nvPr/>
        </p:nvSpPr>
        <p:spPr>
          <a:xfrm>
            <a:off x="914400" y="3570804"/>
            <a:ext cx="76200" cy="76200"/>
          </a:xfrm>
          <a:prstGeom prst="ellipse">
            <a:avLst/>
          </a:prstGeom>
          <a:solidFill>
            <a:srgbClr val="0E9F43"/>
          </a:solidFill>
          <a:ln/>
        </p:spPr>
        <p:txBody>
          <a:bodyPr/>
          <a:lstStyle/>
          <a:p>
            <a:endParaRPr lang="en-US"/>
          </a:p>
        </p:txBody>
      </p:sp>
      <p:sp>
        <p:nvSpPr>
          <p:cNvPr id="10" name="Text 6"/>
          <p:cNvSpPr/>
          <p:nvPr/>
        </p:nvSpPr>
        <p:spPr>
          <a:xfrm>
            <a:off x="1143000" y="3466029"/>
            <a:ext cx="12993147" cy="314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500" dirty="0">
                <a:solidFill>
                  <a:srgbClr val="2B3139"/>
                </a:solidFill>
                <a:latin typeface="Arial" pitchFamily="34" charset="0"/>
                <a:ea typeface="Arial" pitchFamily="34" charset="-122"/>
                <a:cs typeface="Arial" pitchFamily="34" charset="-120"/>
              </a:rPr>
              <a:t>Bélanger, F. &amp; Carter, L. (2008). Trust and risk in e-government adoption. Journal of Strategic Information Systems, 17(2), 165-176.</a:t>
            </a:r>
            <a:endParaRPr lang="en-US" sz="1500" dirty="0"/>
          </a:p>
        </p:txBody>
      </p:sp>
      <p:sp>
        <p:nvSpPr>
          <p:cNvPr id="11" name="Shape 7"/>
          <p:cNvSpPr/>
          <p:nvPr/>
        </p:nvSpPr>
        <p:spPr>
          <a:xfrm>
            <a:off x="914400" y="4368998"/>
            <a:ext cx="16459200" cy="9525"/>
          </a:xfrm>
          <a:prstGeom prst="rect">
            <a:avLst/>
          </a:prstGeom>
          <a:solidFill>
            <a:srgbClr val="E7EBEF"/>
          </a:solidFill>
          <a:ln/>
        </p:spPr>
        <p:txBody>
          <a:bodyPr/>
          <a:lstStyle/>
          <a:p>
            <a:endParaRPr lang="en-US"/>
          </a:p>
        </p:txBody>
      </p:sp>
      <p:sp>
        <p:nvSpPr>
          <p:cNvPr id="12" name="Shape 8"/>
          <p:cNvSpPr/>
          <p:nvPr/>
        </p:nvSpPr>
        <p:spPr>
          <a:xfrm>
            <a:off x="914400" y="4083248"/>
            <a:ext cx="76200" cy="76200"/>
          </a:xfrm>
          <a:prstGeom prst="ellipse">
            <a:avLst/>
          </a:prstGeom>
          <a:solidFill>
            <a:srgbClr val="0E9F43"/>
          </a:solidFill>
          <a:ln/>
        </p:spPr>
        <p:txBody>
          <a:bodyPr/>
          <a:lstStyle/>
          <a:p>
            <a:endParaRPr lang="en-US"/>
          </a:p>
        </p:txBody>
      </p:sp>
      <p:sp>
        <p:nvSpPr>
          <p:cNvPr id="13" name="Text 9"/>
          <p:cNvSpPr/>
          <p:nvPr/>
        </p:nvSpPr>
        <p:spPr>
          <a:xfrm>
            <a:off x="1143000" y="3978473"/>
            <a:ext cx="14228315" cy="314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500" dirty="0">
                <a:solidFill>
                  <a:srgbClr val="2B3139"/>
                </a:solidFill>
                <a:latin typeface="Arial" pitchFamily="34" charset="0"/>
                <a:ea typeface="Arial" pitchFamily="34" charset="-122"/>
                <a:cs typeface="Arial" pitchFamily="34" charset="-120"/>
              </a:rPr>
              <a:t>Bhattacherjee, A. (2001). Understanding information systems continuance: An expectation-confirmation model. MIS Quarterly, 25(3), 351-370.</a:t>
            </a:r>
            <a:endParaRPr lang="en-US" sz="1500" dirty="0"/>
          </a:p>
        </p:txBody>
      </p:sp>
      <p:sp>
        <p:nvSpPr>
          <p:cNvPr id="14" name="Shape 10"/>
          <p:cNvSpPr/>
          <p:nvPr/>
        </p:nvSpPr>
        <p:spPr>
          <a:xfrm>
            <a:off x="914400" y="4881444"/>
            <a:ext cx="16459200" cy="9525"/>
          </a:xfrm>
          <a:prstGeom prst="rect">
            <a:avLst/>
          </a:prstGeom>
          <a:solidFill>
            <a:srgbClr val="E7EBEF"/>
          </a:solidFill>
          <a:ln/>
        </p:spPr>
        <p:txBody>
          <a:bodyPr/>
          <a:lstStyle/>
          <a:p>
            <a:endParaRPr lang="en-US"/>
          </a:p>
        </p:txBody>
      </p:sp>
      <p:sp>
        <p:nvSpPr>
          <p:cNvPr id="15" name="Shape 11"/>
          <p:cNvSpPr/>
          <p:nvPr/>
        </p:nvSpPr>
        <p:spPr>
          <a:xfrm>
            <a:off x="914400" y="4595694"/>
            <a:ext cx="76200" cy="76200"/>
          </a:xfrm>
          <a:prstGeom prst="ellipse">
            <a:avLst/>
          </a:prstGeom>
          <a:solidFill>
            <a:srgbClr val="0E9F43"/>
          </a:solidFill>
          <a:ln/>
        </p:spPr>
        <p:txBody>
          <a:bodyPr/>
          <a:lstStyle/>
          <a:p>
            <a:endParaRPr lang="en-US"/>
          </a:p>
        </p:txBody>
      </p:sp>
      <p:sp>
        <p:nvSpPr>
          <p:cNvPr id="16" name="Text 12"/>
          <p:cNvSpPr/>
          <p:nvPr/>
        </p:nvSpPr>
        <p:spPr>
          <a:xfrm>
            <a:off x="1143000" y="4490919"/>
            <a:ext cx="12197775" cy="314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500" dirty="0">
                <a:solidFill>
                  <a:srgbClr val="2B3139"/>
                </a:solidFill>
                <a:latin typeface="Arial" pitchFamily="34" charset="0"/>
                <a:ea typeface="Arial" pitchFamily="34" charset="-122"/>
                <a:cs typeface="Arial" pitchFamily="34" charset="-120"/>
              </a:rPr>
              <a:t>Davis, F. D. (1989). Perceived usefulness, perceived ease of use and user acceptance of IT. MIS Quarterly, 13(3), 319-340.</a:t>
            </a:r>
            <a:endParaRPr lang="en-US" sz="1500" dirty="0"/>
          </a:p>
        </p:txBody>
      </p:sp>
      <p:sp>
        <p:nvSpPr>
          <p:cNvPr id="17" name="Shape 13"/>
          <p:cNvSpPr/>
          <p:nvPr/>
        </p:nvSpPr>
        <p:spPr>
          <a:xfrm>
            <a:off x="914400" y="5393889"/>
            <a:ext cx="16459200" cy="9525"/>
          </a:xfrm>
          <a:prstGeom prst="rect">
            <a:avLst/>
          </a:prstGeom>
          <a:solidFill>
            <a:srgbClr val="E7EBEF"/>
          </a:solidFill>
          <a:ln/>
        </p:spPr>
        <p:txBody>
          <a:bodyPr/>
          <a:lstStyle/>
          <a:p>
            <a:endParaRPr lang="en-US"/>
          </a:p>
        </p:txBody>
      </p:sp>
      <p:sp>
        <p:nvSpPr>
          <p:cNvPr id="18" name="Shape 14"/>
          <p:cNvSpPr/>
          <p:nvPr/>
        </p:nvSpPr>
        <p:spPr>
          <a:xfrm>
            <a:off x="914400" y="5108139"/>
            <a:ext cx="76200" cy="76200"/>
          </a:xfrm>
          <a:prstGeom prst="ellipse">
            <a:avLst/>
          </a:prstGeom>
          <a:solidFill>
            <a:srgbClr val="0E9F43"/>
          </a:solidFill>
          <a:ln/>
        </p:spPr>
        <p:txBody>
          <a:bodyPr/>
          <a:lstStyle/>
          <a:p>
            <a:endParaRPr lang="en-US"/>
          </a:p>
        </p:txBody>
      </p:sp>
      <p:sp>
        <p:nvSpPr>
          <p:cNvPr id="19" name="Text 15"/>
          <p:cNvSpPr/>
          <p:nvPr/>
        </p:nvSpPr>
        <p:spPr>
          <a:xfrm>
            <a:off x="1143000" y="5003364"/>
            <a:ext cx="15123093" cy="314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500" dirty="0">
                <a:solidFill>
                  <a:srgbClr val="2B3139"/>
                </a:solidFill>
                <a:latin typeface="Arial" pitchFamily="34" charset="0"/>
                <a:ea typeface="Arial" pitchFamily="34" charset="-122"/>
                <a:cs typeface="Arial" pitchFamily="34" charset="-120"/>
              </a:rPr>
              <a:t>Limayem, M., Hirt, S. &amp; Cheung, C. (2007). How habit limits the predictive power of intention: The case of IS continuance. MIS Quarterly, 31(4), 705-737.</a:t>
            </a:r>
            <a:endParaRPr lang="en-US" sz="1500" dirty="0"/>
          </a:p>
        </p:txBody>
      </p:sp>
      <p:sp>
        <p:nvSpPr>
          <p:cNvPr id="20" name="Shape 16"/>
          <p:cNvSpPr/>
          <p:nvPr/>
        </p:nvSpPr>
        <p:spPr>
          <a:xfrm>
            <a:off x="914400" y="6182559"/>
            <a:ext cx="16459200" cy="9525"/>
          </a:xfrm>
          <a:prstGeom prst="rect">
            <a:avLst/>
          </a:prstGeom>
          <a:solidFill>
            <a:srgbClr val="E7EBEF"/>
          </a:solidFill>
          <a:ln/>
        </p:spPr>
        <p:txBody>
          <a:bodyPr/>
          <a:lstStyle/>
          <a:p>
            <a:endParaRPr lang="en-US"/>
          </a:p>
        </p:txBody>
      </p:sp>
      <p:sp>
        <p:nvSpPr>
          <p:cNvPr id="21" name="Shape 17"/>
          <p:cNvSpPr/>
          <p:nvPr/>
        </p:nvSpPr>
        <p:spPr>
          <a:xfrm>
            <a:off x="914400" y="5620584"/>
            <a:ext cx="76200" cy="76200"/>
          </a:xfrm>
          <a:prstGeom prst="ellipse">
            <a:avLst/>
          </a:prstGeom>
          <a:solidFill>
            <a:srgbClr val="0E9F43"/>
          </a:solidFill>
          <a:ln/>
        </p:spPr>
        <p:txBody>
          <a:bodyPr/>
          <a:lstStyle/>
          <a:p>
            <a:endParaRPr lang="en-US"/>
          </a:p>
        </p:txBody>
      </p:sp>
      <p:sp>
        <p:nvSpPr>
          <p:cNvPr id="22" name="Text 18"/>
          <p:cNvSpPr/>
          <p:nvPr/>
        </p:nvSpPr>
        <p:spPr>
          <a:xfrm>
            <a:off x="1143000" y="5515809"/>
            <a:ext cx="16717518" cy="590550"/>
          </a:xfrm>
          <a:prstGeom prst="rect">
            <a:avLst/>
          </a:prstGeom>
          <a:noFill/>
          <a:ln/>
        </p:spPr>
        <p:txBody>
          <a:bodyPr wrap="square" lIns="25400" tIns="25400" rIns="25400" bIns="25400" rtlCol="0" anchor="t">
            <a:normAutofit/>
          </a:bodyPr>
          <a:lstStyle/>
          <a:p>
            <a:pPr marL="0" indent="0" algn="l">
              <a:lnSpc>
                <a:spcPct val="145000"/>
              </a:lnSpc>
              <a:buNone/>
            </a:pPr>
            <a:r>
              <a:rPr lang="en-US" sz="1500" dirty="0">
                <a:solidFill>
                  <a:srgbClr val="2B3139"/>
                </a:solidFill>
                <a:latin typeface="Arial" pitchFamily="34" charset="0"/>
                <a:ea typeface="Arial" pitchFamily="34" charset="-122"/>
                <a:cs typeface="Arial" pitchFamily="34" charset="-120"/>
              </a:rPr>
              <a:t>Roca, J. C., Chiu, C. &amp; Martínez, F. J. (2006). Understanding e-learning continuance intention: An extension of the ECM. International Journal of Human-Computer Studies, 64(8), 683-696.</a:t>
            </a:r>
            <a:endParaRPr lang="en-US" sz="1500" dirty="0"/>
          </a:p>
        </p:txBody>
      </p:sp>
      <p:sp>
        <p:nvSpPr>
          <p:cNvPr id="23" name="Shape 19"/>
          <p:cNvSpPr/>
          <p:nvPr/>
        </p:nvSpPr>
        <p:spPr>
          <a:xfrm>
            <a:off x="914400" y="6695004"/>
            <a:ext cx="16459200" cy="9525"/>
          </a:xfrm>
          <a:prstGeom prst="rect">
            <a:avLst/>
          </a:prstGeom>
          <a:solidFill>
            <a:srgbClr val="E7EBEF"/>
          </a:solidFill>
          <a:ln/>
        </p:spPr>
        <p:txBody>
          <a:bodyPr/>
          <a:lstStyle/>
          <a:p>
            <a:endParaRPr lang="en-US"/>
          </a:p>
        </p:txBody>
      </p:sp>
      <p:sp>
        <p:nvSpPr>
          <p:cNvPr id="24" name="Shape 20"/>
          <p:cNvSpPr/>
          <p:nvPr/>
        </p:nvSpPr>
        <p:spPr>
          <a:xfrm>
            <a:off x="914400" y="6409254"/>
            <a:ext cx="76200" cy="76200"/>
          </a:xfrm>
          <a:prstGeom prst="ellipse">
            <a:avLst/>
          </a:prstGeom>
          <a:solidFill>
            <a:srgbClr val="0E9F43"/>
          </a:solidFill>
          <a:ln/>
        </p:spPr>
        <p:txBody>
          <a:bodyPr/>
          <a:lstStyle/>
          <a:p>
            <a:endParaRPr lang="en-US"/>
          </a:p>
        </p:txBody>
      </p:sp>
      <p:sp>
        <p:nvSpPr>
          <p:cNvPr id="25" name="Text 21"/>
          <p:cNvSpPr/>
          <p:nvPr/>
        </p:nvSpPr>
        <p:spPr>
          <a:xfrm>
            <a:off x="1143000" y="6304479"/>
            <a:ext cx="16079296" cy="314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500" dirty="0">
                <a:solidFill>
                  <a:srgbClr val="2B3139"/>
                </a:solidFill>
                <a:latin typeface="Arial" pitchFamily="34" charset="0"/>
                <a:ea typeface="Arial" pitchFamily="34" charset="-122"/>
                <a:cs typeface="Arial" pitchFamily="34" charset="-120"/>
              </a:rPr>
              <a:t>Venkatesh, V., Morris, M. G., Davis, G. B. &amp; Davis, F. D. (2003). User acceptance of information technology: Toward a unified view. MIS Quarterly, 27(3), 425-478.</a:t>
            </a:r>
            <a:endParaRPr lang="en-US" sz="1500" dirty="0"/>
          </a:p>
        </p:txBody>
      </p:sp>
      <p:sp>
        <p:nvSpPr>
          <p:cNvPr id="26" name="Shape 22"/>
          <p:cNvSpPr/>
          <p:nvPr/>
        </p:nvSpPr>
        <p:spPr>
          <a:xfrm>
            <a:off x="914400" y="7207448"/>
            <a:ext cx="16459200" cy="9525"/>
          </a:xfrm>
          <a:prstGeom prst="rect">
            <a:avLst/>
          </a:prstGeom>
          <a:solidFill>
            <a:srgbClr val="E7EBEF"/>
          </a:solidFill>
          <a:ln/>
        </p:spPr>
        <p:txBody>
          <a:bodyPr/>
          <a:lstStyle/>
          <a:p>
            <a:endParaRPr lang="en-US"/>
          </a:p>
        </p:txBody>
      </p:sp>
      <p:sp>
        <p:nvSpPr>
          <p:cNvPr id="27" name="Shape 23"/>
          <p:cNvSpPr/>
          <p:nvPr/>
        </p:nvSpPr>
        <p:spPr>
          <a:xfrm>
            <a:off x="914400" y="6921698"/>
            <a:ext cx="76200" cy="76200"/>
          </a:xfrm>
          <a:prstGeom prst="ellipse">
            <a:avLst/>
          </a:prstGeom>
          <a:solidFill>
            <a:srgbClr val="0E9F43"/>
          </a:solidFill>
          <a:ln/>
        </p:spPr>
        <p:txBody>
          <a:bodyPr/>
          <a:lstStyle/>
          <a:p>
            <a:endParaRPr lang="en-US"/>
          </a:p>
        </p:txBody>
      </p:sp>
      <p:sp>
        <p:nvSpPr>
          <p:cNvPr id="28" name="Text 24"/>
          <p:cNvSpPr/>
          <p:nvPr/>
        </p:nvSpPr>
        <p:spPr>
          <a:xfrm>
            <a:off x="1143000" y="6816923"/>
            <a:ext cx="14763715" cy="31432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500" dirty="0">
                <a:solidFill>
                  <a:srgbClr val="2B3139"/>
                </a:solidFill>
                <a:latin typeface="Arial" pitchFamily="34" charset="0"/>
                <a:ea typeface="Arial" pitchFamily="34" charset="-122"/>
                <a:cs typeface="Arial" pitchFamily="34" charset="-120"/>
              </a:rPr>
              <a:t>Venkatesh, V., Thong, J. &amp; Xu, X. (2012). Consumer acceptance and use of information technology: Extending UTAUT. MIS Quarterly, 36(1), 157-178.</a:t>
            </a:r>
            <a:endParaRPr lang="en-US" sz="1500" dirty="0"/>
          </a:p>
        </p:txBody>
      </p:sp>
      <p:sp>
        <p:nvSpPr>
          <p:cNvPr id="29" name="Shape 25"/>
          <p:cNvSpPr/>
          <p:nvPr/>
        </p:nvSpPr>
        <p:spPr>
          <a:xfrm>
            <a:off x="914400" y="8770620"/>
            <a:ext cx="16459200" cy="628650"/>
          </a:xfrm>
          <a:prstGeom prst="roundRect">
            <a:avLst>
              <a:gd name="adj" fmla="val 24242"/>
            </a:avLst>
          </a:prstGeom>
          <a:solidFill>
            <a:srgbClr val="EEF1F4"/>
          </a:solidFill>
          <a:ln/>
        </p:spPr>
        <p:txBody>
          <a:bodyPr/>
          <a:lstStyle/>
          <a:p>
            <a:endParaRPr lang="en-US"/>
          </a:p>
        </p:txBody>
      </p:sp>
      <p:sp>
        <p:nvSpPr>
          <p:cNvPr id="30" name="Shape 26"/>
          <p:cNvSpPr/>
          <p:nvPr/>
        </p:nvSpPr>
        <p:spPr>
          <a:xfrm>
            <a:off x="1162050" y="8942070"/>
            <a:ext cx="285750" cy="285750"/>
          </a:xfrm>
          <a:prstGeom prst="ellipse">
            <a:avLst/>
          </a:prstGeom>
          <a:solidFill>
            <a:srgbClr val="9AA6B2"/>
          </a:solidFill>
          <a:ln/>
        </p:spPr>
        <p:txBody>
          <a:bodyPr/>
          <a:lstStyle/>
          <a:p>
            <a:endParaRPr lang="en-US"/>
          </a:p>
        </p:txBody>
      </p:sp>
      <p:pic>
        <p:nvPicPr>
          <p:cNvPr id="31"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19200" y="8999220"/>
            <a:ext cx="171450" cy="171450"/>
          </a:xfrm>
          <a:prstGeom prst="rect">
            <a:avLst/>
          </a:prstGeom>
        </p:spPr>
      </p:pic>
      <p:sp>
        <p:nvSpPr>
          <p:cNvPr id="32" name="Text 27"/>
          <p:cNvSpPr/>
          <p:nvPr/>
        </p:nvSpPr>
        <p:spPr>
          <a:xfrm>
            <a:off x="1581150" y="8951595"/>
            <a:ext cx="12941939" cy="30480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500" i="1" dirty="0">
                <a:solidFill>
                  <a:srgbClr val="5C6570"/>
                </a:solidFill>
                <a:latin typeface="Arial" pitchFamily="34" charset="0"/>
                <a:ea typeface="Arial" pitchFamily="34" charset="-122"/>
                <a:cs typeface="Arial" pitchFamily="34" charset="-120"/>
              </a:rPr>
              <a:t>Presentation note: this slide is retained for academic completeness and should not be spoken through unless the panel asks about sources.</a:t>
            </a:r>
            <a:endParaRPr lang="en-US" sz="1500" dirty="0"/>
          </a:p>
        </p:txBody>
      </p:sp>
      <p:sp>
        <p:nvSpPr>
          <p:cNvPr id="33" name="Text 28"/>
          <p:cNvSpPr/>
          <p:nvPr/>
        </p:nvSpPr>
        <p:spPr>
          <a:xfrm>
            <a:off x="914400" y="9570720"/>
            <a:ext cx="18105120" cy="25908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8A929C"/>
                </a:solidFill>
                <a:latin typeface="Arial" pitchFamily="34" charset="0"/>
                <a:ea typeface="Arial" pitchFamily="34" charset="-122"/>
                <a:cs typeface="Arial" pitchFamily="34" charset="-120"/>
              </a:rPr>
              <a:t>Gaianand Ramnarace | Final Presentation | 9</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TotalTime>
  <Words>2295</Words>
  <Application>Microsoft Office PowerPoint</Application>
  <PresentationFormat>Custom</PresentationFormat>
  <Paragraphs>188</Paragraphs>
  <Slides>9</Slides>
  <Notes>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Gai Clark</cp:lastModifiedBy>
  <cp:revision>3</cp:revision>
  <dcterms:created xsi:type="dcterms:W3CDTF">2026-07-03T18:24:43Z</dcterms:created>
  <dcterms:modified xsi:type="dcterms:W3CDTF">2026-07-09T15:10:27Z</dcterms:modified>
</cp:coreProperties>
</file>